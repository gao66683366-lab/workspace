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C1D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00C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457200" cy="6858000"/>
          </a:xfrm>
          <a:prstGeom prst="rect">
            <a:avLst/>
          </a:prstGeom>
          <a:solidFill>
            <a:srgbClr val="00C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144000" y="457200"/>
            <a:ext cx="2743200" cy="5486400"/>
          </a:xfrm>
          <a:prstGeom prst="rect">
            <a:avLst/>
          </a:prstGeom>
          <a:solidFill>
            <a:srgbClr val="1126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601200" y="914400"/>
            <a:ext cx="1828800" cy="1828800"/>
          </a:xfrm>
          <a:prstGeom prst="rect">
            <a:avLst/>
          </a:prstGeom>
          <a:solidFill>
            <a:srgbClr val="0060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058400" y="1371600"/>
            <a:ext cx="1097280" cy="1097280"/>
          </a:xfrm>
          <a:prstGeom prst="rect">
            <a:avLst/>
          </a:prstGeom>
          <a:solidFill>
            <a:srgbClr val="00C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645920"/>
            <a:ext cx="8046720" cy="1371600"/>
          </a:xfrm>
          <a:prstGeom prst="rect">
            <a:avLst/>
          </a:prstGeom>
          <a:noFill/>
        </p:spPr>
        <p:txBody>
          <a:bodyPr wrap="square">
            <a:spAutoFit/>
          </a:bodyPr>
          <a:lstStyle/>
          <a:p>
            <a:pPr algn="l"/>
            <a:r>
              <a:rPr sz="4200" b="1">
                <a:solidFill>
                  <a:srgbClr val="FFFFFF"/>
                </a:solidFill>
              </a:rPr>
              <a:t>铁路线路智能综合检测机器人</a:t>
            </a:r>
          </a:p>
        </p:txBody>
      </p:sp>
      <p:sp>
        <p:nvSpPr>
          <p:cNvPr id="9" name="Rectangle 8"/>
          <p:cNvSpPr/>
          <p:nvPr/>
        </p:nvSpPr>
        <p:spPr>
          <a:xfrm>
            <a:off x="731520" y="3108960"/>
            <a:ext cx="5029200" cy="50800"/>
          </a:xfrm>
          <a:prstGeom prst="rect">
            <a:avLst/>
          </a:prstGeom>
          <a:solidFill>
            <a:srgbClr val="00C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3246120"/>
            <a:ext cx="5486400" cy="731520"/>
          </a:xfrm>
          <a:prstGeom prst="rect">
            <a:avLst/>
          </a:prstGeom>
          <a:noFill/>
        </p:spPr>
        <p:txBody>
          <a:bodyPr wrap="square">
            <a:spAutoFit/>
          </a:bodyPr>
          <a:lstStyle/>
          <a:p>
            <a:pPr algn="l"/>
            <a:r>
              <a:rPr sz="3000" b="0">
                <a:solidFill>
                  <a:srgbClr val="00C4FF"/>
                </a:solidFill>
              </a:rPr>
              <a:t>技术汇报方案</a:t>
            </a:r>
          </a:p>
        </p:txBody>
      </p:sp>
      <p:sp>
        <p:nvSpPr>
          <p:cNvPr id="11" name="TextBox 10"/>
          <p:cNvSpPr txBox="1"/>
          <p:nvPr/>
        </p:nvSpPr>
        <p:spPr>
          <a:xfrm>
            <a:off x="731520" y="4114800"/>
            <a:ext cx="4572000" cy="365760"/>
          </a:xfrm>
          <a:prstGeom prst="rect">
            <a:avLst/>
          </a:prstGeom>
          <a:noFill/>
        </p:spPr>
        <p:txBody>
          <a:bodyPr wrap="square">
            <a:spAutoFit/>
          </a:bodyPr>
          <a:lstStyle/>
          <a:p>
            <a:pPr algn="l"/>
            <a:r>
              <a:rPr sz="1400" b="0">
                <a:solidFill>
                  <a:srgbClr val="A0B4CC"/>
                </a:solidFill>
              </a:rPr>
              <a:t>汇报单位：____________________</a:t>
            </a:r>
          </a:p>
        </p:txBody>
      </p:sp>
      <p:sp>
        <p:nvSpPr>
          <p:cNvPr id="12" name="TextBox 11"/>
          <p:cNvSpPr txBox="1"/>
          <p:nvPr/>
        </p:nvSpPr>
        <p:spPr>
          <a:xfrm>
            <a:off x="731520" y="4572000"/>
            <a:ext cx="4572000" cy="365760"/>
          </a:xfrm>
          <a:prstGeom prst="rect">
            <a:avLst/>
          </a:prstGeom>
          <a:noFill/>
        </p:spPr>
        <p:txBody>
          <a:bodyPr wrap="square">
            <a:spAutoFit/>
          </a:bodyPr>
          <a:lstStyle/>
          <a:p>
            <a:pPr algn="l"/>
            <a:r>
              <a:rPr sz="1400" b="0">
                <a:solidFill>
                  <a:srgbClr val="A0B4CC"/>
                </a:solidFill>
              </a:rPr>
              <a:t>汇报日期：2026 年 4 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C1D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280160"/>
          </a:xfrm>
          <a:prstGeom prst="rect">
            <a:avLst/>
          </a:prstGeom>
          <a:solidFill>
            <a:srgbClr val="1126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280160"/>
            <a:ext cx="12188952" cy="45720"/>
          </a:xfrm>
          <a:prstGeom prst="rect">
            <a:avLst/>
          </a:prstGeom>
          <a:solidFill>
            <a:srgbClr val="00C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82880"/>
            <a:ext cx="11430000" cy="914400"/>
          </a:xfrm>
          <a:prstGeom prst="rect">
            <a:avLst/>
          </a:prstGeom>
          <a:noFill/>
        </p:spPr>
        <p:txBody>
          <a:bodyPr wrap="square">
            <a:spAutoFit/>
          </a:bodyPr>
          <a:lstStyle/>
          <a:p>
            <a:pPr algn="l"/>
            <a:r>
              <a:rPr sz="2800" b="1">
                <a:solidFill>
                  <a:srgbClr val="FFFFFF"/>
                </a:solidFill>
              </a:rPr>
              <a:t>目录</a:t>
            </a:r>
          </a:p>
        </p:txBody>
      </p:sp>
      <p:sp>
        <p:nvSpPr>
          <p:cNvPr id="6" name="TextBox 5"/>
          <p:cNvSpPr txBox="1"/>
          <p:nvPr/>
        </p:nvSpPr>
        <p:spPr>
          <a:xfrm>
            <a:off x="365760" y="914400"/>
            <a:ext cx="11430000" cy="320040"/>
          </a:xfrm>
          <a:prstGeom prst="rect">
            <a:avLst/>
          </a:prstGeom>
          <a:noFill/>
        </p:spPr>
        <p:txBody>
          <a:bodyPr wrap="square">
            <a:spAutoFit/>
          </a:bodyPr>
          <a:lstStyle/>
          <a:p>
            <a:pPr algn="l"/>
            <a:r>
              <a:rPr sz="1300" b="0">
                <a:solidFill>
                  <a:srgbClr val="A0B4CC"/>
                </a:solidFill>
              </a:rPr>
              <a:t>CONTENTS</a:t>
            </a:r>
          </a:p>
        </p:txBody>
      </p:sp>
      <p:sp>
        <p:nvSpPr>
          <p:cNvPr id="7" name="Rectangle 6"/>
          <p:cNvSpPr/>
          <p:nvPr/>
        </p:nvSpPr>
        <p:spPr>
          <a:xfrm>
            <a:off x="365760" y="1554480"/>
            <a:ext cx="5669280" cy="868680"/>
          </a:xfrm>
          <a:prstGeom prst="rect">
            <a:avLst/>
          </a:prstGeom>
          <a:solidFill>
            <a:srgbClr val="1126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65760" y="1554480"/>
            <a:ext cx="548640" cy="868680"/>
          </a:xfrm>
          <a:prstGeom prst="rect">
            <a:avLst/>
          </a:prstGeom>
          <a:solidFill>
            <a:srgbClr val="00C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737360"/>
            <a:ext cx="457200" cy="502920"/>
          </a:xfrm>
          <a:prstGeom prst="rect">
            <a:avLst/>
          </a:prstGeom>
          <a:noFill/>
        </p:spPr>
        <p:txBody>
          <a:bodyPr wrap="square">
            <a:spAutoFit/>
          </a:bodyPr>
          <a:lstStyle/>
          <a:p>
            <a:pPr algn="ctr"/>
            <a:r>
              <a:rPr sz="2000" b="1">
                <a:solidFill>
                  <a:srgbClr val="1A1A2E"/>
                </a:solidFill>
              </a:rPr>
              <a:t>01</a:t>
            </a:r>
          </a:p>
        </p:txBody>
      </p:sp>
      <p:sp>
        <p:nvSpPr>
          <p:cNvPr id="10" name="TextBox 9"/>
          <p:cNvSpPr txBox="1"/>
          <p:nvPr/>
        </p:nvSpPr>
        <p:spPr>
          <a:xfrm>
            <a:off x="1005840" y="1810512"/>
            <a:ext cx="4846320" cy="457200"/>
          </a:xfrm>
          <a:prstGeom prst="rect">
            <a:avLst/>
          </a:prstGeom>
          <a:noFill/>
        </p:spPr>
        <p:txBody>
          <a:bodyPr wrap="square">
            <a:spAutoFit/>
          </a:bodyPr>
          <a:lstStyle/>
          <a:p>
            <a:pPr algn="l"/>
            <a:r>
              <a:rPr sz="1600" b="0">
                <a:solidFill>
                  <a:srgbClr val="FFFFFF"/>
                </a:solidFill>
              </a:rPr>
              <a:t>项目背景与问题</a:t>
            </a:r>
          </a:p>
        </p:txBody>
      </p:sp>
      <p:sp>
        <p:nvSpPr>
          <p:cNvPr id="11" name="Rectangle 10"/>
          <p:cNvSpPr/>
          <p:nvPr/>
        </p:nvSpPr>
        <p:spPr>
          <a:xfrm>
            <a:off x="6309360" y="1554480"/>
            <a:ext cx="5669280" cy="868680"/>
          </a:xfrm>
          <a:prstGeom prst="rect">
            <a:avLst/>
          </a:prstGeom>
          <a:solidFill>
            <a:srgbClr val="1126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09360" y="1554480"/>
            <a:ext cx="548640" cy="868680"/>
          </a:xfrm>
          <a:prstGeom prst="rect">
            <a:avLst/>
          </a:prstGeom>
          <a:solidFill>
            <a:srgbClr val="00C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55080" y="1737360"/>
            <a:ext cx="457200" cy="502920"/>
          </a:xfrm>
          <a:prstGeom prst="rect">
            <a:avLst/>
          </a:prstGeom>
          <a:noFill/>
        </p:spPr>
        <p:txBody>
          <a:bodyPr wrap="square">
            <a:spAutoFit/>
          </a:bodyPr>
          <a:lstStyle/>
          <a:p>
            <a:pPr algn="ctr"/>
            <a:r>
              <a:rPr sz="2000" b="1">
                <a:solidFill>
                  <a:srgbClr val="1A1A2E"/>
                </a:solidFill>
              </a:rPr>
              <a:t>02</a:t>
            </a:r>
          </a:p>
        </p:txBody>
      </p:sp>
      <p:sp>
        <p:nvSpPr>
          <p:cNvPr id="14" name="TextBox 13"/>
          <p:cNvSpPr txBox="1"/>
          <p:nvPr/>
        </p:nvSpPr>
        <p:spPr>
          <a:xfrm>
            <a:off x="6949440" y="1810512"/>
            <a:ext cx="4846320" cy="457200"/>
          </a:xfrm>
          <a:prstGeom prst="rect">
            <a:avLst/>
          </a:prstGeom>
          <a:noFill/>
        </p:spPr>
        <p:txBody>
          <a:bodyPr wrap="square">
            <a:spAutoFit/>
          </a:bodyPr>
          <a:lstStyle/>
          <a:p>
            <a:pPr algn="l"/>
            <a:r>
              <a:rPr sz="1600" b="0">
                <a:solidFill>
                  <a:srgbClr val="FFFFFF"/>
                </a:solidFill>
              </a:rPr>
              <a:t>综合检测核心理念</a:t>
            </a:r>
          </a:p>
        </p:txBody>
      </p:sp>
      <p:sp>
        <p:nvSpPr>
          <p:cNvPr id="15" name="Rectangle 14"/>
          <p:cNvSpPr/>
          <p:nvPr/>
        </p:nvSpPr>
        <p:spPr>
          <a:xfrm>
            <a:off x="365760" y="2560320"/>
            <a:ext cx="5669280" cy="868680"/>
          </a:xfrm>
          <a:prstGeom prst="rect">
            <a:avLst/>
          </a:prstGeom>
          <a:solidFill>
            <a:srgbClr val="1126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5760" y="2560320"/>
            <a:ext cx="548640" cy="868680"/>
          </a:xfrm>
          <a:prstGeom prst="rect">
            <a:avLst/>
          </a:prstGeom>
          <a:solidFill>
            <a:srgbClr val="00C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11480" y="2743200"/>
            <a:ext cx="457200" cy="502920"/>
          </a:xfrm>
          <a:prstGeom prst="rect">
            <a:avLst/>
          </a:prstGeom>
          <a:noFill/>
        </p:spPr>
        <p:txBody>
          <a:bodyPr wrap="square">
            <a:spAutoFit/>
          </a:bodyPr>
          <a:lstStyle/>
          <a:p>
            <a:pPr algn="ctr"/>
            <a:r>
              <a:rPr sz="2000" b="1">
                <a:solidFill>
                  <a:srgbClr val="1A1A2E"/>
                </a:solidFill>
              </a:rPr>
              <a:t>03</a:t>
            </a:r>
          </a:p>
        </p:txBody>
      </p:sp>
      <p:sp>
        <p:nvSpPr>
          <p:cNvPr id="18" name="TextBox 17"/>
          <p:cNvSpPr txBox="1"/>
          <p:nvPr/>
        </p:nvSpPr>
        <p:spPr>
          <a:xfrm>
            <a:off x="1005840" y="2816352"/>
            <a:ext cx="4846320" cy="457200"/>
          </a:xfrm>
          <a:prstGeom prst="rect">
            <a:avLst/>
          </a:prstGeom>
          <a:noFill/>
        </p:spPr>
        <p:txBody>
          <a:bodyPr wrap="square">
            <a:spAutoFit/>
          </a:bodyPr>
          <a:lstStyle/>
          <a:p>
            <a:pPr algn="l"/>
            <a:r>
              <a:rPr sz="1600" b="0">
                <a:solidFill>
                  <a:srgbClr val="FFFFFF"/>
                </a:solidFill>
              </a:rPr>
              <a:t>系统总体架构</a:t>
            </a:r>
          </a:p>
        </p:txBody>
      </p:sp>
      <p:sp>
        <p:nvSpPr>
          <p:cNvPr id="19" name="Rectangle 18"/>
          <p:cNvSpPr/>
          <p:nvPr/>
        </p:nvSpPr>
        <p:spPr>
          <a:xfrm>
            <a:off x="6309360" y="2560320"/>
            <a:ext cx="5669280" cy="868680"/>
          </a:xfrm>
          <a:prstGeom prst="rect">
            <a:avLst/>
          </a:prstGeom>
          <a:solidFill>
            <a:srgbClr val="1126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09360" y="2560320"/>
            <a:ext cx="548640" cy="868680"/>
          </a:xfrm>
          <a:prstGeom prst="rect">
            <a:avLst/>
          </a:prstGeom>
          <a:solidFill>
            <a:srgbClr val="00C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55080" y="2743200"/>
            <a:ext cx="457200" cy="502920"/>
          </a:xfrm>
          <a:prstGeom prst="rect">
            <a:avLst/>
          </a:prstGeom>
          <a:noFill/>
        </p:spPr>
        <p:txBody>
          <a:bodyPr wrap="square">
            <a:spAutoFit/>
          </a:bodyPr>
          <a:lstStyle/>
          <a:p>
            <a:pPr algn="ctr"/>
            <a:r>
              <a:rPr sz="2000" b="1">
                <a:solidFill>
                  <a:srgbClr val="1A1A2E"/>
                </a:solidFill>
              </a:rPr>
              <a:t>04</a:t>
            </a:r>
          </a:p>
        </p:txBody>
      </p:sp>
      <p:sp>
        <p:nvSpPr>
          <p:cNvPr id="22" name="TextBox 21"/>
          <p:cNvSpPr txBox="1"/>
          <p:nvPr/>
        </p:nvSpPr>
        <p:spPr>
          <a:xfrm>
            <a:off x="6949440" y="2816352"/>
            <a:ext cx="4846320" cy="457200"/>
          </a:xfrm>
          <a:prstGeom prst="rect">
            <a:avLst/>
          </a:prstGeom>
          <a:noFill/>
        </p:spPr>
        <p:txBody>
          <a:bodyPr wrap="square">
            <a:spAutoFit/>
          </a:bodyPr>
          <a:lstStyle/>
          <a:p>
            <a:pPr algn="l"/>
            <a:r>
              <a:rPr sz="1600" b="0">
                <a:solidFill>
                  <a:srgbClr val="FFFFFF"/>
                </a:solidFill>
              </a:rPr>
              <a:t>核心检测能力</a:t>
            </a:r>
          </a:p>
        </p:txBody>
      </p:sp>
      <p:sp>
        <p:nvSpPr>
          <p:cNvPr id="23" name="Rectangle 22"/>
          <p:cNvSpPr/>
          <p:nvPr/>
        </p:nvSpPr>
        <p:spPr>
          <a:xfrm>
            <a:off x="365760" y="3566160"/>
            <a:ext cx="5669280" cy="868680"/>
          </a:xfrm>
          <a:prstGeom prst="rect">
            <a:avLst/>
          </a:prstGeom>
          <a:solidFill>
            <a:srgbClr val="1126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65760" y="3566160"/>
            <a:ext cx="548640" cy="868680"/>
          </a:xfrm>
          <a:prstGeom prst="rect">
            <a:avLst/>
          </a:prstGeom>
          <a:solidFill>
            <a:srgbClr val="00C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11480" y="3749040"/>
            <a:ext cx="457200" cy="502920"/>
          </a:xfrm>
          <a:prstGeom prst="rect">
            <a:avLst/>
          </a:prstGeom>
          <a:noFill/>
        </p:spPr>
        <p:txBody>
          <a:bodyPr wrap="square">
            <a:spAutoFit/>
          </a:bodyPr>
          <a:lstStyle/>
          <a:p>
            <a:pPr algn="ctr"/>
            <a:r>
              <a:rPr sz="2000" b="1">
                <a:solidFill>
                  <a:srgbClr val="1A1A2E"/>
                </a:solidFill>
              </a:rPr>
              <a:t>05</a:t>
            </a:r>
          </a:p>
        </p:txBody>
      </p:sp>
      <p:sp>
        <p:nvSpPr>
          <p:cNvPr id="26" name="TextBox 25"/>
          <p:cNvSpPr txBox="1"/>
          <p:nvPr/>
        </p:nvSpPr>
        <p:spPr>
          <a:xfrm>
            <a:off x="1005840" y="3822192"/>
            <a:ext cx="4846320" cy="457200"/>
          </a:xfrm>
          <a:prstGeom prst="rect">
            <a:avLst/>
          </a:prstGeom>
          <a:noFill/>
        </p:spPr>
        <p:txBody>
          <a:bodyPr wrap="square">
            <a:spAutoFit/>
          </a:bodyPr>
          <a:lstStyle/>
          <a:p>
            <a:pPr algn="l"/>
            <a:r>
              <a:rPr sz="1600" b="0">
                <a:solidFill>
                  <a:srgbClr val="FFFFFF"/>
                </a:solidFill>
              </a:rPr>
              <a:t>效率与数据优势</a:t>
            </a:r>
          </a:p>
        </p:txBody>
      </p:sp>
      <p:sp>
        <p:nvSpPr>
          <p:cNvPr id="27" name="Rectangle 26"/>
          <p:cNvSpPr/>
          <p:nvPr/>
        </p:nvSpPr>
        <p:spPr>
          <a:xfrm>
            <a:off x="6309360" y="3566160"/>
            <a:ext cx="5669280" cy="868680"/>
          </a:xfrm>
          <a:prstGeom prst="rect">
            <a:avLst/>
          </a:prstGeom>
          <a:solidFill>
            <a:srgbClr val="1126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309360" y="3566160"/>
            <a:ext cx="548640" cy="868680"/>
          </a:xfrm>
          <a:prstGeom prst="rect">
            <a:avLst/>
          </a:prstGeom>
          <a:solidFill>
            <a:srgbClr val="00C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55080" y="3749040"/>
            <a:ext cx="457200" cy="502920"/>
          </a:xfrm>
          <a:prstGeom prst="rect">
            <a:avLst/>
          </a:prstGeom>
          <a:noFill/>
        </p:spPr>
        <p:txBody>
          <a:bodyPr wrap="square">
            <a:spAutoFit/>
          </a:bodyPr>
          <a:lstStyle/>
          <a:p>
            <a:pPr algn="ctr"/>
            <a:r>
              <a:rPr sz="2000" b="1">
                <a:solidFill>
                  <a:srgbClr val="1A1A2E"/>
                </a:solidFill>
              </a:rPr>
              <a:t>06</a:t>
            </a:r>
          </a:p>
        </p:txBody>
      </p:sp>
      <p:sp>
        <p:nvSpPr>
          <p:cNvPr id="30" name="TextBox 29"/>
          <p:cNvSpPr txBox="1"/>
          <p:nvPr/>
        </p:nvSpPr>
        <p:spPr>
          <a:xfrm>
            <a:off x="6949440" y="3822192"/>
            <a:ext cx="4846320" cy="457200"/>
          </a:xfrm>
          <a:prstGeom prst="rect">
            <a:avLst/>
          </a:prstGeom>
          <a:noFill/>
        </p:spPr>
        <p:txBody>
          <a:bodyPr wrap="square">
            <a:spAutoFit/>
          </a:bodyPr>
          <a:lstStyle/>
          <a:p>
            <a:pPr algn="l"/>
            <a:r>
              <a:rPr sz="1600" b="0">
                <a:solidFill>
                  <a:srgbClr val="FFFFFF"/>
                </a:solidFill>
              </a:rPr>
              <a:t>健康评估与智能养护</a:t>
            </a:r>
          </a:p>
        </p:txBody>
      </p:sp>
      <p:sp>
        <p:nvSpPr>
          <p:cNvPr id="31" name="Rectangle 30"/>
          <p:cNvSpPr/>
          <p:nvPr/>
        </p:nvSpPr>
        <p:spPr>
          <a:xfrm>
            <a:off x="365760" y="4572000"/>
            <a:ext cx="5669280" cy="868680"/>
          </a:xfrm>
          <a:prstGeom prst="rect">
            <a:avLst/>
          </a:prstGeom>
          <a:solidFill>
            <a:srgbClr val="1126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65760" y="4572000"/>
            <a:ext cx="548640" cy="868680"/>
          </a:xfrm>
          <a:prstGeom prst="rect">
            <a:avLst/>
          </a:prstGeom>
          <a:solidFill>
            <a:srgbClr val="00C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11480" y="4754880"/>
            <a:ext cx="457200" cy="502920"/>
          </a:xfrm>
          <a:prstGeom prst="rect">
            <a:avLst/>
          </a:prstGeom>
          <a:noFill/>
        </p:spPr>
        <p:txBody>
          <a:bodyPr wrap="square">
            <a:spAutoFit/>
          </a:bodyPr>
          <a:lstStyle/>
          <a:p>
            <a:pPr algn="ctr"/>
            <a:r>
              <a:rPr sz="2000" b="1">
                <a:solidFill>
                  <a:srgbClr val="1A1A2E"/>
                </a:solidFill>
              </a:rPr>
              <a:t>07</a:t>
            </a:r>
          </a:p>
        </p:txBody>
      </p:sp>
      <p:sp>
        <p:nvSpPr>
          <p:cNvPr id="34" name="TextBox 33"/>
          <p:cNvSpPr txBox="1"/>
          <p:nvPr/>
        </p:nvSpPr>
        <p:spPr>
          <a:xfrm>
            <a:off x="1005840" y="4828032"/>
            <a:ext cx="4846320" cy="457200"/>
          </a:xfrm>
          <a:prstGeom prst="rect">
            <a:avLst/>
          </a:prstGeom>
          <a:noFill/>
        </p:spPr>
        <p:txBody>
          <a:bodyPr wrap="square">
            <a:spAutoFit/>
          </a:bodyPr>
          <a:lstStyle/>
          <a:p>
            <a:pPr algn="l"/>
            <a:r>
              <a:rPr sz="1600" b="0">
                <a:solidFill>
                  <a:srgbClr val="FFFFFF"/>
                </a:solidFill>
              </a:rPr>
              <a:t>技术规格参数</a:t>
            </a:r>
          </a:p>
        </p:txBody>
      </p:sp>
      <p:sp>
        <p:nvSpPr>
          <p:cNvPr id="35" name="Rectangle 34"/>
          <p:cNvSpPr/>
          <p:nvPr/>
        </p:nvSpPr>
        <p:spPr>
          <a:xfrm>
            <a:off x="6309360" y="4572000"/>
            <a:ext cx="5669280" cy="868680"/>
          </a:xfrm>
          <a:prstGeom prst="rect">
            <a:avLst/>
          </a:prstGeom>
          <a:solidFill>
            <a:srgbClr val="1126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309360" y="4572000"/>
            <a:ext cx="548640" cy="868680"/>
          </a:xfrm>
          <a:prstGeom prst="rect">
            <a:avLst/>
          </a:prstGeom>
          <a:solidFill>
            <a:srgbClr val="00C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355080" y="4754880"/>
            <a:ext cx="457200" cy="502920"/>
          </a:xfrm>
          <a:prstGeom prst="rect">
            <a:avLst/>
          </a:prstGeom>
          <a:noFill/>
        </p:spPr>
        <p:txBody>
          <a:bodyPr wrap="square">
            <a:spAutoFit/>
          </a:bodyPr>
          <a:lstStyle/>
          <a:p>
            <a:pPr algn="ctr"/>
            <a:r>
              <a:rPr sz="2000" b="1">
                <a:solidFill>
                  <a:srgbClr val="1A1A2E"/>
                </a:solidFill>
              </a:rPr>
              <a:t>08</a:t>
            </a:r>
          </a:p>
        </p:txBody>
      </p:sp>
      <p:sp>
        <p:nvSpPr>
          <p:cNvPr id="38" name="TextBox 37"/>
          <p:cNvSpPr txBox="1"/>
          <p:nvPr/>
        </p:nvSpPr>
        <p:spPr>
          <a:xfrm>
            <a:off x="6949440" y="4828032"/>
            <a:ext cx="4846320" cy="457200"/>
          </a:xfrm>
          <a:prstGeom prst="rect">
            <a:avLst/>
          </a:prstGeom>
          <a:noFill/>
        </p:spPr>
        <p:txBody>
          <a:bodyPr wrap="square">
            <a:spAutoFit/>
          </a:bodyPr>
          <a:lstStyle/>
          <a:p>
            <a:pPr algn="l"/>
            <a:r>
              <a:rPr sz="1600" b="0">
                <a:solidFill>
                  <a:srgbClr val="FFFFFF"/>
                </a:solidFill>
              </a:rPr>
              <a:t>远程监测系统</a:t>
            </a:r>
          </a:p>
        </p:txBody>
      </p:sp>
      <p:sp>
        <p:nvSpPr>
          <p:cNvPr id="39" name="Rectangle 38"/>
          <p:cNvSpPr/>
          <p:nvPr/>
        </p:nvSpPr>
        <p:spPr>
          <a:xfrm>
            <a:off x="365760" y="5577840"/>
            <a:ext cx="5669280" cy="868680"/>
          </a:xfrm>
          <a:prstGeom prst="rect">
            <a:avLst/>
          </a:prstGeom>
          <a:solidFill>
            <a:srgbClr val="1126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365760" y="5577840"/>
            <a:ext cx="548640" cy="868680"/>
          </a:xfrm>
          <a:prstGeom prst="rect">
            <a:avLst/>
          </a:prstGeom>
          <a:solidFill>
            <a:srgbClr val="00C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11480" y="5760720"/>
            <a:ext cx="457200" cy="502920"/>
          </a:xfrm>
          <a:prstGeom prst="rect">
            <a:avLst/>
          </a:prstGeom>
          <a:noFill/>
        </p:spPr>
        <p:txBody>
          <a:bodyPr wrap="square">
            <a:spAutoFit/>
          </a:bodyPr>
          <a:lstStyle/>
          <a:p>
            <a:pPr algn="ctr"/>
            <a:r>
              <a:rPr sz="2000" b="1">
                <a:solidFill>
                  <a:srgbClr val="1A1A2E"/>
                </a:solidFill>
              </a:rPr>
              <a:t>09</a:t>
            </a:r>
          </a:p>
        </p:txBody>
      </p:sp>
      <p:sp>
        <p:nvSpPr>
          <p:cNvPr id="42" name="TextBox 41"/>
          <p:cNvSpPr txBox="1"/>
          <p:nvPr/>
        </p:nvSpPr>
        <p:spPr>
          <a:xfrm>
            <a:off x="1005840" y="5833872"/>
            <a:ext cx="4846320" cy="457200"/>
          </a:xfrm>
          <a:prstGeom prst="rect">
            <a:avLst/>
          </a:prstGeom>
          <a:noFill/>
        </p:spPr>
        <p:txBody>
          <a:bodyPr wrap="square">
            <a:spAutoFit/>
          </a:bodyPr>
          <a:lstStyle/>
          <a:p>
            <a:pPr algn="l"/>
            <a:r>
              <a:rPr sz="1600" b="0">
                <a:solidFill>
                  <a:srgbClr val="FFFFFF"/>
                </a:solidFill>
              </a:rPr>
              <a:t>总结与展望</a:t>
            </a:r>
          </a:p>
        </p:txBody>
      </p:sp>
      <p:sp>
        <p:nvSpPr>
          <p:cNvPr id="43" name="Rectangle 42"/>
          <p:cNvSpPr/>
          <p:nvPr/>
        </p:nvSpPr>
        <p:spPr>
          <a:xfrm>
            <a:off x="0" y="6492240"/>
            <a:ext cx="12188952" cy="365760"/>
          </a:xfrm>
          <a:prstGeom prst="rect">
            <a:avLst/>
          </a:prstGeom>
          <a:solidFill>
            <a:srgbClr val="1126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365760" y="6519672"/>
            <a:ext cx="4572000" cy="320040"/>
          </a:xfrm>
          <a:prstGeom prst="rect">
            <a:avLst/>
          </a:prstGeom>
          <a:noFill/>
        </p:spPr>
        <p:txBody>
          <a:bodyPr wrap="square">
            <a:spAutoFit/>
          </a:bodyPr>
          <a:lstStyle/>
          <a:p>
            <a:pPr algn="l"/>
            <a:r>
              <a:rPr sz="1000" b="0">
                <a:solidFill>
                  <a:srgbClr val="A0B4CC"/>
                </a:solidFill>
              </a:rPr>
              <a:t>铁路线路智能综合检测机器人</a:t>
            </a:r>
          </a:p>
        </p:txBody>
      </p:sp>
      <p:sp>
        <p:nvSpPr>
          <p:cNvPr id="45" name="TextBox 44"/>
          <p:cNvSpPr txBox="1"/>
          <p:nvPr/>
        </p:nvSpPr>
        <p:spPr>
          <a:xfrm>
            <a:off x="10972800" y="6519672"/>
            <a:ext cx="1005840" cy="320040"/>
          </a:xfrm>
          <a:prstGeom prst="rect">
            <a:avLst/>
          </a:prstGeom>
          <a:noFill/>
        </p:spPr>
        <p:txBody>
          <a:bodyPr wrap="square">
            <a:spAutoFit/>
          </a:bodyPr>
          <a:lstStyle/>
          <a:p>
            <a:pPr algn="r"/>
            <a:r>
              <a:rPr sz="1000" b="0">
                <a:solidFill>
                  <a:srgbClr val="A0B4CC"/>
                </a:solidFill>
              </a:rPr>
              <a:t>2 / 28</a:t>
            </a:r>
          </a:p>
        </p:txBody>
      </p:sp>
      <p:sp>
        <p:nvSpPr>
          <p:cNvPr id="46" name="Rectangle 45"/>
          <p:cNvSpPr/>
          <p:nvPr/>
        </p:nvSpPr>
        <p:spPr>
          <a:xfrm>
            <a:off x="0" y="6492240"/>
            <a:ext cx="12188952" cy="365760"/>
          </a:xfrm>
          <a:prstGeom prst="rect">
            <a:avLst/>
          </a:prstGeom>
          <a:solidFill>
            <a:srgbClr val="1126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65760" y="6519672"/>
            <a:ext cx="4572000" cy="320040"/>
          </a:xfrm>
          <a:prstGeom prst="rect">
            <a:avLst/>
          </a:prstGeom>
          <a:noFill/>
        </p:spPr>
        <p:txBody>
          <a:bodyPr wrap="square">
            <a:spAutoFit/>
          </a:bodyPr>
          <a:lstStyle/>
          <a:p>
            <a:pPr algn="l"/>
            <a:r>
              <a:rPr sz="1000" b="0">
                <a:solidFill>
                  <a:srgbClr val="A0B4CC"/>
                </a:solidFill>
              </a:rPr>
              <a:t>铁路线路智能综合检测机器人</a:t>
            </a:r>
          </a:p>
        </p:txBody>
      </p:sp>
      <p:sp>
        <p:nvSpPr>
          <p:cNvPr id="48" name="TextBox 47"/>
          <p:cNvSpPr txBox="1"/>
          <p:nvPr/>
        </p:nvSpPr>
        <p:spPr>
          <a:xfrm>
            <a:off x="10972800" y="6519672"/>
            <a:ext cx="1005840" cy="320040"/>
          </a:xfrm>
          <a:prstGeom prst="rect">
            <a:avLst/>
          </a:prstGeom>
          <a:noFill/>
        </p:spPr>
        <p:txBody>
          <a:bodyPr wrap="square">
            <a:spAutoFit/>
          </a:bodyPr>
          <a:lstStyle/>
          <a:p>
            <a:pPr algn="r"/>
            <a:r>
              <a:rPr sz="1000" b="0">
                <a:solidFill>
                  <a:srgbClr val="A0B4CC"/>
                </a:solidFill>
              </a:rPr>
              <a:t>3 / 28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C1D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20040" cy="6858000"/>
          </a:xfrm>
          <a:prstGeom prst="rect">
            <a:avLst/>
          </a:prstGeom>
          <a:solidFill>
            <a:srgbClr val="00C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0" y="3474720"/>
            <a:ext cx="4572000" cy="50800"/>
          </a:xfrm>
          <a:prstGeom prst="rect">
            <a:avLst/>
          </a:prstGeom>
          <a:solidFill>
            <a:srgbClr val="00C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828800"/>
            <a:ext cx="10515600" cy="1371600"/>
          </a:xfrm>
          <a:prstGeom prst="rect">
            <a:avLst/>
          </a:prstGeom>
          <a:noFill/>
        </p:spPr>
        <p:txBody>
          <a:bodyPr wrap="square">
            <a:spAutoFit/>
          </a:bodyPr>
          <a:lstStyle/>
          <a:p>
            <a:pPr algn="l"/>
            <a:r>
              <a:rPr sz="4400" b="1">
                <a:solidFill>
                  <a:srgbClr val="FFFFFF"/>
                </a:solidFill>
              </a:rPr>
              <a:t>01</a:t>
            </a:r>
          </a:p>
        </p:txBody>
      </p:sp>
      <p:sp>
        <p:nvSpPr>
          <p:cNvPr id="6" name="TextBox 5"/>
          <p:cNvSpPr txBox="1"/>
          <p:nvPr/>
        </p:nvSpPr>
        <p:spPr>
          <a:xfrm>
            <a:off x="548640" y="3566160"/>
            <a:ext cx="10515600" cy="548640"/>
          </a:xfrm>
          <a:prstGeom prst="rect">
            <a:avLst/>
          </a:prstGeom>
          <a:noFill/>
        </p:spPr>
        <p:txBody>
          <a:bodyPr wrap="square">
            <a:spAutoFit/>
          </a:bodyPr>
          <a:lstStyle/>
          <a:p>
            <a:pPr algn="l"/>
            <a:r>
              <a:rPr sz="1800" b="0">
                <a:solidFill>
                  <a:srgbClr val="A0B4CC"/>
                </a:solidFill>
              </a:rPr>
              <a:t>项目背景与问题</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C1D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280160"/>
          </a:xfrm>
          <a:prstGeom prst="rect">
            <a:avLst/>
          </a:prstGeom>
          <a:solidFill>
            <a:srgbClr val="1126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280160"/>
            <a:ext cx="12188952" cy="45720"/>
          </a:xfrm>
          <a:prstGeom prst="rect">
            <a:avLst/>
          </a:prstGeom>
          <a:solidFill>
            <a:srgbClr val="00C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82880"/>
            <a:ext cx="11430000" cy="914400"/>
          </a:xfrm>
          <a:prstGeom prst="rect">
            <a:avLst/>
          </a:prstGeom>
          <a:noFill/>
        </p:spPr>
        <p:txBody>
          <a:bodyPr wrap="square">
            <a:spAutoFit/>
          </a:bodyPr>
          <a:lstStyle/>
          <a:p>
            <a:pPr algn="l"/>
            <a:r>
              <a:rPr sz="2800" b="1">
                <a:solidFill>
                  <a:srgbClr val="FFFFFF"/>
                </a:solidFill>
              </a:rPr>
              <a:t>传统人工巡检面临的挑战</a:t>
            </a:r>
          </a:p>
        </p:txBody>
      </p:sp>
      <p:sp>
        <p:nvSpPr>
          <p:cNvPr id="6" name="Rectangle 5"/>
          <p:cNvSpPr/>
          <p:nvPr/>
        </p:nvSpPr>
        <p:spPr>
          <a:xfrm>
            <a:off x="365760" y="1508760"/>
            <a:ext cx="5486400" cy="4846320"/>
          </a:xfrm>
          <a:prstGeom prst="rect">
            <a:avLst/>
          </a:prstGeom>
          <a:solidFill>
            <a:srgbClr val="1126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600200"/>
            <a:ext cx="5120640" cy="411480"/>
          </a:xfrm>
          <a:prstGeom prst="rect">
            <a:avLst/>
          </a:prstGeom>
          <a:noFill/>
        </p:spPr>
        <p:txBody>
          <a:bodyPr wrap="square">
            <a:spAutoFit/>
          </a:bodyPr>
          <a:lstStyle/>
          <a:p>
            <a:pPr algn="l"/>
            <a:r>
              <a:rPr sz="2000" b="1">
                <a:solidFill>
                  <a:srgbClr val="00C4FF"/>
                </a:solidFill>
              </a:rPr>
              <a:t>五大核心痛点</a:t>
            </a:r>
          </a:p>
        </p:txBody>
      </p:sp>
      <p:sp>
        <p:nvSpPr>
          <p:cNvPr id="8" name="TextBox 7"/>
          <p:cNvSpPr txBox="1"/>
          <p:nvPr/>
        </p:nvSpPr>
        <p:spPr>
          <a:xfrm>
            <a:off x="548640" y="2103120"/>
            <a:ext cx="5120640" cy="4023360"/>
          </a:xfrm>
          <a:prstGeom prst="rect">
            <a:avLst/>
          </a:prstGeom>
          <a:noFill/>
        </p:spPr>
        <p:txBody>
          <a:bodyPr wrap="square">
            <a:spAutoFit/>
          </a:bodyPr>
          <a:lstStyle/>
          <a:p>
            <a:pPr>
              <a:spcBef>
                <a:spcPts val="400"/>
              </a:spcBef>
            </a:pPr>
            <a:r>
              <a:rPr sz="1400">
                <a:solidFill>
                  <a:srgbClr val="00C4FF"/>
                </a:solidFill>
              </a:rPr>
              <a:t>* 效率低：人工步行约 1.1~1.5 km/h，每天最多检测 6 km</a:t>
            </a:r>
          </a:p>
          <a:p>
            <a:pPr>
              <a:spcBef>
                <a:spcPts val="400"/>
              </a:spcBef>
            </a:pPr>
            <a:r>
              <a:rPr sz="1400">
                <a:solidFill>
                  <a:srgbClr val="00C4FF"/>
                </a:solidFill>
              </a:rPr>
              <a:t>* 数据离散：靠人工记录，格式不统一，无法直接对比分析</a:t>
            </a:r>
          </a:p>
          <a:p>
            <a:pPr>
              <a:spcBef>
                <a:spcPts val="400"/>
              </a:spcBef>
            </a:pPr>
            <a:r>
              <a:rPr sz="1400">
                <a:solidFill>
                  <a:srgbClr val="00C4FF"/>
                </a:solidFill>
              </a:rPr>
              <a:t>* 质量不稳定：人员状态、经验差异导致检测结果因人而异</a:t>
            </a:r>
          </a:p>
          <a:p>
            <a:pPr>
              <a:spcBef>
                <a:spcPts val="400"/>
              </a:spcBef>
            </a:pPr>
            <a:r>
              <a:rPr sz="1400">
                <a:solidFill>
                  <a:srgbClr val="00C4FF"/>
                </a:solidFill>
              </a:rPr>
              <a:t>* 夜间盲区：夜间无法巡检，长时间运行存在安全隐患</a:t>
            </a:r>
          </a:p>
          <a:p>
            <a:pPr>
              <a:spcBef>
                <a:spcPts val="400"/>
              </a:spcBef>
            </a:pPr>
            <a:r>
              <a:rPr sz="1400">
                <a:solidFill>
                  <a:srgbClr val="00C4FF"/>
                </a:solidFill>
              </a:rPr>
              <a:t>* 成本高：需要大量人员长期投入，综合成本居高不下</a:t>
            </a:r>
          </a:p>
        </p:txBody>
      </p:sp>
      <p:sp>
        <p:nvSpPr>
          <p:cNvPr id="9" name="Rectangle 8"/>
          <p:cNvSpPr/>
          <p:nvPr/>
        </p:nvSpPr>
        <p:spPr>
          <a:xfrm>
            <a:off x="6217920" y="1508760"/>
            <a:ext cx="5577840" cy="4846320"/>
          </a:xfrm>
          <a:prstGeom prst="rect">
            <a:avLst/>
          </a:prstGeom>
          <a:solidFill>
            <a:srgbClr val="1126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600200"/>
            <a:ext cx="5212080" cy="411480"/>
          </a:xfrm>
          <a:prstGeom prst="rect">
            <a:avLst/>
          </a:prstGeom>
          <a:noFill/>
        </p:spPr>
        <p:txBody>
          <a:bodyPr wrap="square">
            <a:spAutoFit/>
          </a:bodyPr>
          <a:lstStyle/>
          <a:p>
            <a:pPr algn="l"/>
            <a:r>
              <a:rPr sz="2000" b="1">
                <a:solidFill>
                  <a:srgbClr val="00C4FF"/>
                </a:solidFill>
              </a:rPr>
              <a:t>我们的解决方案</a:t>
            </a:r>
          </a:p>
        </p:txBody>
      </p:sp>
      <p:sp>
        <p:nvSpPr>
          <p:cNvPr id="11" name="TextBox 10"/>
          <p:cNvSpPr txBox="1"/>
          <p:nvPr/>
        </p:nvSpPr>
        <p:spPr>
          <a:xfrm>
            <a:off x="6400800" y="2103120"/>
            <a:ext cx="5212080" cy="4023360"/>
          </a:xfrm>
          <a:prstGeom prst="rect">
            <a:avLst/>
          </a:prstGeom>
          <a:noFill/>
        </p:spPr>
        <p:txBody>
          <a:bodyPr wrap="square">
            <a:spAutoFit/>
          </a:bodyPr>
          <a:lstStyle/>
          <a:p>
            <a:pPr>
              <a:spcBef>
                <a:spcPts val="400"/>
              </a:spcBef>
            </a:pPr>
            <a:r>
              <a:rPr sz="1400">
                <a:solidFill>
                  <a:srgbClr val="00C4FF"/>
                </a:solidFill>
              </a:rPr>
              <a:t>* 运行速度 1 m/s，每天 2 小时，覆盖约 6 公里</a:t>
            </a:r>
          </a:p>
          <a:p>
            <a:pPr>
              <a:spcBef>
                <a:spcPts val="400"/>
              </a:spcBef>
            </a:pPr>
            <a:r>
              <a:rPr sz="1400">
                <a:solidFill>
                  <a:srgbClr val="00C4FF"/>
                </a:solidFill>
              </a:rPr>
              <a:t>* 同时完成 9 项以上检测任务，一次出动全部搞定</a:t>
            </a:r>
          </a:p>
          <a:p>
            <a:pPr>
              <a:spcBef>
                <a:spcPts val="400"/>
              </a:spcBef>
            </a:pPr>
            <a:r>
              <a:rPr sz="1400">
                <a:solidFill>
                  <a:srgbClr val="00C4FF"/>
                </a:solidFill>
              </a:rPr>
              <a:t>* 实时采集、实时分析、实时报警，无需人工看图</a:t>
            </a:r>
          </a:p>
          <a:p>
            <a:pPr>
              <a:spcBef>
                <a:spcPts val="400"/>
              </a:spcBef>
            </a:pPr>
            <a:r>
              <a:rPr sz="1400">
                <a:solidFill>
                  <a:srgbClr val="00C4FF"/>
                </a:solidFill>
              </a:rPr>
              <a:t>* 数据标准化、可追溯、可对比，报告自动生成</a:t>
            </a:r>
          </a:p>
          <a:p>
            <a:pPr>
              <a:spcBef>
                <a:spcPts val="400"/>
              </a:spcBef>
            </a:pPr>
            <a:r>
              <a:rPr sz="1400">
                <a:solidFill>
                  <a:srgbClr val="00C4FF"/>
                </a:solidFill>
              </a:rPr>
              <a:t>* 综合效率提升约 50~60 倍，数据质量优于人工</a:t>
            </a:r>
          </a:p>
        </p:txBody>
      </p:sp>
      <p:sp>
        <p:nvSpPr>
          <p:cNvPr id="12" name="Rectangle 11"/>
          <p:cNvSpPr/>
          <p:nvPr/>
        </p:nvSpPr>
        <p:spPr>
          <a:xfrm>
            <a:off x="0" y="6492240"/>
            <a:ext cx="12188952" cy="365760"/>
          </a:xfrm>
          <a:prstGeom prst="rect">
            <a:avLst/>
          </a:prstGeom>
          <a:solidFill>
            <a:srgbClr val="1126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6519672"/>
            <a:ext cx="4572000" cy="320040"/>
          </a:xfrm>
          <a:prstGeom prst="rect">
            <a:avLst/>
          </a:prstGeom>
          <a:noFill/>
        </p:spPr>
        <p:txBody>
          <a:bodyPr wrap="square">
            <a:spAutoFit/>
          </a:bodyPr>
          <a:lstStyle/>
          <a:p>
            <a:pPr algn="l"/>
            <a:r>
              <a:rPr sz="1000" b="0">
                <a:solidFill>
                  <a:srgbClr val="A0B4CC"/>
                </a:solidFill>
              </a:rPr>
              <a:t>铁路线路智能综合检测机器人</a:t>
            </a:r>
          </a:p>
        </p:txBody>
      </p:sp>
      <p:sp>
        <p:nvSpPr>
          <p:cNvPr id="14" name="TextBox 13"/>
          <p:cNvSpPr txBox="1"/>
          <p:nvPr/>
        </p:nvSpPr>
        <p:spPr>
          <a:xfrm>
            <a:off x="10972800" y="6519672"/>
            <a:ext cx="1005840" cy="320040"/>
          </a:xfrm>
          <a:prstGeom prst="rect">
            <a:avLst/>
          </a:prstGeom>
          <a:noFill/>
        </p:spPr>
        <p:txBody>
          <a:bodyPr wrap="square">
            <a:spAutoFit/>
          </a:bodyPr>
          <a:lstStyle/>
          <a:p>
            <a:pPr algn="r"/>
            <a:r>
              <a:rPr sz="1000" b="0">
                <a:solidFill>
                  <a:srgbClr val="A0B4CC"/>
                </a:solidFill>
              </a:rPr>
              <a:t>4 / 28</a:t>
            </a:r>
          </a:p>
        </p:txBody>
      </p:sp>
      <p:sp>
        <p:nvSpPr>
          <p:cNvPr id="15" name="Rectangle 14"/>
          <p:cNvSpPr/>
          <p:nvPr/>
        </p:nvSpPr>
        <p:spPr>
          <a:xfrm>
            <a:off x="0" y="6492240"/>
            <a:ext cx="12188952" cy="365760"/>
          </a:xfrm>
          <a:prstGeom prst="rect">
            <a:avLst/>
          </a:prstGeom>
          <a:solidFill>
            <a:srgbClr val="1126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5760" y="6519672"/>
            <a:ext cx="4572000" cy="320040"/>
          </a:xfrm>
          <a:prstGeom prst="rect">
            <a:avLst/>
          </a:prstGeom>
          <a:noFill/>
        </p:spPr>
        <p:txBody>
          <a:bodyPr wrap="square">
            <a:spAutoFit/>
          </a:bodyPr>
          <a:lstStyle/>
          <a:p>
            <a:pPr algn="l"/>
            <a:r>
              <a:rPr sz="1000" b="0">
                <a:solidFill>
                  <a:srgbClr val="A0B4CC"/>
                </a:solidFill>
              </a:rPr>
              <a:t>铁路线路智能综合检测机器人</a:t>
            </a:r>
          </a:p>
        </p:txBody>
      </p:sp>
      <p:sp>
        <p:nvSpPr>
          <p:cNvPr id="17" name="TextBox 16"/>
          <p:cNvSpPr txBox="1"/>
          <p:nvPr/>
        </p:nvSpPr>
        <p:spPr>
          <a:xfrm>
            <a:off x="10972800" y="6519672"/>
            <a:ext cx="1005840" cy="320040"/>
          </a:xfrm>
          <a:prstGeom prst="rect">
            <a:avLst/>
          </a:prstGeom>
          <a:noFill/>
        </p:spPr>
        <p:txBody>
          <a:bodyPr wrap="square">
            <a:spAutoFit/>
          </a:bodyPr>
          <a:lstStyle/>
          <a:p>
            <a:pPr algn="r"/>
            <a:r>
              <a:rPr sz="1000" b="0">
                <a:solidFill>
                  <a:srgbClr val="A0B4CC"/>
                </a:solidFill>
              </a:rPr>
              <a:t>5 / 28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C1D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20040" cy="6858000"/>
          </a:xfrm>
          <a:prstGeom prst="rect">
            <a:avLst/>
          </a:prstGeom>
          <a:solidFill>
            <a:srgbClr val="00C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0" y="3474720"/>
            <a:ext cx="4572000" cy="50800"/>
          </a:xfrm>
          <a:prstGeom prst="rect">
            <a:avLst/>
          </a:prstGeom>
          <a:solidFill>
            <a:srgbClr val="00C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828800"/>
            <a:ext cx="10515600" cy="1371600"/>
          </a:xfrm>
          <a:prstGeom prst="rect">
            <a:avLst/>
          </a:prstGeom>
          <a:noFill/>
        </p:spPr>
        <p:txBody>
          <a:bodyPr wrap="square">
            <a:spAutoFit/>
          </a:bodyPr>
          <a:lstStyle/>
          <a:p>
            <a:pPr algn="l"/>
            <a:r>
              <a:rPr sz="4400" b="1">
                <a:solidFill>
                  <a:srgbClr val="FFFFFF"/>
                </a:solidFill>
              </a:rPr>
              <a:t>02</a:t>
            </a:r>
          </a:p>
        </p:txBody>
      </p:sp>
      <p:sp>
        <p:nvSpPr>
          <p:cNvPr id="6" name="TextBox 5"/>
          <p:cNvSpPr txBox="1"/>
          <p:nvPr/>
        </p:nvSpPr>
        <p:spPr>
          <a:xfrm>
            <a:off x="548640" y="3566160"/>
            <a:ext cx="10515600" cy="548640"/>
          </a:xfrm>
          <a:prstGeom prst="rect">
            <a:avLst/>
          </a:prstGeom>
          <a:noFill/>
        </p:spPr>
        <p:txBody>
          <a:bodyPr wrap="square">
            <a:spAutoFit/>
          </a:bodyPr>
          <a:lstStyle/>
          <a:p>
            <a:pPr algn="l"/>
            <a:r>
              <a:rPr sz="1800" b="0">
                <a:solidFill>
                  <a:srgbClr val="A0B4CC"/>
                </a:solidFill>
              </a:rPr>
              <a:t>综合检测核心理念</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C1D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280160"/>
          </a:xfrm>
          <a:prstGeom prst="rect">
            <a:avLst/>
          </a:prstGeom>
          <a:solidFill>
            <a:srgbClr val="1126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280160"/>
            <a:ext cx="12188952" cy="45720"/>
          </a:xfrm>
          <a:prstGeom prst="rect">
            <a:avLst/>
          </a:prstGeom>
          <a:solidFill>
            <a:srgbClr val="00C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82880"/>
            <a:ext cx="11430000" cy="914400"/>
          </a:xfrm>
          <a:prstGeom prst="rect">
            <a:avLst/>
          </a:prstGeom>
          <a:noFill/>
        </p:spPr>
        <p:txBody>
          <a:bodyPr wrap="square">
            <a:spAutoFit/>
          </a:bodyPr>
          <a:lstStyle/>
          <a:p>
            <a:pPr algn="l"/>
            <a:r>
              <a:rPr sz="2800" b="1">
                <a:solidFill>
                  <a:srgbClr val="FFFFFF"/>
                </a:solidFill>
              </a:rPr>
              <a:t>什么是"综合检测"</a:t>
            </a:r>
          </a:p>
        </p:txBody>
      </p:sp>
      <p:sp>
        <p:nvSpPr>
          <p:cNvPr id="6" name="TextBox 5"/>
          <p:cNvSpPr txBox="1"/>
          <p:nvPr/>
        </p:nvSpPr>
        <p:spPr>
          <a:xfrm>
            <a:off x="365760" y="914400"/>
            <a:ext cx="11430000" cy="320040"/>
          </a:xfrm>
          <a:prstGeom prst="rect">
            <a:avLst/>
          </a:prstGeom>
          <a:noFill/>
        </p:spPr>
        <p:txBody>
          <a:bodyPr wrap="square">
            <a:spAutoFit/>
          </a:bodyPr>
          <a:lstStyle/>
          <a:p>
            <a:pPr algn="l"/>
            <a:r>
              <a:rPr sz="1300" b="0">
                <a:solidFill>
                  <a:srgbClr val="A0B4CC"/>
                </a:solidFill>
              </a:rPr>
              <a:t>不是单一功能的检测仪，而是完整的综合检测系统</a:t>
            </a:r>
          </a:p>
        </p:txBody>
      </p:sp>
      <p:graphicFrame>
        <p:nvGraphicFramePr>
          <p:cNvPr id="7" name="Table 6"/>
          <p:cNvGraphicFramePr>
            <a:graphicFrameLocks noGrp="1"/>
          </p:cNvGraphicFramePr>
          <p:nvPr/>
        </p:nvGraphicFramePr>
        <p:xfrm>
          <a:off x="914400" y="1508760"/>
          <a:ext cx="10332720" cy="4846320"/>
        </p:xfrm>
        <a:graphic>
          <a:graphicData uri="http://schemas.openxmlformats.org/drawingml/2006/table">
            <a:tbl>
              <a:tblPr firstRow="1" bandRow="1">
                <a:tableStyleId>{5C22544A-7EE6-4342-B048-85BDC9FD1C3A}</a:tableStyleId>
              </a:tblPr>
              <a:tblGrid>
                <a:gridCol w="3444240"/>
                <a:gridCol w="3444240"/>
                <a:gridCol w="3444240"/>
              </a:tblGrid>
              <a:tr h="692331">
                <a:tc>
                  <a:txBody>
                    <a:bodyPr/>
                    <a:lstStyle/>
                    <a:p>
                      <a:pPr algn="ctr"/>
                      <a:r>
                        <a:t>对比维度</a:t>
                      </a:r>
                      <a:r>
                        <a:rPr sz="1200" b="1">
                          <a:solidFill>
                            <a:srgbClr val="00C4FF"/>
                          </a:solidFill>
                        </a:rPr>
                        <a:t>对比维度</a:t>
                      </a:r>
                    </a:p>
                  </a:txBody>
                  <a:tcPr>
                    <a:solidFill>
                      <a:srgbClr val="11264E"/>
                    </a:solidFill>
                  </a:tcPr>
                </a:tc>
                <a:tc>
                  <a:txBody>
                    <a:bodyPr/>
                    <a:lstStyle/>
                    <a:p>
                      <a:pPr algn="ctr"/>
                      <a:r>
                        <a:t>传统单功能设备</a:t>
                      </a:r>
                      <a:r>
                        <a:rPr sz="1200" b="1">
                          <a:solidFill>
                            <a:srgbClr val="00C4FF"/>
                          </a:solidFill>
                        </a:rPr>
                        <a:t>传统单功能设备</a:t>
                      </a:r>
                    </a:p>
                  </a:txBody>
                  <a:tcPr>
                    <a:solidFill>
                      <a:srgbClr val="11264E"/>
                    </a:solidFill>
                  </a:tcPr>
                </a:tc>
                <a:tc>
                  <a:txBody>
                    <a:bodyPr/>
                    <a:lstStyle/>
                    <a:p>
                      <a:pPr algn="ctr"/>
                      <a:r>
                        <a:t>本产品（综合检测）</a:t>
                      </a:r>
                      <a:r>
                        <a:rPr sz="1200" b="1">
                          <a:solidFill>
                            <a:srgbClr val="00C4FF"/>
                          </a:solidFill>
                        </a:rPr>
                        <a:t>本产品（综合检测）</a:t>
                      </a:r>
                    </a:p>
                  </a:txBody>
                  <a:tcPr>
                    <a:solidFill>
                      <a:srgbClr val="11264E"/>
                    </a:solidFill>
                  </a:tcPr>
                </a:tc>
              </a:tr>
              <a:tr h="692331">
                <a:tc>
                  <a:txBody>
                    <a:bodyPr/>
                    <a:lstStyle/>
                    <a:p>
                      <a:pPr algn="ctr"/>
                      <a:r>
                        <a:t>检测项目数量</a:t>
                      </a:r>
                      <a:r>
                        <a:rPr sz="1100">
                          <a:solidFill>
                            <a:srgbClr val="FFFFFF"/>
                          </a:solidFill>
                        </a:rPr>
                        <a:t>检测项目数量</a:t>
                      </a:r>
                    </a:p>
                  </a:txBody>
                  <a:tcPr>
                    <a:solidFill>
                      <a:srgbClr val="11264E"/>
                    </a:solidFill>
                  </a:tcPr>
                </a:tc>
                <a:tc>
                  <a:txBody>
                    <a:bodyPr/>
                    <a:lstStyle/>
                    <a:p>
                      <a:pPr algn="ctr"/>
                      <a:r>
                        <a:t>1 项</a:t>
                      </a:r>
                      <a:r>
                        <a:rPr sz="1100">
                          <a:solidFill>
                            <a:srgbClr val="FFFFFF"/>
                          </a:solidFill>
                        </a:rPr>
                        <a:t>1 项</a:t>
                      </a:r>
                    </a:p>
                  </a:txBody>
                  <a:tcPr>
                    <a:solidFill>
                      <a:srgbClr val="11264E"/>
                    </a:solidFill>
                  </a:tcPr>
                </a:tc>
                <a:tc>
                  <a:txBody>
                    <a:bodyPr/>
                    <a:lstStyle/>
                    <a:p>
                      <a:pPr algn="ctr"/>
                      <a:r>
                        <a:t>9+ 项同步</a:t>
                      </a:r>
                      <a:r>
                        <a:rPr sz="1100">
                          <a:solidFill>
                            <a:srgbClr val="FFFFFF"/>
                          </a:solidFill>
                        </a:rPr>
                        <a:t>9+ 项同步</a:t>
                      </a:r>
                    </a:p>
                  </a:txBody>
                  <a:tcPr>
                    <a:solidFill>
                      <a:srgbClr val="11264E"/>
                    </a:solidFill>
                  </a:tcPr>
                </a:tc>
              </a:tr>
              <a:tr h="692331">
                <a:tc>
                  <a:txBody>
                    <a:bodyPr/>
                    <a:lstStyle/>
                    <a:p>
                      <a:pPr algn="ctr"/>
                      <a:r>
                        <a:t>作业方式</a:t>
                      </a:r>
                      <a:r>
                        <a:rPr sz="1100">
                          <a:solidFill>
                            <a:srgbClr val="FFFFFF"/>
                          </a:solidFill>
                        </a:rPr>
                        <a:t>作业方式</a:t>
                      </a:r>
                    </a:p>
                  </a:txBody>
                  <a:tcPr>
                    <a:solidFill>
                      <a:srgbClr val="16305A"/>
                    </a:solidFill>
                  </a:tcPr>
                </a:tc>
                <a:tc>
                  <a:txBody>
                    <a:bodyPr/>
                    <a:lstStyle/>
                    <a:p>
                      <a:pPr algn="ctr"/>
                      <a:r>
                        <a:t>多次出动 / 多人协作</a:t>
                      </a:r>
                      <a:r>
                        <a:rPr sz="1100">
                          <a:solidFill>
                            <a:srgbClr val="FFFFFF"/>
                          </a:solidFill>
                        </a:rPr>
                        <a:t>多次出动 / 多人协作</a:t>
                      </a:r>
                    </a:p>
                  </a:txBody>
                  <a:tcPr>
                    <a:solidFill>
                      <a:srgbClr val="16305A"/>
                    </a:solidFill>
                  </a:tcPr>
                </a:tc>
                <a:tc>
                  <a:txBody>
                    <a:bodyPr/>
                    <a:lstStyle/>
                    <a:p>
                      <a:pPr algn="ctr"/>
                      <a:r>
                        <a:t>一次出动 / 一人操作</a:t>
                      </a:r>
                      <a:r>
                        <a:rPr sz="1100">
                          <a:solidFill>
                            <a:srgbClr val="FFFFFF"/>
                          </a:solidFill>
                        </a:rPr>
                        <a:t>一次出动 / 一人操作</a:t>
                      </a:r>
                    </a:p>
                  </a:txBody>
                  <a:tcPr>
                    <a:solidFill>
                      <a:srgbClr val="16305A"/>
                    </a:solidFill>
                  </a:tcPr>
                </a:tc>
              </a:tr>
              <a:tr h="692331">
                <a:tc>
                  <a:txBody>
                    <a:bodyPr/>
                    <a:lstStyle/>
                    <a:p>
                      <a:pPr algn="ctr"/>
                      <a:r>
                        <a:t>数据关联</a:t>
                      </a:r>
                      <a:r>
                        <a:rPr sz="1100">
                          <a:solidFill>
                            <a:srgbClr val="FFFFFF"/>
                          </a:solidFill>
                        </a:rPr>
                        <a:t>数据关联</a:t>
                      </a:r>
                    </a:p>
                  </a:txBody>
                  <a:tcPr>
                    <a:solidFill>
                      <a:srgbClr val="11264E"/>
                    </a:solidFill>
                  </a:tcPr>
                </a:tc>
                <a:tc>
                  <a:txBody>
                    <a:bodyPr/>
                    <a:lstStyle/>
                    <a:p>
                      <a:pPr algn="ctr"/>
                      <a:r>
                        <a:t>各自孤立，无法关联</a:t>
                      </a:r>
                      <a:r>
                        <a:rPr sz="1100">
                          <a:solidFill>
                            <a:srgbClr val="FFFFFF"/>
                          </a:solidFill>
                        </a:rPr>
                        <a:t>各自孤立，无法关联</a:t>
                      </a:r>
                    </a:p>
                  </a:txBody>
                  <a:tcPr>
                    <a:solidFill>
                      <a:srgbClr val="11264E"/>
                    </a:solidFill>
                  </a:tcPr>
                </a:tc>
                <a:tc>
                  <a:txBody>
                    <a:bodyPr/>
                    <a:lstStyle/>
                    <a:p>
                      <a:pPr algn="ctr"/>
                      <a:r>
                        <a:t>统一分析，互相印证</a:t>
                      </a:r>
                      <a:r>
                        <a:rPr sz="1100">
                          <a:solidFill>
                            <a:srgbClr val="FFFFFF"/>
                          </a:solidFill>
                        </a:rPr>
                        <a:t>统一分析，互相印证</a:t>
                      </a:r>
                    </a:p>
                  </a:txBody>
                  <a:tcPr>
                    <a:solidFill>
                      <a:srgbClr val="11264E"/>
                    </a:solidFill>
                  </a:tcPr>
                </a:tc>
              </a:tr>
              <a:tr h="692331">
                <a:tc>
                  <a:txBody>
                    <a:bodyPr/>
                    <a:lstStyle/>
                    <a:p>
                      <a:pPr algn="ctr"/>
                      <a:r>
                        <a:t>综合成本</a:t>
                      </a:r>
                      <a:r>
                        <a:rPr sz="1100">
                          <a:solidFill>
                            <a:srgbClr val="FFFFFF"/>
                          </a:solidFill>
                        </a:rPr>
                        <a:t>综合成本</a:t>
                      </a:r>
                    </a:p>
                  </a:txBody>
                  <a:tcPr>
                    <a:solidFill>
                      <a:srgbClr val="16305A"/>
                    </a:solidFill>
                  </a:tcPr>
                </a:tc>
                <a:tc>
                  <a:txBody>
                    <a:bodyPr/>
                    <a:lstStyle/>
                    <a:p>
                      <a:pPr algn="ctr"/>
                      <a:r>
                        <a:t>高（多套设备）</a:t>
                      </a:r>
                      <a:r>
                        <a:rPr sz="1100">
                          <a:solidFill>
                            <a:srgbClr val="FFFFFF"/>
                          </a:solidFill>
                        </a:rPr>
                        <a:t>高（多套设备）</a:t>
                      </a:r>
                    </a:p>
                  </a:txBody>
                  <a:tcPr>
                    <a:solidFill>
                      <a:srgbClr val="16305A"/>
                    </a:solidFill>
                  </a:tcPr>
                </a:tc>
                <a:tc>
                  <a:txBody>
                    <a:bodyPr/>
                    <a:lstStyle/>
                    <a:p>
                      <a:pPr algn="ctr"/>
                      <a:r>
                        <a:t>低（一机多用）</a:t>
                      </a:r>
                      <a:r>
                        <a:rPr sz="1100">
                          <a:solidFill>
                            <a:srgbClr val="FFFFFF"/>
                          </a:solidFill>
                        </a:rPr>
                        <a:t>低（一机多用）</a:t>
                      </a:r>
                    </a:p>
                  </a:txBody>
                  <a:tcPr>
                    <a:solidFill>
                      <a:srgbClr val="16305A"/>
                    </a:solidFill>
                  </a:tcPr>
                </a:tc>
              </a:tr>
              <a:tr h="692331">
                <a:tc>
                  <a:txBody>
                    <a:bodyPr/>
                    <a:lstStyle/>
                    <a:p>
                      <a:pPr algn="ctr"/>
                      <a:r>
                        <a:t>数据质量</a:t>
                      </a:r>
                      <a:r>
                        <a:rPr sz="1100">
                          <a:solidFill>
                            <a:srgbClr val="FFFFFF"/>
                          </a:solidFill>
                        </a:rPr>
                        <a:t>数据质量</a:t>
                      </a:r>
                    </a:p>
                  </a:txBody>
                  <a:tcPr>
                    <a:solidFill>
                      <a:srgbClr val="11264E"/>
                    </a:solidFill>
                  </a:tcPr>
                </a:tc>
                <a:tc>
                  <a:txBody>
                    <a:bodyPr/>
                    <a:lstStyle/>
                    <a:p>
                      <a:pPr algn="ctr"/>
                      <a:r>
                        <a:t>因人而异，不稳定</a:t>
                      </a:r>
                      <a:r>
                        <a:rPr sz="1100">
                          <a:solidFill>
                            <a:srgbClr val="FFFFFF"/>
                          </a:solidFill>
                        </a:rPr>
                        <a:t>因人而异，不稳定</a:t>
                      </a:r>
                    </a:p>
                  </a:txBody>
                  <a:tcPr>
                    <a:solidFill>
                      <a:srgbClr val="11264E"/>
                    </a:solidFill>
                  </a:tcPr>
                </a:tc>
                <a:tc>
                  <a:txBody>
                    <a:bodyPr/>
                    <a:lstStyle/>
                    <a:p>
                      <a:pPr algn="ctr"/>
                      <a:r>
                        <a:t>标准统一，客观一致</a:t>
                      </a:r>
                      <a:r>
                        <a:rPr sz="1100">
                          <a:solidFill>
                            <a:srgbClr val="FFFFFF"/>
                          </a:solidFill>
                        </a:rPr>
                        <a:t>标准统一，客观一致</a:t>
                      </a:r>
                    </a:p>
                  </a:txBody>
                  <a:tcPr>
                    <a:solidFill>
                      <a:srgbClr val="11264E"/>
                    </a:solidFill>
                  </a:tcPr>
                </a:tc>
              </a:tr>
              <a:tr h="692334">
                <a:tc>
                  <a:txBody>
                    <a:bodyPr/>
                    <a:lstStyle/>
                    <a:p>
                      <a:pPr algn="ctr"/>
                      <a:r>
                        <a:t>分析深度</a:t>
                      </a:r>
                      <a:r>
                        <a:rPr sz="1100">
                          <a:solidFill>
                            <a:srgbClr val="FFFFFF"/>
                          </a:solidFill>
                        </a:rPr>
                        <a:t>分析深度</a:t>
                      </a:r>
                    </a:p>
                  </a:txBody>
                  <a:tcPr>
                    <a:solidFill>
                      <a:srgbClr val="16305A"/>
                    </a:solidFill>
                  </a:tcPr>
                </a:tc>
                <a:tc>
                  <a:txBody>
                    <a:bodyPr/>
                    <a:lstStyle/>
                    <a:p>
                      <a:pPr algn="ctr"/>
                      <a:r>
                        <a:t>单维孤立结论</a:t>
                      </a:r>
                      <a:r>
                        <a:rPr sz="1100">
                          <a:solidFill>
                            <a:srgbClr val="FFFFFF"/>
                          </a:solidFill>
                        </a:rPr>
                        <a:t>单维孤立结论</a:t>
                      </a:r>
                    </a:p>
                  </a:txBody>
                  <a:tcPr>
                    <a:solidFill>
                      <a:srgbClr val="16305A"/>
                    </a:solidFill>
                  </a:tcPr>
                </a:tc>
                <a:tc>
                  <a:txBody>
                    <a:bodyPr/>
                    <a:lstStyle/>
                    <a:p>
                      <a:pPr algn="ctr"/>
                      <a:r>
                        <a:t>多维融合综合判级</a:t>
                      </a:r>
                      <a:r>
                        <a:rPr sz="1100">
                          <a:solidFill>
                            <a:srgbClr val="FFFFFF"/>
                          </a:solidFill>
                        </a:rPr>
                        <a:t>多维融合综合判级</a:t>
                      </a:r>
                    </a:p>
                  </a:txBody>
                  <a:tcPr>
                    <a:solidFill>
                      <a:srgbClr val="16305A"/>
                    </a:solidFill>
                  </a:tcPr>
                </a:tc>
              </a:tr>
            </a:tbl>
          </a:graphicData>
        </a:graphic>
      </p:graphicFrame>
      <p:sp>
        <p:nvSpPr>
          <p:cNvPr id="8" name="Rectangle 7"/>
          <p:cNvSpPr/>
          <p:nvPr/>
        </p:nvSpPr>
        <p:spPr>
          <a:xfrm>
            <a:off x="0" y="6492240"/>
            <a:ext cx="12188952" cy="365760"/>
          </a:xfrm>
          <a:prstGeom prst="rect">
            <a:avLst/>
          </a:prstGeom>
          <a:solidFill>
            <a:srgbClr val="1126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6519672"/>
            <a:ext cx="4572000" cy="320040"/>
          </a:xfrm>
          <a:prstGeom prst="rect">
            <a:avLst/>
          </a:prstGeom>
          <a:noFill/>
        </p:spPr>
        <p:txBody>
          <a:bodyPr wrap="square">
            <a:spAutoFit/>
          </a:bodyPr>
          <a:lstStyle/>
          <a:p>
            <a:pPr algn="l"/>
            <a:r>
              <a:rPr sz="1000" b="0">
                <a:solidFill>
                  <a:srgbClr val="A0B4CC"/>
                </a:solidFill>
              </a:rPr>
              <a:t>铁路线路智能综合检测机器人</a:t>
            </a:r>
          </a:p>
        </p:txBody>
      </p:sp>
      <p:sp>
        <p:nvSpPr>
          <p:cNvPr id="10" name="TextBox 9"/>
          <p:cNvSpPr txBox="1"/>
          <p:nvPr/>
        </p:nvSpPr>
        <p:spPr>
          <a:xfrm>
            <a:off x="10972800" y="6519672"/>
            <a:ext cx="1005840" cy="320040"/>
          </a:xfrm>
          <a:prstGeom prst="rect">
            <a:avLst/>
          </a:prstGeom>
          <a:noFill/>
        </p:spPr>
        <p:txBody>
          <a:bodyPr wrap="square">
            <a:spAutoFit/>
          </a:bodyPr>
          <a:lstStyle/>
          <a:p>
            <a:pPr algn="r"/>
            <a:r>
              <a:rPr sz="1000" b="0">
                <a:solidFill>
                  <a:srgbClr val="A0B4CC"/>
                </a:solidFill>
              </a:rPr>
              <a:t>6 / 28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C1D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280160"/>
          </a:xfrm>
          <a:prstGeom prst="rect">
            <a:avLst/>
          </a:prstGeom>
          <a:solidFill>
            <a:srgbClr val="1126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280160"/>
            <a:ext cx="12188952" cy="45720"/>
          </a:xfrm>
          <a:prstGeom prst="rect">
            <a:avLst/>
          </a:prstGeom>
          <a:solidFill>
            <a:srgbClr val="00C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82880"/>
            <a:ext cx="11430000" cy="914400"/>
          </a:xfrm>
          <a:prstGeom prst="rect">
            <a:avLst/>
          </a:prstGeom>
          <a:noFill/>
        </p:spPr>
        <p:txBody>
          <a:bodyPr wrap="square">
            <a:spAutoFit/>
          </a:bodyPr>
          <a:lstStyle/>
          <a:p>
            <a:pPr algn="l"/>
            <a:r>
              <a:rPr sz="2800" b="1">
                <a:solidFill>
                  <a:srgbClr val="FFFFFF"/>
                </a:solidFill>
              </a:rPr>
              <a:t>综合检测的三个层次</a:t>
            </a:r>
          </a:p>
        </p:txBody>
      </p:sp>
      <p:sp>
        <p:nvSpPr>
          <p:cNvPr id="6" name="TextBox 5"/>
          <p:cNvSpPr txBox="1"/>
          <p:nvPr/>
        </p:nvSpPr>
        <p:spPr>
          <a:xfrm>
            <a:off x="365760" y="914400"/>
            <a:ext cx="11430000" cy="320040"/>
          </a:xfrm>
          <a:prstGeom prst="rect">
            <a:avLst/>
          </a:prstGeom>
          <a:noFill/>
        </p:spPr>
        <p:txBody>
          <a:bodyPr wrap="square">
            <a:spAutoFit/>
          </a:bodyPr>
          <a:lstStyle/>
          <a:p>
            <a:pPr algn="l"/>
            <a:r>
              <a:rPr sz="1300" b="0">
                <a:solidFill>
                  <a:srgbClr val="A0B4CC"/>
                </a:solidFill>
              </a:rPr>
              <a:t>多检测项目融合  |  多传感器融合  |  多维度数据融合</a:t>
            </a:r>
          </a:p>
        </p:txBody>
      </p:sp>
      <p:sp>
        <p:nvSpPr>
          <p:cNvPr id="7" name="Rectangle 6"/>
          <p:cNvSpPr/>
          <p:nvPr/>
        </p:nvSpPr>
        <p:spPr>
          <a:xfrm>
            <a:off x="365760" y="1508760"/>
            <a:ext cx="3749039" cy="4846320"/>
          </a:xfrm>
          <a:prstGeom prst="rect">
            <a:avLst/>
          </a:prstGeom>
          <a:solidFill>
            <a:srgbClr val="1126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65760" y="1508760"/>
            <a:ext cx="3749039" cy="54864"/>
          </a:xfrm>
          <a:prstGeom prst="rect">
            <a:avLst/>
          </a:prstGeom>
          <a:solidFill>
            <a:srgbClr val="00C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645920"/>
            <a:ext cx="3474720" cy="457200"/>
          </a:xfrm>
          <a:prstGeom prst="rect">
            <a:avLst/>
          </a:prstGeom>
          <a:noFill/>
        </p:spPr>
        <p:txBody>
          <a:bodyPr wrap="square">
            <a:spAutoFit/>
          </a:bodyPr>
          <a:lstStyle/>
          <a:p>
            <a:pPr algn="l"/>
            <a:r>
              <a:rPr sz="2000" b="1">
                <a:solidFill>
                  <a:srgbClr val="00C4FF"/>
                </a:solidFill>
              </a:rPr>
              <a:t>多检测项目融合</a:t>
            </a:r>
          </a:p>
        </p:txBody>
      </p:sp>
      <p:sp>
        <p:nvSpPr>
          <p:cNvPr id="10" name="Rectangle 9"/>
          <p:cNvSpPr/>
          <p:nvPr/>
        </p:nvSpPr>
        <p:spPr>
          <a:xfrm>
            <a:off x="1554480" y="2148840"/>
            <a:ext cx="1371600" cy="25400"/>
          </a:xfrm>
          <a:prstGeom prst="rect">
            <a:avLst/>
          </a:prstGeom>
          <a:solidFill>
            <a:srgbClr val="00C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2286000"/>
            <a:ext cx="3474720" cy="3931920"/>
          </a:xfrm>
          <a:prstGeom prst="rect">
            <a:avLst/>
          </a:prstGeom>
          <a:noFill/>
        </p:spPr>
        <p:txBody>
          <a:bodyPr wrap="square">
            <a:spAutoFit/>
          </a:bodyPr>
          <a:lstStyle/>
          <a:p>
            <a:pPr>
              <a:spcBef>
                <a:spcPts val="300"/>
              </a:spcBef>
            </a:pPr>
            <a:r>
              <a:rPr sz="1400">
                <a:solidFill>
                  <a:srgbClr val="FFFFFF"/>
                </a:solidFill>
              </a:rPr>
              <a:t>轨面缺陷+螺栓状态</a:t>
            </a:r>
          </a:p>
          <a:p>
            <a:pPr>
              <a:spcBef>
                <a:spcPts val="300"/>
              </a:spcBef>
            </a:pPr>
            <a:r>
              <a:rPr sz="1400">
                <a:solidFill>
                  <a:srgbClr val="FFFFFF"/>
                </a:solidFill>
              </a:rPr>
              <a:t>+3D轮廓+波磨+焊缝</a:t>
            </a:r>
          </a:p>
          <a:p>
            <a:pPr>
              <a:spcBef>
                <a:spcPts val="300"/>
              </a:spcBef>
            </a:pPr>
            <a:r>
              <a:rPr sz="1400">
                <a:solidFill>
                  <a:srgbClr val="FFFFFF"/>
                </a:solidFill>
              </a:rPr>
              <a:t>+水平+高低+轨向+轨距</a:t>
            </a:r>
          </a:p>
          <a:p>
            <a:pPr>
              <a:spcBef>
                <a:spcPts val="300"/>
              </a:spcBef>
            </a:pPr>
            <a:r>
              <a:rPr sz="1400">
                <a:solidFill>
                  <a:srgbClr val="FFFFFF"/>
                </a:solidFill>
              </a:rPr>
              <a:t/>
            </a:r>
          </a:p>
          <a:p>
            <a:pPr>
              <a:spcBef>
                <a:spcPts val="300"/>
              </a:spcBef>
            </a:pPr>
            <a:r>
              <a:rPr sz="1400">
                <a:solidFill>
                  <a:srgbClr val="FFFFFF"/>
                </a:solidFill>
              </a:rPr>
              <a:t>一台设备全部覆盖</a:t>
            </a:r>
          </a:p>
        </p:txBody>
      </p:sp>
      <p:sp>
        <p:nvSpPr>
          <p:cNvPr id="12" name="Rectangle 11"/>
          <p:cNvSpPr/>
          <p:nvPr/>
        </p:nvSpPr>
        <p:spPr>
          <a:xfrm>
            <a:off x="4279392" y="1508760"/>
            <a:ext cx="3749039" cy="4846320"/>
          </a:xfrm>
          <a:prstGeom prst="rect">
            <a:avLst/>
          </a:prstGeom>
          <a:solidFill>
            <a:srgbClr val="1126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79392" y="1508760"/>
            <a:ext cx="3749039" cy="54864"/>
          </a:xfrm>
          <a:prstGeom prst="rect">
            <a:avLst/>
          </a:prstGeom>
          <a:solidFill>
            <a:srgbClr val="00A0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16552" y="1645920"/>
            <a:ext cx="3474720" cy="457200"/>
          </a:xfrm>
          <a:prstGeom prst="rect">
            <a:avLst/>
          </a:prstGeom>
          <a:noFill/>
        </p:spPr>
        <p:txBody>
          <a:bodyPr wrap="square">
            <a:spAutoFit/>
          </a:bodyPr>
          <a:lstStyle/>
          <a:p>
            <a:pPr algn="l"/>
            <a:r>
              <a:rPr sz="2000" b="1">
                <a:solidFill>
                  <a:srgbClr val="00A0E0"/>
                </a:solidFill>
              </a:rPr>
              <a:t>多传感器融合</a:t>
            </a:r>
          </a:p>
        </p:txBody>
      </p:sp>
      <p:sp>
        <p:nvSpPr>
          <p:cNvPr id="15" name="Rectangle 14"/>
          <p:cNvSpPr/>
          <p:nvPr/>
        </p:nvSpPr>
        <p:spPr>
          <a:xfrm>
            <a:off x="5468112" y="2148840"/>
            <a:ext cx="1371600" cy="25400"/>
          </a:xfrm>
          <a:prstGeom prst="rect">
            <a:avLst/>
          </a:prstGeom>
          <a:solidFill>
            <a:srgbClr val="00A0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16552" y="2286000"/>
            <a:ext cx="3474720" cy="3931920"/>
          </a:xfrm>
          <a:prstGeom prst="rect">
            <a:avLst/>
          </a:prstGeom>
          <a:noFill/>
        </p:spPr>
        <p:txBody>
          <a:bodyPr wrap="square">
            <a:spAutoFit/>
          </a:bodyPr>
          <a:lstStyle/>
          <a:p>
            <a:pPr>
              <a:spcBef>
                <a:spcPts val="300"/>
              </a:spcBef>
            </a:pPr>
            <a:r>
              <a:rPr sz="1400">
                <a:solidFill>
                  <a:srgbClr val="FFFFFF"/>
                </a:solidFill>
              </a:rPr>
              <a:t>6x2D工业相机</a:t>
            </a:r>
          </a:p>
          <a:p>
            <a:pPr>
              <a:spcBef>
                <a:spcPts val="300"/>
              </a:spcBef>
            </a:pPr>
            <a:r>
              <a:rPr sz="1400">
                <a:solidFill>
                  <a:srgbClr val="FFFFFF"/>
                </a:solidFill>
              </a:rPr>
              <a:t>+2x3D线激光</a:t>
            </a:r>
          </a:p>
          <a:p>
            <a:pPr>
              <a:spcBef>
                <a:spcPts val="300"/>
              </a:spcBef>
            </a:pPr>
            <a:r>
              <a:rPr sz="1400">
                <a:solidFill>
                  <a:srgbClr val="FFFFFF"/>
                </a:solidFill>
              </a:rPr>
              <a:t>+2x双陀螺仪</a:t>
            </a:r>
          </a:p>
          <a:p>
            <a:pPr>
              <a:spcBef>
                <a:spcPts val="300"/>
              </a:spcBef>
            </a:pPr>
            <a:r>
              <a:rPr sz="1400">
                <a:solidFill>
                  <a:srgbClr val="FFFFFF"/>
                </a:solidFill>
              </a:rPr>
              <a:t/>
            </a:r>
          </a:p>
          <a:p>
            <a:pPr>
              <a:spcBef>
                <a:spcPts val="300"/>
              </a:spcBef>
            </a:pPr>
            <a:r>
              <a:rPr sz="1400">
                <a:solidFill>
                  <a:srgbClr val="FFFFFF"/>
                </a:solidFill>
              </a:rPr>
              <a:t>时间戳毫秒级同步</a:t>
            </a:r>
          </a:p>
          <a:p>
            <a:pPr>
              <a:spcBef>
                <a:spcPts val="300"/>
              </a:spcBef>
            </a:pPr>
            <a:r>
              <a:rPr sz="1400">
                <a:solidFill>
                  <a:srgbClr val="FFFFFF"/>
                </a:solidFill>
              </a:rPr>
              <a:t>坐标系统一</a:t>
            </a:r>
          </a:p>
        </p:txBody>
      </p:sp>
      <p:sp>
        <p:nvSpPr>
          <p:cNvPr id="17" name="Rectangle 16"/>
          <p:cNvSpPr/>
          <p:nvPr/>
        </p:nvSpPr>
        <p:spPr>
          <a:xfrm>
            <a:off x="8193024" y="1508760"/>
            <a:ext cx="3749039" cy="4846320"/>
          </a:xfrm>
          <a:prstGeom prst="rect">
            <a:avLst/>
          </a:prstGeom>
          <a:solidFill>
            <a:srgbClr val="1126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93024" y="1508760"/>
            <a:ext cx="3749039" cy="5486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30184" y="1645920"/>
            <a:ext cx="3474720" cy="457200"/>
          </a:xfrm>
          <a:prstGeom prst="rect">
            <a:avLst/>
          </a:prstGeom>
          <a:noFill/>
        </p:spPr>
        <p:txBody>
          <a:bodyPr wrap="square">
            <a:spAutoFit/>
          </a:bodyPr>
          <a:lstStyle/>
          <a:p>
            <a:pPr algn="l"/>
            <a:r>
              <a:rPr sz="2000" b="1">
                <a:solidFill>
                  <a:srgbClr val="0070C0"/>
                </a:solidFill>
              </a:rPr>
              <a:t>多维度数据融合</a:t>
            </a:r>
          </a:p>
        </p:txBody>
      </p:sp>
      <p:sp>
        <p:nvSpPr>
          <p:cNvPr id="20" name="Rectangle 19"/>
          <p:cNvSpPr/>
          <p:nvPr/>
        </p:nvSpPr>
        <p:spPr>
          <a:xfrm>
            <a:off x="9381744" y="2148840"/>
            <a:ext cx="1371600" cy="25400"/>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30184" y="2286000"/>
            <a:ext cx="3474720" cy="3931920"/>
          </a:xfrm>
          <a:prstGeom prst="rect">
            <a:avLst/>
          </a:prstGeom>
          <a:noFill/>
        </p:spPr>
        <p:txBody>
          <a:bodyPr wrap="square">
            <a:spAutoFit/>
          </a:bodyPr>
          <a:lstStyle/>
          <a:p>
            <a:pPr>
              <a:spcBef>
                <a:spcPts val="300"/>
              </a:spcBef>
            </a:pPr>
            <a:r>
              <a:rPr sz="1400">
                <a:solidFill>
                  <a:srgbClr val="FFFFFF"/>
                </a:solidFill>
              </a:rPr>
              <a:t>图像+点云+姿态参数</a:t>
            </a:r>
          </a:p>
          <a:p>
            <a:pPr>
              <a:spcBef>
                <a:spcPts val="300"/>
              </a:spcBef>
            </a:pPr>
            <a:r>
              <a:rPr sz="1400">
                <a:solidFill>
                  <a:srgbClr val="FFFFFF"/>
                </a:solidFill>
              </a:rPr>
              <a:t>统一时空框架</a:t>
            </a:r>
          </a:p>
          <a:p>
            <a:pPr>
              <a:spcBef>
                <a:spcPts val="300"/>
              </a:spcBef>
            </a:pPr>
            <a:r>
              <a:rPr sz="1400">
                <a:solidFill>
                  <a:srgbClr val="FFFFFF"/>
                </a:solidFill>
              </a:rPr>
              <a:t/>
            </a:r>
          </a:p>
          <a:p>
            <a:pPr>
              <a:spcBef>
                <a:spcPts val="300"/>
              </a:spcBef>
            </a:pPr>
            <a:r>
              <a:rPr sz="1400">
                <a:solidFill>
                  <a:srgbClr val="FFFFFF"/>
                </a:solidFill>
              </a:rPr>
              <a:t>联合分析</a:t>
            </a:r>
          </a:p>
          <a:p>
            <a:pPr>
              <a:spcBef>
                <a:spcPts val="300"/>
              </a:spcBef>
            </a:pPr>
            <a:r>
              <a:rPr sz="1400">
                <a:solidFill>
                  <a:srgbClr val="FFFFFF"/>
                </a:solidFill>
              </a:rPr>
              <a:t>判级更准确</a:t>
            </a:r>
          </a:p>
        </p:txBody>
      </p:sp>
      <p:sp>
        <p:nvSpPr>
          <p:cNvPr id="22" name="Rectangle 21"/>
          <p:cNvSpPr/>
          <p:nvPr/>
        </p:nvSpPr>
        <p:spPr>
          <a:xfrm>
            <a:off x="0" y="6492240"/>
            <a:ext cx="12188952" cy="365760"/>
          </a:xfrm>
          <a:prstGeom prst="rect">
            <a:avLst/>
          </a:prstGeom>
          <a:solidFill>
            <a:srgbClr val="1126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65760" y="6519672"/>
            <a:ext cx="4572000" cy="320040"/>
          </a:xfrm>
          <a:prstGeom prst="rect">
            <a:avLst/>
          </a:prstGeom>
          <a:noFill/>
        </p:spPr>
        <p:txBody>
          <a:bodyPr wrap="square">
            <a:spAutoFit/>
          </a:bodyPr>
          <a:lstStyle/>
          <a:p>
            <a:pPr algn="l"/>
            <a:r>
              <a:rPr sz="1000" b="0">
                <a:solidFill>
                  <a:srgbClr val="A0B4CC"/>
                </a:solidFill>
              </a:rPr>
              <a:t>铁路线路智能综合检测机器人</a:t>
            </a:r>
          </a:p>
        </p:txBody>
      </p:sp>
      <p:sp>
        <p:nvSpPr>
          <p:cNvPr id="24" name="TextBox 23"/>
          <p:cNvSpPr txBox="1"/>
          <p:nvPr/>
        </p:nvSpPr>
        <p:spPr>
          <a:xfrm>
            <a:off x="10972800" y="6519672"/>
            <a:ext cx="1005840" cy="320040"/>
          </a:xfrm>
          <a:prstGeom prst="rect">
            <a:avLst/>
          </a:prstGeom>
          <a:noFill/>
        </p:spPr>
        <p:txBody>
          <a:bodyPr wrap="square">
            <a:spAutoFit/>
          </a:bodyPr>
          <a:lstStyle/>
          <a:p>
            <a:pPr algn="r"/>
            <a:r>
              <a:rPr sz="1000" b="0">
                <a:solidFill>
                  <a:srgbClr val="A0B4CC"/>
                </a:solidFill>
              </a:rPr>
              <a:t>7 / 28</a:t>
            </a:r>
          </a:p>
        </p:txBody>
      </p:sp>
      <p:sp>
        <p:nvSpPr>
          <p:cNvPr id="25" name="Rectangle 24"/>
          <p:cNvSpPr/>
          <p:nvPr/>
        </p:nvSpPr>
        <p:spPr>
          <a:xfrm>
            <a:off x="0" y="6492240"/>
            <a:ext cx="12188952" cy="365760"/>
          </a:xfrm>
          <a:prstGeom prst="rect">
            <a:avLst/>
          </a:prstGeom>
          <a:solidFill>
            <a:srgbClr val="1126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5760" y="6519672"/>
            <a:ext cx="4572000" cy="320040"/>
          </a:xfrm>
          <a:prstGeom prst="rect">
            <a:avLst/>
          </a:prstGeom>
          <a:noFill/>
        </p:spPr>
        <p:txBody>
          <a:bodyPr wrap="square">
            <a:spAutoFit/>
          </a:bodyPr>
          <a:lstStyle/>
          <a:p>
            <a:pPr algn="l"/>
            <a:r>
              <a:rPr sz="1000" b="0">
                <a:solidFill>
                  <a:srgbClr val="A0B4CC"/>
                </a:solidFill>
              </a:rPr>
              <a:t>铁路线路智能综合检测机器人</a:t>
            </a:r>
          </a:p>
        </p:txBody>
      </p:sp>
      <p:sp>
        <p:nvSpPr>
          <p:cNvPr id="27" name="TextBox 26"/>
          <p:cNvSpPr txBox="1"/>
          <p:nvPr/>
        </p:nvSpPr>
        <p:spPr>
          <a:xfrm>
            <a:off x="10972800" y="6519672"/>
            <a:ext cx="1005840" cy="320040"/>
          </a:xfrm>
          <a:prstGeom prst="rect">
            <a:avLst/>
          </a:prstGeom>
          <a:noFill/>
        </p:spPr>
        <p:txBody>
          <a:bodyPr wrap="square">
            <a:spAutoFit/>
          </a:bodyPr>
          <a:lstStyle/>
          <a:p>
            <a:pPr algn="r"/>
            <a:r>
              <a:rPr sz="1000" b="0">
                <a:solidFill>
                  <a:srgbClr val="A0B4CC"/>
                </a:solidFill>
              </a:rPr>
              <a:t>8 / 28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C1D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20040" cy="6858000"/>
          </a:xfrm>
          <a:prstGeom prst="rect">
            <a:avLst/>
          </a:prstGeom>
          <a:solidFill>
            <a:srgbClr val="00C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0" y="3474720"/>
            <a:ext cx="4572000" cy="50800"/>
          </a:xfrm>
          <a:prstGeom prst="rect">
            <a:avLst/>
          </a:prstGeom>
          <a:solidFill>
            <a:srgbClr val="00C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828800"/>
            <a:ext cx="10515600" cy="1371600"/>
          </a:xfrm>
          <a:prstGeom prst="rect">
            <a:avLst/>
          </a:prstGeom>
          <a:noFill/>
        </p:spPr>
        <p:txBody>
          <a:bodyPr wrap="square">
            <a:spAutoFit/>
          </a:bodyPr>
          <a:lstStyle/>
          <a:p>
            <a:pPr algn="l"/>
            <a:r>
              <a:rPr sz="4400" b="1">
                <a:solidFill>
                  <a:srgbClr val="FFFFFF"/>
                </a:solidFill>
              </a:rPr>
              <a:t>03</a:t>
            </a:r>
          </a:p>
        </p:txBody>
      </p:sp>
      <p:sp>
        <p:nvSpPr>
          <p:cNvPr id="6" name="TextBox 5"/>
          <p:cNvSpPr txBox="1"/>
          <p:nvPr/>
        </p:nvSpPr>
        <p:spPr>
          <a:xfrm>
            <a:off x="548640" y="3566160"/>
            <a:ext cx="10515600" cy="548640"/>
          </a:xfrm>
          <a:prstGeom prst="rect">
            <a:avLst/>
          </a:prstGeom>
          <a:noFill/>
        </p:spPr>
        <p:txBody>
          <a:bodyPr wrap="square">
            <a:spAutoFit/>
          </a:bodyPr>
          <a:lstStyle/>
          <a:p>
            <a:pPr algn="l"/>
            <a:r>
              <a:rPr sz="1800" b="0">
                <a:solidFill>
                  <a:srgbClr val="A0B4CC"/>
                </a:solidFill>
              </a:rPr>
              <a:t>系统总体架构</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C1D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280160"/>
          </a:xfrm>
          <a:prstGeom prst="rect">
            <a:avLst/>
          </a:prstGeom>
          <a:solidFill>
            <a:srgbClr val="1126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280160"/>
            <a:ext cx="12188952" cy="45720"/>
          </a:xfrm>
          <a:prstGeom prst="rect">
            <a:avLst/>
          </a:prstGeom>
          <a:solidFill>
            <a:srgbClr val="00C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82880"/>
            <a:ext cx="11430000" cy="914400"/>
          </a:xfrm>
          <a:prstGeom prst="rect">
            <a:avLst/>
          </a:prstGeom>
          <a:noFill/>
        </p:spPr>
        <p:txBody>
          <a:bodyPr wrap="square">
            <a:spAutoFit/>
          </a:bodyPr>
          <a:lstStyle/>
          <a:p>
            <a:pPr algn="l"/>
            <a:r>
              <a:rPr sz="2800" b="1">
                <a:solidFill>
                  <a:srgbClr val="FFFFFF"/>
                </a:solidFill>
              </a:rPr>
              <a:t>四环闭环架构</a:t>
            </a:r>
          </a:p>
        </p:txBody>
      </p:sp>
      <p:sp>
        <p:nvSpPr>
          <p:cNvPr id="6" name="TextBox 5"/>
          <p:cNvSpPr txBox="1"/>
          <p:nvPr/>
        </p:nvSpPr>
        <p:spPr>
          <a:xfrm>
            <a:off x="365760" y="914400"/>
            <a:ext cx="11430000" cy="320040"/>
          </a:xfrm>
          <a:prstGeom prst="rect">
            <a:avLst/>
          </a:prstGeom>
          <a:noFill/>
        </p:spPr>
        <p:txBody>
          <a:bodyPr wrap="square">
            <a:spAutoFit/>
          </a:bodyPr>
          <a:lstStyle/>
          <a:p>
            <a:pPr algn="l"/>
            <a:r>
              <a:rPr sz="1300" b="0">
                <a:solidFill>
                  <a:srgbClr val="A0B4CC"/>
                </a:solidFill>
              </a:rPr>
              <a:t>智能化设备加持 -&gt; 智能检测入口 -&gt; 实时处理 -&gt; 大数据分析</a:t>
            </a:r>
          </a:p>
        </p:txBody>
      </p:sp>
      <p:sp>
        <p:nvSpPr>
          <p:cNvPr id="7" name="Rectangle 6"/>
          <p:cNvSpPr/>
          <p:nvPr/>
        </p:nvSpPr>
        <p:spPr>
          <a:xfrm>
            <a:off x="320040" y="1508760"/>
            <a:ext cx="2743200" cy="4846320"/>
          </a:xfrm>
          <a:prstGeom prst="rect">
            <a:avLst/>
          </a:prstGeom>
          <a:solidFill>
            <a:srgbClr val="0050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11480" y="1645920"/>
            <a:ext cx="2560320" cy="1371600"/>
          </a:xfrm>
          <a:prstGeom prst="rect">
            <a:avLst/>
          </a:prstGeom>
          <a:noFill/>
        </p:spPr>
        <p:txBody>
          <a:bodyPr wrap="square">
            <a:spAutoFit/>
          </a:bodyPr>
          <a:lstStyle/>
          <a:p>
            <a:pPr algn="ctr"/>
            <a:r>
              <a:rPr sz="1800" b="1">
                <a:solidFill>
                  <a:srgbClr val="FFFFFF"/>
                </a:solidFill>
              </a:rPr>
              <a:t>(1)
智能化
设备加持</a:t>
            </a:r>
          </a:p>
        </p:txBody>
      </p:sp>
      <p:sp>
        <p:nvSpPr>
          <p:cNvPr id="9" name="Rectangle 8"/>
          <p:cNvSpPr/>
          <p:nvPr/>
        </p:nvSpPr>
        <p:spPr>
          <a:xfrm>
            <a:off x="1325880" y="3017520"/>
            <a:ext cx="731520" cy="25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3200400"/>
            <a:ext cx="2560320" cy="3017520"/>
          </a:xfrm>
          <a:prstGeom prst="rect">
            <a:avLst/>
          </a:prstGeom>
          <a:noFill/>
        </p:spPr>
        <p:txBody>
          <a:bodyPr wrap="square">
            <a:spAutoFit/>
          </a:bodyPr>
          <a:lstStyle/>
          <a:p>
            <a:pPr>
              <a:spcBef>
                <a:spcPts val="200"/>
              </a:spcBef>
            </a:pPr>
            <a:r>
              <a:rPr sz="1400">
                <a:solidFill>
                  <a:srgbClr val="FFFFFF"/>
                </a:solidFill>
              </a:rPr>
              <a:t>硬件层：多传感器</a:t>
            </a:r>
          </a:p>
          <a:p>
            <a:pPr>
              <a:spcBef>
                <a:spcPts val="200"/>
              </a:spcBef>
            </a:pPr>
            <a:r>
              <a:rPr sz="1400">
                <a:solidFill>
                  <a:srgbClr val="FFFFFF"/>
                </a:solidFill>
              </a:rPr>
              <a:t>+精密机械+工控机</a:t>
            </a:r>
          </a:p>
          <a:p>
            <a:pPr>
              <a:spcBef>
                <a:spcPts val="200"/>
              </a:spcBef>
            </a:pPr>
            <a:r>
              <a:rPr sz="1400">
                <a:solidFill>
                  <a:srgbClr val="FFFFFF"/>
                </a:solidFill>
              </a:rPr>
              <a:t/>
            </a:r>
          </a:p>
          <a:p>
            <a:pPr>
              <a:spcBef>
                <a:spcPts val="200"/>
              </a:spcBef>
            </a:pPr>
            <a:r>
              <a:rPr sz="1400">
                <a:solidFill>
                  <a:srgbClr val="FFFFFF"/>
                </a:solidFill>
              </a:rPr>
              <a:t>为综合检测提供</a:t>
            </a:r>
          </a:p>
          <a:p>
            <a:pPr>
              <a:spcBef>
                <a:spcPts val="200"/>
              </a:spcBef>
            </a:pPr>
            <a:r>
              <a:rPr sz="1400">
                <a:solidFill>
                  <a:srgbClr val="FFFFFF"/>
                </a:solidFill>
              </a:rPr>
              <a:t>稳定可靠的感知基础</a:t>
            </a:r>
          </a:p>
        </p:txBody>
      </p:sp>
      <p:sp>
        <p:nvSpPr>
          <p:cNvPr id="11" name="Rectangle 10"/>
          <p:cNvSpPr/>
          <p:nvPr/>
        </p:nvSpPr>
        <p:spPr>
          <a:xfrm>
            <a:off x="3246120" y="1508760"/>
            <a:ext cx="2743200" cy="4846320"/>
          </a:xfrm>
          <a:prstGeom prst="rect">
            <a:avLst/>
          </a:prstGeom>
          <a:solidFill>
            <a:srgbClr val="0070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337560" y="1645920"/>
            <a:ext cx="2560320" cy="1371600"/>
          </a:xfrm>
          <a:prstGeom prst="rect">
            <a:avLst/>
          </a:prstGeom>
          <a:noFill/>
        </p:spPr>
        <p:txBody>
          <a:bodyPr wrap="square">
            <a:spAutoFit/>
          </a:bodyPr>
          <a:lstStyle/>
          <a:p>
            <a:pPr algn="ctr"/>
            <a:r>
              <a:rPr sz="1800" b="1">
                <a:solidFill>
                  <a:srgbClr val="FFFFFF"/>
                </a:solidFill>
              </a:rPr>
              <a:t>(2)
智能
检测入口</a:t>
            </a:r>
          </a:p>
        </p:txBody>
      </p:sp>
      <p:sp>
        <p:nvSpPr>
          <p:cNvPr id="13" name="Rectangle 12"/>
          <p:cNvSpPr/>
          <p:nvPr/>
        </p:nvSpPr>
        <p:spPr>
          <a:xfrm>
            <a:off x="4251960" y="3017520"/>
            <a:ext cx="731520" cy="25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37560" y="3200400"/>
            <a:ext cx="2560320" cy="3017520"/>
          </a:xfrm>
          <a:prstGeom prst="rect">
            <a:avLst/>
          </a:prstGeom>
          <a:noFill/>
        </p:spPr>
        <p:txBody>
          <a:bodyPr wrap="square">
            <a:spAutoFit/>
          </a:bodyPr>
          <a:lstStyle/>
          <a:p>
            <a:pPr>
              <a:spcBef>
                <a:spcPts val="200"/>
              </a:spcBef>
            </a:pPr>
            <a:r>
              <a:rPr sz="1400">
                <a:solidFill>
                  <a:srgbClr val="FFFFFF"/>
                </a:solidFill>
              </a:rPr>
              <a:t>6x2D相机+2x3D激光</a:t>
            </a:r>
          </a:p>
          <a:p>
            <a:pPr>
              <a:spcBef>
                <a:spcPts val="200"/>
              </a:spcBef>
            </a:pPr>
            <a:r>
              <a:rPr sz="1400">
                <a:solidFill>
                  <a:srgbClr val="FFFFFF"/>
                </a:solidFill>
              </a:rPr>
              <a:t>+2x陀螺仪</a:t>
            </a:r>
          </a:p>
          <a:p>
            <a:pPr>
              <a:spcBef>
                <a:spcPts val="200"/>
              </a:spcBef>
            </a:pPr>
            <a:r>
              <a:rPr sz="1400">
                <a:solidFill>
                  <a:srgbClr val="FFFFFF"/>
                </a:solidFill>
              </a:rPr>
              <a:t/>
            </a:r>
          </a:p>
          <a:p>
            <a:pPr>
              <a:spcBef>
                <a:spcPts val="200"/>
              </a:spcBef>
            </a:pPr>
            <a:r>
              <a:rPr sz="1400">
                <a:solidFill>
                  <a:srgbClr val="FFFFFF"/>
                </a:solidFill>
              </a:rPr>
              <a:t>同步采集</a:t>
            </a:r>
          </a:p>
        </p:txBody>
      </p:sp>
      <p:sp>
        <p:nvSpPr>
          <p:cNvPr id="15" name="Rectangle 14"/>
          <p:cNvSpPr/>
          <p:nvPr/>
        </p:nvSpPr>
        <p:spPr>
          <a:xfrm>
            <a:off x="6172200" y="1508760"/>
            <a:ext cx="2743200" cy="4846320"/>
          </a:xfrm>
          <a:prstGeom prst="rect">
            <a:avLst/>
          </a:prstGeom>
          <a:solidFill>
            <a:srgbClr val="0090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63640" y="1645920"/>
            <a:ext cx="2560320" cy="1371600"/>
          </a:xfrm>
          <a:prstGeom prst="rect">
            <a:avLst/>
          </a:prstGeom>
          <a:noFill/>
        </p:spPr>
        <p:txBody>
          <a:bodyPr wrap="square">
            <a:spAutoFit/>
          </a:bodyPr>
          <a:lstStyle/>
          <a:p>
            <a:pPr algn="ctr"/>
            <a:r>
              <a:rPr sz="1800" b="1">
                <a:solidFill>
                  <a:srgbClr val="FFFFFF"/>
                </a:solidFill>
              </a:rPr>
              <a:t>(3)
实时
处理</a:t>
            </a:r>
          </a:p>
        </p:txBody>
      </p:sp>
      <p:sp>
        <p:nvSpPr>
          <p:cNvPr id="17" name="Rectangle 16"/>
          <p:cNvSpPr/>
          <p:nvPr/>
        </p:nvSpPr>
        <p:spPr>
          <a:xfrm>
            <a:off x="7178040" y="3017520"/>
            <a:ext cx="731520" cy="25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63640" y="3200400"/>
            <a:ext cx="2560320" cy="3017520"/>
          </a:xfrm>
          <a:prstGeom prst="rect">
            <a:avLst/>
          </a:prstGeom>
          <a:noFill/>
        </p:spPr>
        <p:txBody>
          <a:bodyPr wrap="square">
            <a:spAutoFit/>
          </a:bodyPr>
          <a:lstStyle/>
          <a:p>
            <a:pPr>
              <a:spcBef>
                <a:spcPts val="200"/>
              </a:spcBef>
            </a:pPr>
            <a:r>
              <a:rPr sz="1400">
                <a:solidFill>
                  <a:srgbClr val="FFFFFF"/>
                </a:solidFill>
              </a:rPr>
              <a:t>AI识别+自动判级</a:t>
            </a:r>
          </a:p>
          <a:p>
            <a:pPr>
              <a:spcBef>
                <a:spcPts val="200"/>
              </a:spcBef>
            </a:pPr>
            <a:r>
              <a:rPr sz="1400">
                <a:solidFill>
                  <a:srgbClr val="FFFFFF"/>
                </a:solidFill>
              </a:rPr>
              <a:t>+实时报警</a:t>
            </a:r>
          </a:p>
          <a:p>
            <a:pPr>
              <a:spcBef>
                <a:spcPts val="200"/>
              </a:spcBef>
            </a:pPr>
            <a:r>
              <a:rPr sz="1400">
                <a:solidFill>
                  <a:srgbClr val="FFFFFF"/>
                </a:solidFill>
              </a:rPr>
              <a:t/>
            </a:r>
          </a:p>
          <a:p>
            <a:pPr>
              <a:spcBef>
                <a:spcPts val="200"/>
              </a:spcBef>
            </a:pPr>
            <a:r>
              <a:rPr sz="1400">
                <a:solidFill>
                  <a:srgbClr val="FFFFFF"/>
                </a:solidFill>
              </a:rPr>
              <a:t>不依赖人工看图</a:t>
            </a:r>
          </a:p>
        </p:txBody>
      </p:sp>
      <p:sp>
        <p:nvSpPr>
          <p:cNvPr id="19" name="Rectangle 18"/>
          <p:cNvSpPr/>
          <p:nvPr/>
        </p:nvSpPr>
        <p:spPr>
          <a:xfrm>
            <a:off x="9098280" y="1508760"/>
            <a:ext cx="2743200" cy="4846320"/>
          </a:xfrm>
          <a:prstGeom prst="rect">
            <a:avLst/>
          </a:prstGeom>
          <a:solidFill>
            <a:srgbClr val="00C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89720" y="1645920"/>
            <a:ext cx="2560320" cy="1371600"/>
          </a:xfrm>
          <a:prstGeom prst="rect">
            <a:avLst/>
          </a:prstGeom>
          <a:noFill/>
        </p:spPr>
        <p:txBody>
          <a:bodyPr wrap="square">
            <a:spAutoFit/>
          </a:bodyPr>
          <a:lstStyle/>
          <a:p>
            <a:pPr algn="ctr"/>
            <a:r>
              <a:rPr sz="1800" b="1">
                <a:solidFill>
                  <a:srgbClr val="FFFFFF"/>
                </a:solidFill>
              </a:rPr>
              <a:t>(4)
大数据
分析</a:t>
            </a:r>
          </a:p>
        </p:txBody>
      </p:sp>
      <p:sp>
        <p:nvSpPr>
          <p:cNvPr id="21" name="Rectangle 20"/>
          <p:cNvSpPr/>
          <p:nvPr/>
        </p:nvSpPr>
        <p:spPr>
          <a:xfrm>
            <a:off x="10104120" y="3017520"/>
            <a:ext cx="731520" cy="25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89720" y="3200400"/>
            <a:ext cx="2560320" cy="3017520"/>
          </a:xfrm>
          <a:prstGeom prst="rect">
            <a:avLst/>
          </a:prstGeom>
          <a:noFill/>
        </p:spPr>
        <p:txBody>
          <a:bodyPr wrap="square">
            <a:spAutoFit/>
          </a:bodyPr>
          <a:lstStyle/>
          <a:p>
            <a:pPr>
              <a:spcBef>
                <a:spcPts val="200"/>
              </a:spcBef>
            </a:pPr>
            <a:r>
              <a:rPr sz="1400">
                <a:solidFill>
                  <a:srgbClr val="FFFFFF"/>
                </a:solidFill>
              </a:rPr>
              <a:t>数据积累+热点分析</a:t>
            </a:r>
          </a:p>
          <a:p>
            <a:pPr>
              <a:spcBef>
                <a:spcPts val="200"/>
              </a:spcBef>
            </a:pPr>
            <a:r>
              <a:rPr sz="1400">
                <a:solidFill>
                  <a:srgbClr val="FFFFFF"/>
                </a:solidFill>
              </a:rPr>
              <a:t>+趋势预测</a:t>
            </a:r>
          </a:p>
          <a:p>
            <a:pPr>
              <a:spcBef>
                <a:spcPts val="200"/>
              </a:spcBef>
            </a:pPr>
            <a:r>
              <a:rPr sz="1400">
                <a:solidFill>
                  <a:srgbClr val="FFFFFF"/>
                </a:solidFill>
              </a:rPr>
              <a:t/>
            </a:r>
          </a:p>
          <a:p>
            <a:pPr>
              <a:spcBef>
                <a:spcPts val="200"/>
              </a:spcBef>
            </a:pPr>
            <a:r>
              <a:rPr sz="1400">
                <a:solidFill>
                  <a:srgbClr val="FFFFFF"/>
                </a:solidFill>
              </a:rPr>
              <a:t>预测性维护</a:t>
            </a:r>
          </a:p>
        </p:txBody>
      </p:sp>
      <p:sp>
        <p:nvSpPr>
          <p:cNvPr id="23" name="Rectangle 22"/>
          <p:cNvSpPr/>
          <p:nvPr/>
        </p:nvSpPr>
        <p:spPr>
          <a:xfrm>
            <a:off x="0" y="6492240"/>
            <a:ext cx="12188952" cy="365760"/>
          </a:xfrm>
          <a:prstGeom prst="rect">
            <a:avLst/>
          </a:prstGeom>
          <a:solidFill>
            <a:srgbClr val="1126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65760" y="6519672"/>
            <a:ext cx="4572000" cy="320040"/>
          </a:xfrm>
          <a:prstGeom prst="rect">
            <a:avLst/>
          </a:prstGeom>
          <a:noFill/>
        </p:spPr>
        <p:txBody>
          <a:bodyPr wrap="square">
            <a:spAutoFit/>
          </a:bodyPr>
          <a:lstStyle/>
          <a:p>
            <a:pPr algn="l"/>
            <a:r>
              <a:rPr sz="1000" b="0">
                <a:solidFill>
                  <a:srgbClr val="A0B4CC"/>
                </a:solidFill>
              </a:rPr>
              <a:t>铁路线路智能综合检测机器人</a:t>
            </a:r>
          </a:p>
        </p:txBody>
      </p:sp>
      <p:sp>
        <p:nvSpPr>
          <p:cNvPr id="25" name="TextBox 24"/>
          <p:cNvSpPr txBox="1"/>
          <p:nvPr/>
        </p:nvSpPr>
        <p:spPr>
          <a:xfrm>
            <a:off x="10972800" y="6519672"/>
            <a:ext cx="1005840" cy="320040"/>
          </a:xfrm>
          <a:prstGeom prst="rect">
            <a:avLst/>
          </a:prstGeom>
          <a:noFill/>
        </p:spPr>
        <p:txBody>
          <a:bodyPr wrap="square">
            <a:spAutoFit/>
          </a:bodyPr>
          <a:lstStyle/>
          <a:p>
            <a:pPr algn="r"/>
            <a:r>
              <a:rPr sz="1000" b="0">
                <a:solidFill>
                  <a:srgbClr val="A0B4CC"/>
                </a:solidFill>
              </a:rPr>
              <a:t>9 / 28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C1D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280160"/>
          </a:xfrm>
          <a:prstGeom prst="rect">
            <a:avLst/>
          </a:prstGeom>
          <a:solidFill>
            <a:srgbClr val="1126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280160"/>
            <a:ext cx="12188952" cy="45720"/>
          </a:xfrm>
          <a:prstGeom prst="rect">
            <a:avLst/>
          </a:prstGeom>
          <a:solidFill>
            <a:srgbClr val="00C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82880"/>
            <a:ext cx="11430000" cy="914400"/>
          </a:xfrm>
          <a:prstGeom prst="rect">
            <a:avLst/>
          </a:prstGeom>
          <a:noFill/>
        </p:spPr>
        <p:txBody>
          <a:bodyPr wrap="square">
            <a:spAutoFit/>
          </a:bodyPr>
          <a:lstStyle/>
          <a:p>
            <a:pPr algn="l"/>
            <a:r>
              <a:rPr sz="2800" b="1">
                <a:solidFill>
                  <a:srgbClr val="FFFFFF"/>
                </a:solidFill>
              </a:rPr>
              <a:t>三层精密融合：不是堆砌，是有机整体</a:t>
            </a:r>
          </a:p>
        </p:txBody>
      </p:sp>
      <p:sp>
        <p:nvSpPr>
          <p:cNvPr id="6" name="Rectangle 5"/>
          <p:cNvSpPr/>
          <p:nvPr/>
        </p:nvSpPr>
        <p:spPr>
          <a:xfrm>
            <a:off x="365760" y="1508760"/>
            <a:ext cx="3749039" cy="4846320"/>
          </a:xfrm>
          <a:prstGeom prst="rect">
            <a:avLst/>
          </a:prstGeom>
          <a:solidFill>
            <a:srgbClr val="1126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5760" y="1508760"/>
            <a:ext cx="3749039" cy="54864"/>
          </a:xfrm>
          <a:prstGeom prst="rect">
            <a:avLst/>
          </a:prstGeom>
          <a:solidFill>
            <a:srgbClr val="00C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645920"/>
            <a:ext cx="3383280" cy="411480"/>
          </a:xfrm>
          <a:prstGeom prst="rect">
            <a:avLst/>
          </a:prstGeom>
          <a:noFill/>
        </p:spPr>
        <p:txBody>
          <a:bodyPr wrap="square">
            <a:spAutoFit/>
          </a:bodyPr>
          <a:lstStyle/>
          <a:p>
            <a:pPr algn="l"/>
            <a:r>
              <a:rPr sz="2000" b="1">
                <a:solidFill>
                  <a:srgbClr val="00C4FF"/>
                </a:solidFill>
              </a:rPr>
              <a:t>传感器层有机融合</a:t>
            </a:r>
          </a:p>
        </p:txBody>
      </p:sp>
      <p:sp>
        <p:nvSpPr>
          <p:cNvPr id="9" name="TextBox 8"/>
          <p:cNvSpPr txBox="1"/>
          <p:nvPr/>
        </p:nvSpPr>
        <p:spPr>
          <a:xfrm>
            <a:off x="548640" y="2148840"/>
            <a:ext cx="3383280" cy="4114800"/>
          </a:xfrm>
          <a:prstGeom prst="rect">
            <a:avLst/>
          </a:prstGeom>
          <a:noFill/>
        </p:spPr>
        <p:txBody>
          <a:bodyPr wrap="square">
            <a:spAutoFit/>
          </a:bodyPr>
          <a:lstStyle/>
          <a:p>
            <a:pPr>
              <a:spcBef>
                <a:spcPts val="500"/>
              </a:spcBef>
            </a:pPr>
            <a:r>
              <a:rPr sz="1400">
                <a:solidFill>
                  <a:srgbClr val="FFFFFF"/>
                </a:solidFill>
              </a:rPr>
              <a:t>* 2D+3D：同位置图像+轮廓互为印证</a:t>
            </a:r>
          </a:p>
          <a:p>
            <a:pPr>
              <a:spcBef>
                <a:spcPts val="500"/>
              </a:spcBef>
            </a:pPr>
            <a:r>
              <a:rPr sz="1400">
                <a:solidFill>
                  <a:srgbClr val="FFFFFF"/>
                </a:solidFill>
              </a:rPr>
              <a:t>* 图像+姿态：缺陷绑定姿态角</a:t>
            </a:r>
          </a:p>
          <a:p>
            <a:pPr>
              <a:spcBef>
                <a:spcPts val="500"/>
              </a:spcBef>
            </a:pPr>
            <a:r>
              <a:rPr sz="1400">
                <a:solidFill>
                  <a:srgbClr val="FFFFFF"/>
                </a:solidFill>
              </a:rPr>
              <a:t>* 主检+复核：重点区域双确认</a:t>
            </a:r>
          </a:p>
        </p:txBody>
      </p:sp>
      <p:sp>
        <p:nvSpPr>
          <p:cNvPr id="10" name="Rectangle 9"/>
          <p:cNvSpPr/>
          <p:nvPr/>
        </p:nvSpPr>
        <p:spPr>
          <a:xfrm>
            <a:off x="4279392" y="1508760"/>
            <a:ext cx="3749039" cy="4846320"/>
          </a:xfrm>
          <a:prstGeom prst="rect">
            <a:avLst/>
          </a:prstGeom>
          <a:solidFill>
            <a:srgbClr val="1126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279392" y="1508760"/>
            <a:ext cx="3749039" cy="54864"/>
          </a:xfrm>
          <a:prstGeom prst="rect">
            <a:avLst/>
          </a:prstGeom>
          <a:solidFill>
            <a:srgbClr val="00A0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462272" y="1645920"/>
            <a:ext cx="3383280" cy="411480"/>
          </a:xfrm>
          <a:prstGeom prst="rect">
            <a:avLst/>
          </a:prstGeom>
          <a:noFill/>
        </p:spPr>
        <p:txBody>
          <a:bodyPr wrap="square">
            <a:spAutoFit/>
          </a:bodyPr>
          <a:lstStyle/>
          <a:p>
            <a:pPr algn="l"/>
            <a:r>
              <a:rPr sz="2000" b="1">
                <a:solidFill>
                  <a:srgbClr val="00A0E0"/>
                </a:solidFill>
              </a:rPr>
              <a:t>通信层精密协同</a:t>
            </a:r>
          </a:p>
        </p:txBody>
      </p:sp>
      <p:sp>
        <p:nvSpPr>
          <p:cNvPr id="13" name="TextBox 12"/>
          <p:cNvSpPr txBox="1"/>
          <p:nvPr/>
        </p:nvSpPr>
        <p:spPr>
          <a:xfrm>
            <a:off x="4462272" y="2148840"/>
            <a:ext cx="3383280" cy="4114800"/>
          </a:xfrm>
          <a:prstGeom prst="rect">
            <a:avLst/>
          </a:prstGeom>
          <a:noFill/>
        </p:spPr>
        <p:txBody>
          <a:bodyPr wrap="square">
            <a:spAutoFit/>
          </a:bodyPr>
          <a:lstStyle/>
          <a:p>
            <a:pPr>
              <a:spcBef>
                <a:spcPts val="500"/>
              </a:spcBef>
            </a:pPr>
            <a:r>
              <a:rPr sz="1400">
                <a:solidFill>
                  <a:srgbClr val="FFFFFF"/>
                </a:solidFill>
              </a:rPr>
              <a:t>* EtherCAT 硬实时控制网（伺服控制）</a:t>
            </a:r>
          </a:p>
          <a:p>
            <a:pPr>
              <a:spcBef>
                <a:spcPts val="500"/>
              </a:spcBef>
            </a:pPr>
            <a:r>
              <a:rPr sz="1400">
                <a:solidFill>
                  <a:srgbClr val="FFFFFF"/>
                </a:solidFill>
              </a:rPr>
              <a:t>* 千兆以太网数据采集网（相机/激光）</a:t>
            </a:r>
          </a:p>
          <a:p>
            <a:pPr>
              <a:spcBef>
                <a:spcPts val="500"/>
              </a:spcBef>
            </a:pPr>
            <a:r>
              <a:rPr sz="1400">
                <a:solidFill>
                  <a:srgbClr val="FFFFFF"/>
                </a:solidFill>
              </a:rPr>
              <a:t>* 4G/5G 外部传输网（云端上传）</a:t>
            </a:r>
          </a:p>
          <a:p>
            <a:pPr>
              <a:spcBef>
                <a:spcPts val="500"/>
              </a:spcBef>
            </a:pPr>
            <a:r>
              <a:rPr sz="1400">
                <a:solidFill>
                  <a:srgbClr val="FFFFFF"/>
                </a:solidFill>
              </a:rPr>
              <a:t>* 三网物理隔离，永不堵塞</a:t>
            </a:r>
          </a:p>
        </p:txBody>
      </p:sp>
      <p:sp>
        <p:nvSpPr>
          <p:cNvPr id="14" name="Rectangle 13"/>
          <p:cNvSpPr/>
          <p:nvPr/>
        </p:nvSpPr>
        <p:spPr>
          <a:xfrm>
            <a:off x="8193024" y="1508760"/>
            <a:ext cx="3749039" cy="4846320"/>
          </a:xfrm>
          <a:prstGeom prst="rect">
            <a:avLst/>
          </a:prstGeom>
          <a:solidFill>
            <a:srgbClr val="1126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193024" y="1508760"/>
            <a:ext cx="3749039" cy="5486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75904" y="1645920"/>
            <a:ext cx="3383280" cy="411480"/>
          </a:xfrm>
          <a:prstGeom prst="rect">
            <a:avLst/>
          </a:prstGeom>
          <a:noFill/>
        </p:spPr>
        <p:txBody>
          <a:bodyPr wrap="square">
            <a:spAutoFit/>
          </a:bodyPr>
          <a:lstStyle/>
          <a:p>
            <a:pPr algn="l"/>
            <a:r>
              <a:rPr sz="2000" b="1">
                <a:solidFill>
                  <a:srgbClr val="0070C0"/>
                </a:solidFill>
              </a:rPr>
              <a:t>数据层统一分析</a:t>
            </a:r>
          </a:p>
        </p:txBody>
      </p:sp>
      <p:sp>
        <p:nvSpPr>
          <p:cNvPr id="17" name="TextBox 16"/>
          <p:cNvSpPr txBox="1"/>
          <p:nvPr/>
        </p:nvSpPr>
        <p:spPr>
          <a:xfrm>
            <a:off x="8375904" y="2148840"/>
            <a:ext cx="3383280" cy="4114800"/>
          </a:xfrm>
          <a:prstGeom prst="rect">
            <a:avLst/>
          </a:prstGeom>
          <a:noFill/>
        </p:spPr>
        <p:txBody>
          <a:bodyPr wrap="square">
            <a:spAutoFit/>
          </a:bodyPr>
          <a:lstStyle/>
          <a:p>
            <a:pPr>
              <a:spcBef>
                <a:spcPts val="500"/>
              </a:spcBef>
            </a:pPr>
            <a:r>
              <a:rPr sz="1400">
                <a:solidFill>
                  <a:srgbClr val="FFFFFF"/>
                </a:solidFill>
              </a:rPr>
              <a:t>* Frame ID+里程+时间戳统一对齐</a:t>
            </a:r>
          </a:p>
          <a:p>
            <a:pPr>
              <a:spcBef>
                <a:spcPts val="500"/>
              </a:spcBef>
            </a:pPr>
            <a:r>
              <a:rPr sz="1400">
                <a:solidFill>
                  <a:srgbClr val="FFFFFF"/>
                </a:solidFill>
              </a:rPr>
              <a:t>* 2D图像流 -&gt; AI缺陷识别</a:t>
            </a:r>
          </a:p>
          <a:p>
            <a:pPr>
              <a:spcBef>
                <a:spcPts val="500"/>
              </a:spcBef>
            </a:pPr>
            <a:r>
              <a:rPr sz="1400">
                <a:solidFill>
                  <a:srgbClr val="FFFFFF"/>
                </a:solidFill>
              </a:rPr>
              <a:t>* 3D点云流 -&gt; 廓形比对</a:t>
            </a:r>
          </a:p>
          <a:p>
            <a:pPr>
              <a:spcBef>
                <a:spcPts val="500"/>
              </a:spcBef>
            </a:pPr>
            <a:r>
              <a:rPr sz="1400">
                <a:solidFill>
                  <a:srgbClr val="FFFFFF"/>
                </a:solidFill>
              </a:rPr>
              <a:t>* 三流汇入融合节点综合判级</a:t>
            </a:r>
          </a:p>
        </p:txBody>
      </p:sp>
      <p:sp>
        <p:nvSpPr>
          <p:cNvPr id="18" name="Rectangle 17"/>
          <p:cNvSpPr/>
          <p:nvPr/>
        </p:nvSpPr>
        <p:spPr>
          <a:xfrm>
            <a:off x="0" y="6492240"/>
            <a:ext cx="12188952" cy="365760"/>
          </a:xfrm>
          <a:prstGeom prst="rect">
            <a:avLst/>
          </a:prstGeom>
          <a:solidFill>
            <a:srgbClr val="1126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5760" y="6519672"/>
            <a:ext cx="4572000" cy="320040"/>
          </a:xfrm>
          <a:prstGeom prst="rect">
            <a:avLst/>
          </a:prstGeom>
          <a:noFill/>
        </p:spPr>
        <p:txBody>
          <a:bodyPr wrap="square">
            <a:spAutoFit/>
          </a:bodyPr>
          <a:lstStyle/>
          <a:p>
            <a:pPr algn="l"/>
            <a:r>
              <a:rPr sz="1000" b="0">
                <a:solidFill>
                  <a:srgbClr val="A0B4CC"/>
                </a:solidFill>
              </a:rPr>
              <a:t>铁路线路智能综合检测机器人</a:t>
            </a:r>
          </a:p>
        </p:txBody>
      </p:sp>
      <p:sp>
        <p:nvSpPr>
          <p:cNvPr id="20" name="TextBox 19"/>
          <p:cNvSpPr txBox="1"/>
          <p:nvPr/>
        </p:nvSpPr>
        <p:spPr>
          <a:xfrm>
            <a:off x="10972800" y="6519672"/>
            <a:ext cx="1005840" cy="320040"/>
          </a:xfrm>
          <a:prstGeom prst="rect">
            <a:avLst/>
          </a:prstGeom>
          <a:noFill/>
        </p:spPr>
        <p:txBody>
          <a:bodyPr wrap="square">
            <a:spAutoFit/>
          </a:bodyPr>
          <a:lstStyle/>
          <a:p>
            <a:pPr algn="r"/>
            <a:r>
              <a:rPr sz="1000" b="0">
                <a:solidFill>
                  <a:srgbClr val="A0B4CC"/>
                </a:solidFill>
              </a:rPr>
              <a:t>10 / 28</a:t>
            </a:r>
          </a:p>
        </p:txBody>
      </p:sp>
      <p:sp>
        <p:nvSpPr>
          <p:cNvPr id="21" name="Rectangle 20"/>
          <p:cNvSpPr/>
          <p:nvPr/>
        </p:nvSpPr>
        <p:spPr>
          <a:xfrm>
            <a:off x="0" y="6492240"/>
            <a:ext cx="12188952" cy="365760"/>
          </a:xfrm>
          <a:prstGeom prst="rect">
            <a:avLst/>
          </a:prstGeom>
          <a:solidFill>
            <a:srgbClr val="1126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5760" y="6519672"/>
            <a:ext cx="4572000" cy="320040"/>
          </a:xfrm>
          <a:prstGeom prst="rect">
            <a:avLst/>
          </a:prstGeom>
          <a:noFill/>
        </p:spPr>
        <p:txBody>
          <a:bodyPr wrap="square">
            <a:spAutoFit/>
          </a:bodyPr>
          <a:lstStyle/>
          <a:p>
            <a:pPr algn="l"/>
            <a:r>
              <a:rPr sz="1000" b="0">
                <a:solidFill>
                  <a:srgbClr val="A0B4CC"/>
                </a:solidFill>
              </a:rPr>
              <a:t>铁路线路智能综合检测机器人</a:t>
            </a:r>
          </a:p>
        </p:txBody>
      </p:sp>
      <p:sp>
        <p:nvSpPr>
          <p:cNvPr id="23" name="TextBox 22"/>
          <p:cNvSpPr txBox="1"/>
          <p:nvPr/>
        </p:nvSpPr>
        <p:spPr>
          <a:xfrm>
            <a:off x="10972800" y="6519672"/>
            <a:ext cx="1005840" cy="320040"/>
          </a:xfrm>
          <a:prstGeom prst="rect">
            <a:avLst/>
          </a:prstGeom>
          <a:noFill/>
        </p:spPr>
        <p:txBody>
          <a:bodyPr wrap="square">
            <a:spAutoFit/>
          </a:bodyPr>
          <a:lstStyle/>
          <a:p>
            <a:pPr algn="r"/>
            <a:r>
              <a:rPr sz="1000" b="0">
                <a:solidFill>
                  <a:srgbClr val="A0B4CC"/>
                </a:solidFill>
              </a:rPr>
              <a:t>11 / 28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C1D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20040" cy="6858000"/>
          </a:xfrm>
          <a:prstGeom prst="rect">
            <a:avLst/>
          </a:prstGeom>
          <a:solidFill>
            <a:srgbClr val="00C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0" y="3474720"/>
            <a:ext cx="4572000" cy="50800"/>
          </a:xfrm>
          <a:prstGeom prst="rect">
            <a:avLst/>
          </a:prstGeom>
          <a:solidFill>
            <a:srgbClr val="00C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828800"/>
            <a:ext cx="10515600" cy="1371600"/>
          </a:xfrm>
          <a:prstGeom prst="rect">
            <a:avLst/>
          </a:prstGeom>
          <a:noFill/>
        </p:spPr>
        <p:txBody>
          <a:bodyPr wrap="square">
            <a:spAutoFit/>
          </a:bodyPr>
          <a:lstStyle/>
          <a:p>
            <a:pPr algn="l"/>
            <a:r>
              <a:rPr sz="4400" b="1">
                <a:solidFill>
                  <a:srgbClr val="FFFFFF"/>
                </a:solidFill>
              </a:rPr>
              <a:t>04</a:t>
            </a:r>
          </a:p>
        </p:txBody>
      </p:sp>
      <p:sp>
        <p:nvSpPr>
          <p:cNvPr id="6" name="TextBox 5"/>
          <p:cNvSpPr txBox="1"/>
          <p:nvPr/>
        </p:nvSpPr>
        <p:spPr>
          <a:xfrm>
            <a:off x="548640" y="3566160"/>
            <a:ext cx="10515600" cy="548640"/>
          </a:xfrm>
          <a:prstGeom prst="rect">
            <a:avLst/>
          </a:prstGeom>
          <a:noFill/>
        </p:spPr>
        <p:txBody>
          <a:bodyPr wrap="square">
            <a:spAutoFit/>
          </a:bodyPr>
          <a:lstStyle/>
          <a:p>
            <a:pPr algn="l"/>
            <a:r>
              <a:rPr sz="1800" b="0">
                <a:solidFill>
                  <a:srgbClr val="A0B4CC"/>
                </a:solidFill>
              </a:rPr>
              <a:t>核心检测能力</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C1D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280160"/>
          </a:xfrm>
          <a:prstGeom prst="rect">
            <a:avLst/>
          </a:prstGeom>
          <a:solidFill>
            <a:srgbClr val="1126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280160"/>
            <a:ext cx="12188952" cy="45720"/>
          </a:xfrm>
          <a:prstGeom prst="rect">
            <a:avLst/>
          </a:prstGeom>
          <a:solidFill>
            <a:srgbClr val="00C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82880"/>
            <a:ext cx="11430000" cy="914400"/>
          </a:xfrm>
          <a:prstGeom prst="rect">
            <a:avLst/>
          </a:prstGeom>
          <a:noFill/>
        </p:spPr>
        <p:txBody>
          <a:bodyPr wrap="square">
            <a:spAutoFit/>
          </a:bodyPr>
          <a:lstStyle/>
          <a:p>
            <a:pPr algn="l"/>
            <a:r>
              <a:rPr sz="2800" b="1">
                <a:solidFill>
                  <a:srgbClr val="FFFFFF"/>
                </a:solidFill>
              </a:rPr>
              <a:t>九大检测功能总览</a:t>
            </a:r>
          </a:p>
        </p:txBody>
      </p:sp>
      <p:sp>
        <p:nvSpPr>
          <p:cNvPr id="6" name="TextBox 5"/>
          <p:cNvSpPr txBox="1"/>
          <p:nvPr/>
        </p:nvSpPr>
        <p:spPr>
          <a:xfrm>
            <a:off x="365760" y="914400"/>
            <a:ext cx="11430000" cy="320040"/>
          </a:xfrm>
          <a:prstGeom prst="rect">
            <a:avLst/>
          </a:prstGeom>
          <a:noFill/>
        </p:spPr>
        <p:txBody>
          <a:bodyPr wrap="square">
            <a:spAutoFit/>
          </a:bodyPr>
          <a:lstStyle/>
          <a:p>
            <a:pPr algn="l"/>
            <a:r>
              <a:rPr sz="1300" b="0">
                <a:solidFill>
                  <a:srgbClr val="A0B4CC"/>
                </a:solidFill>
              </a:rPr>
              <a:t>一台车跑完，全部数据同步输出，数据同源 | 同时 | 同标准</a:t>
            </a:r>
          </a:p>
        </p:txBody>
      </p:sp>
      <p:graphicFrame>
        <p:nvGraphicFramePr>
          <p:cNvPr id="7" name="Table 6"/>
          <p:cNvGraphicFramePr>
            <a:graphicFrameLocks noGrp="1"/>
          </p:cNvGraphicFramePr>
          <p:nvPr/>
        </p:nvGraphicFramePr>
        <p:xfrm>
          <a:off x="365760" y="1508760"/>
          <a:ext cx="11430000" cy="4846320"/>
        </p:xfrm>
        <a:graphic>
          <a:graphicData uri="http://schemas.openxmlformats.org/drawingml/2006/table">
            <a:tbl>
              <a:tblPr firstRow="1" bandRow="1">
                <a:tableStyleId>{5C22544A-7EE6-4342-B048-85BDC9FD1C3A}</a:tableStyleId>
              </a:tblPr>
              <a:tblGrid>
                <a:gridCol w="2857500"/>
                <a:gridCol w="2857500"/>
                <a:gridCol w="2857500"/>
                <a:gridCol w="2857500"/>
              </a:tblGrid>
              <a:tr h="484632">
                <a:tc>
                  <a:txBody>
                    <a:bodyPr/>
                    <a:lstStyle/>
                    <a:p>
                      <a:pPr algn="ctr"/>
                      <a:r>
                        <a:t>序号</a:t>
                      </a:r>
                      <a:r>
                        <a:rPr sz="1200" b="1">
                          <a:solidFill>
                            <a:srgbClr val="00C4FF"/>
                          </a:solidFill>
                        </a:rPr>
                        <a:t>序号</a:t>
                      </a:r>
                    </a:p>
                  </a:txBody>
                  <a:tcPr>
                    <a:solidFill>
                      <a:srgbClr val="11264E"/>
                    </a:solidFill>
                  </a:tcPr>
                </a:tc>
                <a:tc>
                  <a:txBody>
                    <a:bodyPr/>
                    <a:lstStyle/>
                    <a:p>
                      <a:pPr algn="ctr"/>
                      <a:r>
                        <a:t>检测功能</a:t>
                      </a:r>
                      <a:r>
                        <a:rPr sz="1200" b="1">
                          <a:solidFill>
                            <a:srgbClr val="00C4FF"/>
                          </a:solidFill>
                        </a:rPr>
                        <a:t>检测功能</a:t>
                      </a:r>
                    </a:p>
                  </a:txBody>
                  <a:tcPr>
                    <a:solidFill>
                      <a:srgbClr val="11264E"/>
                    </a:solidFill>
                  </a:tcPr>
                </a:tc>
                <a:tc>
                  <a:txBody>
                    <a:bodyPr/>
                    <a:lstStyle/>
                    <a:p>
                      <a:pPr algn="ctr"/>
                      <a:r>
                        <a:t>传感器</a:t>
                      </a:r>
                      <a:r>
                        <a:rPr sz="1200" b="1">
                          <a:solidFill>
                            <a:srgbClr val="00C4FF"/>
                          </a:solidFill>
                        </a:rPr>
                        <a:t>传感器</a:t>
                      </a:r>
                    </a:p>
                  </a:txBody>
                  <a:tcPr>
                    <a:solidFill>
                      <a:srgbClr val="11264E"/>
                    </a:solidFill>
                  </a:tcPr>
                </a:tc>
                <a:tc>
                  <a:txBody>
                    <a:bodyPr/>
                    <a:lstStyle/>
                    <a:p>
                      <a:pPr algn="ctr"/>
                      <a:r>
                        <a:t>输出结果</a:t>
                      </a:r>
                      <a:r>
                        <a:rPr sz="1200" b="1">
                          <a:solidFill>
                            <a:srgbClr val="00C4FF"/>
                          </a:solidFill>
                        </a:rPr>
                        <a:t>输出结果</a:t>
                      </a:r>
                    </a:p>
                  </a:txBody>
                  <a:tcPr>
                    <a:solidFill>
                      <a:srgbClr val="11264E"/>
                    </a:solidFill>
                  </a:tcPr>
                </a:tc>
              </a:tr>
              <a:tr h="484632">
                <a:tc>
                  <a:txBody>
                    <a:bodyPr/>
                    <a:lstStyle/>
                    <a:p>
                      <a:pPr algn="ctr"/>
                      <a:r>
                        <a:t>01</a:t>
                      </a:r>
                      <a:r>
                        <a:rPr sz="1100">
                          <a:solidFill>
                            <a:srgbClr val="FFFFFF"/>
                          </a:solidFill>
                        </a:rPr>
                        <a:t>01</a:t>
                      </a:r>
                    </a:p>
                  </a:txBody>
                  <a:tcPr>
                    <a:solidFill>
                      <a:srgbClr val="11264E"/>
                    </a:solidFill>
                  </a:tcPr>
                </a:tc>
                <a:tc>
                  <a:txBody>
                    <a:bodyPr/>
                    <a:lstStyle/>
                    <a:p>
                      <a:pPr algn="ctr"/>
                      <a:r>
                        <a:t>轨面缺陷检测</a:t>
                      </a:r>
                      <a:r>
                        <a:rPr sz="1100">
                          <a:solidFill>
                            <a:srgbClr val="FFFFFF"/>
                          </a:solidFill>
                        </a:rPr>
                        <a:t>轨面缺陷检测</a:t>
                      </a:r>
                    </a:p>
                  </a:txBody>
                  <a:tcPr>
                    <a:solidFill>
                      <a:srgbClr val="11264E"/>
                    </a:solidFill>
                  </a:tcPr>
                </a:tc>
                <a:tc>
                  <a:txBody>
                    <a:bodyPr/>
                    <a:lstStyle/>
                    <a:p>
                      <a:pPr algn="ctr"/>
                      <a:r>
                        <a:t>2D工业相机x2</a:t>
                      </a:r>
                      <a:r>
                        <a:rPr sz="1100">
                          <a:solidFill>
                            <a:srgbClr val="FFFFFF"/>
                          </a:solidFill>
                        </a:rPr>
                        <a:t>2D工业相机x2</a:t>
                      </a:r>
                    </a:p>
                  </a:txBody>
                  <a:tcPr>
                    <a:solidFill>
                      <a:srgbClr val="11264E"/>
                    </a:solidFill>
                  </a:tcPr>
                </a:tc>
                <a:tc>
                  <a:txBody>
                    <a:bodyPr/>
                    <a:lstStyle/>
                    <a:p>
                      <a:pPr algn="ctr"/>
                      <a:r>
                        <a:t>裂纹/掉块/凹陷，位置+等级</a:t>
                      </a:r>
                      <a:r>
                        <a:rPr sz="1100">
                          <a:solidFill>
                            <a:srgbClr val="FFFFFF"/>
                          </a:solidFill>
                        </a:rPr>
                        <a:t>裂纹/掉块/凹陷，位置+等级</a:t>
                      </a:r>
                    </a:p>
                  </a:txBody>
                  <a:tcPr>
                    <a:solidFill>
                      <a:srgbClr val="11264E"/>
                    </a:solidFill>
                  </a:tcPr>
                </a:tc>
              </a:tr>
              <a:tr h="484632">
                <a:tc>
                  <a:txBody>
                    <a:bodyPr/>
                    <a:lstStyle/>
                    <a:p>
                      <a:pPr algn="ctr"/>
                      <a:r>
                        <a:t>02</a:t>
                      </a:r>
                      <a:r>
                        <a:rPr sz="1100">
                          <a:solidFill>
                            <a:srgbClr val="FFFFFF"/>
                          </a:solidFill>
                        </a:rPr>
                        <a:t>02</a:t>
                      </a:r>
                    </a:p>
                  </a:txBody>
                  <a:tcPr>
                    <a:solidFill>
                      <a:srgbClr val="16305A"/>
                    </a:solidFill>
                  </a:tcPr>
                </a:tc>
                <a:tc>
                  <a:txBody>
                    <a:bodyPr/>
                    <a:lstStyle/>
                    <a:p>
                      <a:pPr algn="ctr"/>
                      <a:r>
                        <a:t>道钉/螺栓检测</a:t>
                      </a:r>
                      <a:r>
                        <a:rPr sz="1100">
                          <a:solidFill>
                            <a:srgbClr val="FFFFFF"/>
                          </a:solidFill>
                        </a:rPr>
                        <a:t>道钉/螺栓检测</a:t>
                      </a:r>
                    </a:p>
                  </a:txBody>
                  <a:tcPr>
                    <a:solidFill>
                      <a:srgbClr val="16305A"/>
                    </a:solidFill>
                  </a:tcPr>
                </a:tc>
                <a:tc>
                  <a:txBody>
                    <a:bodyPr/>
                    <a:lstStyle/>
                    <a:p>
                      <a:pPr algn="ctr"/>
                      <a:r>
                        <a:t>2D工业相机x2</a:t>
                      </a:r>
                      <a:r>
                        <a:rPr sz="1100">
                          <a:solidFill>
                            <a:srgbClr val="FFFFFF"/>
                          </a:solidFill>
                        </a:rPr>
                        <a:t>2D工业相机x2</a:t>
                      </a:r>
                    </a:p>
                  </a:txBody>
                  <a:tcPr>
                    <a:solidFill>
                      <a:srgbClr val="16305A"/>
                    </a:solidFill>
                  </a:tcPr>
                </a:tc>
                <a:tc>
                  <a:txBody>
                    <a:bodyPr/>
                    <a:lstStyle/>
                    <a:p>
                      <a:pPr algn="ctr"/>
                      <a:r>
                        <a:t>缺失/松动/歪斜，位置+数量</a:t>
                      </a:r>
                      <a:r>
                        <a:rPr sz="1100">
                          <a:solidFill>
                            <a:srgbClr val="FFFFFF"/>
                          </a:solidFill>
                        </a:rPr>
                        <a:t>缺失/松动/歪斜，位置+数量</a:t>
                      </a:r>
                    </a:p>
                  </a:txBody>
                  <a:tcPr>
                    <a:solidFill>
                      <a:srgbClr val="16305A"/>
                    </a:solidFill>
                  </a:tcPr>
                </a:tc>
              </a:tr>
              <a:tr h="484632">
                <a:tc>
                  <a:txBody>
                    <a:bodyPr/>
                    <a:lstStyle/>
                    <a:p>
                      <a:pPr algn="ctr"/>
                      <a:r>
                        <a:t>03</a:t>
                      </a:r>
                      <a:r>
                        <a:rPr sz="1100">
                          <a:solidFill>
                            <a:srgbClr val="FFFFFF"/>
                          </a:solidFill>
                        </a:rPr>
                        <a:t>03</a:t>
                      </a:r>
                    </a:p>
                  </a:txBody>
                  <a:tcPr>
                    <a:solidFill>
                      <a:srgbClr val="11264E"/>
                    </a:solidFill>
                  </a:tcPr>
                </a:tc>
                <a:tc>
                  <a:txBody>
                    <a:bodyPr/>
                    <a:lstStyle/>
                    <a:p>
                      <a:pPr algn="ctr"/>
                      <a:r>
                        <a:t>3D钢轨轮廓检测</a:t>
                      </a:r>
                      <a:r>
                        <a:rPr sz="1100">
                          <a:solidFill>
                            <a:srgbClr val="FFFFFF"/>
                          </a:solidFill>
                        </a:rPr>
                        <a:t>3D钢轨轮廓检测</a:t>
                      </a:r>
                    </a:p>
                  </a:txBody>
                  <a:tcPr>
                    <a:solidFill>
                      <a:srgbClr val="11264E"/>
                    </a:solidFill>
                  </a:tcPr>
                </a:tc>
                <a:tc>
                  <a:txBody>
                    <a:bodyPr/>
                    <a:lstStyle/>
                    <a:p>
                      <a:pPr algn="ctr"/>
                      <a:r>
                        <a:t>3D线激光x2</a:t>
                      </a:r>
                      <a:r>
                        <a:rPr sz="1100">
                          <a:solidFill>
                            <a:srgbClr val="FFFFFF"/>
                          </a:solidFill>
                        </a:rPr>
                        <a:t>3D线激光x2</a:t>
                      </a:r>
                    </a:p>
                  </a:txBody>
                  <a:tcPr>
                    <a:solidFill>
                      <a:srgbClr val="11264E"/>
                    </a:solidFill>
                  </a:tcPr>
                </a:tc>
                <a:tc>
                  <a:txBody>
                    <a:bodyPr/>
                    <a:lstStyle/>
                    <a:p>
                      <a:pPr algn="ctr"/>
                      <a:r>
                        <a:t>磨耗量/横移量，廓形偏差</a:t>
                      </a:r>
                      <a:r>
                        <a:rPr sz="1100">
                          <a:solidFill>
                            <a:srgbClr val="FFFFFF"/>
                          </a:solidFill>
                        </a:rPr>
                        <a:t>磨耗量/横移量，廓形偏差</a:t>
                      </a:r>
                    </a:p>
                  </a:txBody>
                  <a:tcPr>
                    <a:solidFill>
                      <a:srgbClr val="11264E"/>
                    </a:solidFill>
                  </a:tcPr>
                </a:tc>
              </a:tr>
              <a:tr h="484632">
                <a:tc>
                  <a:txBody>
                    <a:bodyPr/>
                    <a:lstStyle/>
                    <a:p>
                      <a:pPr algn="ctr"/>
                      <a:r>
                        <a:t>04</a:t>
                      </a:r>
                      <a:r>
                        <a:rPr sz="1100">
                          <a:solidFill>
                            <a:srgbClr val="FFFFFF"/>
                          </a:solidFill>
                        </a:rPr>
                        <a:t>04</a:t>
                      </a:r>
                    </a:p>
                  </a:txBody>
                  <a:tcPr>
                    <a:solidFill>
                      <a:srgbClr val="16305A"/>
                    </a:solidFill>
                  </a:tcPr>
                </a:tc>
                <a:tc>
                  <a:txBody>
                    <a:bodyPr/>
                    <a:lstStyle/>
                    <a:p>
                      <a:pPr algn="ctr"/>
                      <a:r>
                        <a:t>钢轨波磨检测</a:t>
                      </a:r>
                      <a:r>
                        <a:rPr sz="1100">
                          <a:solidFill>
                            <a:srgbClr val="FFFFFF"/>
                          </a:solidFill>
                        </a:rPr>
                        <a:t>钢轨波磨检测</a:t>
                      </a:r>
                    </a:p>
                  </a:txBody>
                  <a:tcPr>
                    <a:solidFill>
                      <a:srgbClr val="16305A"/>
                    </a:solidFill>
                  </a:tcPr>
                </a:tc>
                <a:tc>
                  <a:txBody>
                    <a:bodyPr/>
                    <a:lstStyle/>
                    <a:p>
                      <a:pPr algn="ctr"/>
                      <a:r>
                        <a:t>3D激光+相机</a:t>
                      </a:r>
                      <a:r>
                        <a:rPr sz="1100">
                          <a:solidFill>
                            <a:srgbClr val="FFFFFF"/>
                          </a:solidFill>
                        </a:rPr>
                        <a:t>3D激光+相机</a:t>
                      </a:r>
                    </a:p>
                  </a:txBody>
                  <a:tcPr>
                    <a:solidFill>
                      <a:srgbClr val="16305A"/>
                    </a:solidFill>
                  </a:tcPr>
                </a:tc>
                <a:tc>
                  <a:txBody>
                    <a:bodyPr/>
                    <a:lstStyle/>
                    <a:p>
                      <a:pPr algn="ctr"/>
                      <a:r>
                        <a:t>波长/波深/分布里程</a:t>
                      </a:r>
                      <a:r>
                        <a:rPr sz="1100">
                          <a:solidFill>
                            <a:srgbClr val="FFFFFF"/>
                          </a:solidFill>
                        </a:rPr>
                        <a:t>波长/波深/分布里程</a:t>
                      </a:r>
                    </a:p>
                  </a:txBody>
                  <a:tcPr>
                    <a:solidFill>
                      <a:srgbClr val="16305A"/>
                    </a:solidFill>
                  </a:tcPr>
                </a:tc>
              </a:tr>
              <a:tr h="484632">
                <a:tc>
                  <a:txBody>
                    <a:bodyPr/>
                    <a:lstStyle/>
                    <a:p>
                      <a:pPr algn="ctr"/>
                      <a:r>
                        <a:t>05</a:t>
                      </a:r>
                      <a:r>
                        <a:rPr sz="1100">
                          <a:solidFill>
                            <a:srgbClr val="FFFFFF"/>
                          </a:solidFill>
                        </a:rPr>
                        <a:t>05</a:t>
                      </a:r>
                    </a:p>
                  </a:txBody>
                  <a:tcPr>
                    <a:solidFill>
                      <a:srgbClr val="11264E"/>
                    </a:solidFill>
                  </a:tcPr>
                </a:tc>
                <a:tc>
                  <a:txBody>
                    <a:bodyPr/>
                    <a:lstStyle/>
                    <a:p>
                      <a:pPr algn="ctr"/>
                      <a:r>
                        <a:t>钢轨焊缝检测</a:t>
                      </a:r>
                      <a:r>
                        <a:rPr sz="1100">
                          <a:solidFill>
                            <a:srgbClr val="FFFFFF"/>
                          </a:solidFill>
                        </a:rPr>
                        <a:t>钢轨焊缝检测</a:t>
                      </a:r>
                    </a:p>
                  </a:txBody>
                  <a:tcPr>
                    <a:solidFill>
                      <a:srgbClr val="11264E"/>
                    </a:solidFill>
                  </a:tcPr>
                </a:tc>
                <a:tc>
                  <a:txBody>
                    <a:bodyPr/>
                    <a:lstStyle/>
                    <a:p>
                      <a:pPr algn="ctr"/>
                      <a:r>
                        <a:t>2D工业相机x2</a:t>
                      </a:r>
                      <a:r>
                        <a:rPr sz="1100">
                          <a:solidFill>
                            <a:srgbClr val="FFFFFF"/>
                          </a:solidFill>
                        </a:rPr>
                        <a:t>2D工业相机x2</a:t>
                      </a:r>
                    </a:p>
                  </a:txBody>
                  <a:tcPr>
                    <a:solidFill>
                      <a:srgbClr val="11264E"/>
                    </a:solidFill>
                  </a:tcPr>
                </a:tc>
                <a:tc>
                  <a:txBody>
                    <a:bodyPr/>
                    <a:lstStyle/>
                    <a:p>
                      <a:pPr algn="ctr"/>
                      <a:r>
                        <a:t>焊缝缺陷类型+等级</a:t>
                      </a:r>
                      <a:r>
                        <a:rPr sz="1100">
                          <a:solidFill>
                            <a:srgbClr val="FFFFFF"/>
                          </a:solidFill>
                        </a:rPr>
                        <a:t>焊缝缺陷类型+等级</a:t>
                      </a:r>
                    </a:p>
                  </a:txBody>
                  <a:tcPr>
                    <a:solidFill>
                      <a:srgbClr val="11264E"/>
                    </a:solidFill>
                  </a:tcPr>
                </a:tc>
              </a:tr>
              <a:tr h="484632">
                <a:tc>
                  <a:txBody>
                    <a:bodyPr/>
                    <a:lstStyle/>
                    <a:p>
                      <a:pPr algn="ctr"/>
                      <a:r>
                        <a:t>06</a:t>
                      </a:r>
                      <a:r>
                        <a:rPr sz="1100">
                          <a:solidFill>
                            <a:srgbClr val="FFFFFF"/>
                          </a:solidFill>
                        </a:rPr>
                        <a:t>06</a:t>
                      </a:r>
                    </a:p>
                  </a:txBody>
                  <a:tcPr>
                    <a:solidFill>
                      <a:srgbClr val="16305A"/>
                    </a:solidFill>
                  </a:tcPr>
                </a:tc>
                <a:tc>
                  <a:txBody>
                    <a:bodyPr/>
                    <a:lstStyle/>
                    <a:p>
                      <a:pPr algn="ctr"/>
                      <a:r>
                        <a:t>轨距检测</a:t>
                      </a:r>
                      <a:r>
                        <a:rPr sz="1100">
                          <a:solidFill>
                            <a:srgbClr val="FFFFFF"/>
                          </a:solidFill>
                        </a:rPr>
                        <a:t>轨距检测</a:t>
                      </a:r>
                    </a:p>
                  </a:txBody>
                  <a:tcPr>
                    <a:solidFill>
                      <a:srgbClr val="16305A"/>
                    </a:solidFill>
                  </a:tcPr>
                </a:tc>
                <a:tc>
                  <a:txBody>
                    <a:bodyPr/>
                    <a:lstStyle/>
                    <a:p>
                      <a:pPr algn="ctr"/>
                      <a:r>
                        <a:t>传感器融合</a:t>
                      </a:r>
                      <a:r>
                        <a:rPr sz="1100">
                          <a:solidFill>
                            <a:srgbClr val="FFFFFF"/>
                          </a:solidFill>
                        </a:rPr>
                        <a:t>传感器融合</a:t>
                      </a:r>
                    </a:p>
                  </a:txBody>
                  <a:tcPr>
                    <a:solidFill>
                      <a:srgbClr val="16305A"/>
                    </a:solidFill>
                  </a:tcPr>
                </a:tc>
                <a:tc>
                  <a:txBody>
                    <a:bodyPr/>
                    <a:lstStyle/>
                    <a:p>
                      <a:pPr algn="ctr"/>
                      <a:r>
                        <a:t>轨距值/偏差值</a:t>
                      </a:r>
                      <a:r>
                        <a:rPr sz="1100">
                          <a:solidFill>
                            <a:srgbClr val="FFFFFF"/>
                          </a:solidFill>
                        </a:rPr>
                        <a:t>轨距值/偏差值</a:t>
                      </a:r>
                    </a:p>
                  </a:txBody>
                  <a:tcPr>
                    <a:solidFill>
                      <a:srgbClr val="16305A"/>
                    </a:solidFill>
                  </a:tcPr>
                </a:tc>
              </a:tr>
              <a:tr h="484632">
                <a:tc>
                  <a:txBody>
                    <a:bodyPr/>
                    <a:lstStyle/>
                    <a:p>
                      <a:pPr algn="ctr"/>
                      <a:r>
                        <a:t>07</a:t>
                      </a:r>
                      <a:r>
                        <a:rPr sz="1100">
                          <a:solidFill>
                            <a:srgbClr val="FFFFFF"/>
                          </a:solidFill>
                        </a:rPr>
                        <a:t>07</a:t>
                      </a:r>
                    </a:p>
                  </a:txBody>
                  <a:tcPr>
                    <a:solidFill>
                      <a:srgbClr val="11264E"/>
                    </a:solidFill>
                  </a:tcPr>
                </a:tc>
                <a:tc>
                  <a:txBody>
                    <a:bodyPr/>
                    <a:lstStyle/>
                    <a:p>
                      <a:pPr algn="ctr"/>
                      <a:r>
                        <a:t>水平检测</a:t>
                      </a:r>
                      <a:r>
                        <a:rPr sz="1100">
                          <a:solidFill>
                            <a:srgbClr val="FFFFFF"/>
                          </a:solidFill>
                        </a:rPr>
                        <a:t>水平检测</a:t>
                      </a:r>
                    </a:p>
                  </a:txBody>
                  <a:tcPr>
                    <a:solidFill>
                      <a:srgbClr val="11264E"/>
                    </a:solidFill>
                  </a:tcPr>
                </a:tc>
                <a:tc>
                  <a:txBody>
                    <a:bodyPr/>
                    <a:lstStyle/>
                    <a:p>
                      <a:pPr algn="ctr"/>
                      <a:r>
                        <a:t>双陀螺仪</a:t>
                      </a:r>
                      <a:r>
                        <a:rPr sz="1100">
                          <a:solidFill>
                            <a:srgbClr val="FFFFFF"/>
                          </a:solidFill>
                        </a:rPr>
                        <a:t>双陀螺仪</a:t>
                      </a:r>
                    </a:p>
                  </a:txBody>
                  <a:tcPr>
                    <a:solidFill>
                      <a:srgbClr val="11264E"/>
                    </a:solidFill>
                  </a:tcPr>
                </a:tc>
                <a:tc>
                  <a:txBody>
                    <a:bodyPr/>
                    <a:lstStyle/>
                    <a:p>
                      <a:pPr algn="ctr"/>
                      <a:r>
                        <a:t>水平偏差值</a:t>
                      </a:r>
                      <a:r>
                        <a:rPr sz="1100">
                          <a:solidFill>
                            <a:srgbClr val="FFFFFF"/>
                          </a:solidFill>
                        </a:rPr>
                        <a:t>水平偏差值</a:t>
                      </a:r>
                    </a:p>
                  </a:txBody>
                  <a:tcPr>
                    <a:solidFill>
                      <a:srgbClr val="11264E"/>
                    </a:solidFill>
                  </a:tcPr>
                </a:tc>
              </a:tr>
              <a:tr h="484632">
                <a:tc>
                  <a:txBody>
                    <a:bodyPr/>
                    <a:lstStyle/>
                    <a:p>
                      <a:pPr algn="ctr"/>
                      <a:r>
                        <a:t>08</a:t>
                      </a:r>
                      <a:r>
                        <a:rPr sz="1100">
                          <a:solidFill>
                            <a:srgbClr val="FFFFFF"/>
                          </a:solidFill>
                        </a:rPr>
                        <a:t>08</a:t>
                      </a:r>
                    </a:p>
                  </a:txBody>
                  <a:tcPr>
                    <a:solidFill>
                      <a:srgbClr val="16305A"/>
                    </a:solidFill>
                  </a:tcPr>
                </a:tc>
                <a:tc>
                  <a:txBody>
                    <a:bodyPr/>
                    <a:lstStyle/>
                    <a:p>
                      <a:pPr algn="ctr"/>
                      <a:r>
                        <a:t>高低检测</a:t>
                      </a:r>
                      <a:r>
                        <a:rPr sz="1100">
                          <a:solidFill>
                            <a:srgbClr val="FFFFFF"/>
                          </a:solidFill>
                        </a:rPr>
                        <a:t>高低检测</a:t>
                      </a:r>
                    </a:p>
                  </a:txBody>
                  <a:tcPr>
                    <a:solidFill>
                      <a:srgbClr val="16305A"/>
                    </a:solidFill>
                  </a:tcPr>
                </a:tc>
                <a:tc>
                  <a:txBody>
                    <a:bodyPr/>
                    <a:lstStyle/>
                    <a:p>
                      <a:pPr algn="ctr"/>
                      <a:r>
                        <a:t>双陀螺仪</a:t>
                      </a:r>
                      <a:r>
                        <a:rPr sz="1100">
                          <a:solidFill>
                            <a:srgbClr val="FFFFFF"/>
                          </a:solidFill>
                        </a:rPr>
                        <a:t>双陀螺仪</a:t>
                      </a:r>
                    </a:p>
                  </a:txBody>
                  <a:tcPr>
                    <a:solidFill>
                      <a:srgbClr val="16305A"/>
                    </a:solidFill>
                  </a:tcPr>
                </a:tc>
                <a:tc>
                  <a:txBody>
                    <a:bodyPr/>
                    <a:lstStyle/>
                    <a:p>
                      <a:pPr algn="ctr"/>
                      <a:r>
                        <a:t>高低不平顺值</a:t>
                      </a:r>
                      <a:r>
                        <a:rPr sz="1100">
                          <a:solidFill>
                            <a:srgbClr val="FFFFFF"/>
                          </a:solidFill>
                        </a:rPr>
                        <a:t>高低不平顺值</a:t>
                      </a:r>
                    </a:p>
                  </a:txBody>
                  <a:tcPr>
                    <a:solidFill>
                      <a:srgbClr val="16305A"/>
                    </a:solidFill>
                  </a:tcPr>
                </a:tc>
              </a:tr>
              <a:tr h="484632">
                <a:tc>
                  <a:txBody>
                    <a:bodyPr/>
                    <a:lstStyle/>
                    <a:p>
                      <a:pPr algn="ctr"/>
                      <a:r>
                        <a:t>09</a:t>
                      </a:r>
                      <a:r>
                        <a:rPr sz="1100">
                          <a:solidFill>
                            <a:srgbClr val="FFFFFF"/>
                          </a:solidFill>
                        </a:rPr>
                        <a:t>09</a:t>
                      </a:r>
                    </a:p>
                  </a:txBody>
                  <a:tcPr>
                    <a:solidFill>
                      <a:srgbClr val="11264E"/>
                    </a:solidFill>
                  </a:tcPr>
                </a:tc>
                <a:tc>
                  <a:txBody>
                    <a:bodyPr/>
                    <a:lstStyle/>
                    <a:p>
                      <a:pPr algn="ctr"/>
                      <a:r>
                        <a:t>轨向检测</a:t>
                      </a:r>
                      <a:r>
                        <a:rPr sz="1100">
                          <a:solidFill>
                            <a:srgbClr val="FFFFFF"/>
                          </a:solidFill>
                        </a:rPr>
                        <a:t>轨向检测</a:t>
                      </a:r>
                    </a:p>
                  </a:txBody>
                  <a:tcPr>
                    <a:solidFill>
                      <a:srgbClr val="11264E"/>
                    </a:solidFill>
                  </a:tcPr>
                </a:tc>
                <a:tc>
                  <a:txBody>
                    <a:bodyPr/>
                    <a:lstStyle/>
                    <a:p>
                      <a:pPr algn="ctr"/>
                      <a:r>
                        <a:t>双陀螺仪</a:t>
                      </a:r>
                      <a:r>
                        <a:rPr sz="1100">
                          <a:solidFill>
                            <a:srgbClr val="FFFFFF"/>
                          </a:solidFill>
                        </a:rPr>
                        <a:t>双陀螺仪</a:t>
                      </a:r>
                    </a:p>
                  </a:txBody>
                  <a:tcPr>
                    <a:solidFill>
                      <a:srgbClr val="11264E"/>
                    </a:solidFill>
                  </a:tcPr>
                </a:tc>
                <a:tc>
                  <a:txBody>
                    <a:bodyPr/>
                    <a:lstStyle/>
                    <a:p>
                      <a:pPr algn="ctr"/>
                      <a:r>
                        <a:t>轨向偏差值</a:t>
                      </a:r>
                      <a:r>
                        <a:rPr sz="1100">
                          <a:solidFill>
                            <a:srgbClr val="FFFFFF"/>
                          </a:solidFill>
                        </a:rPr>
                        <a:t>轨向偏差值</a:t>
                      </a:r>
                    </a:p>
                  </a:txBody>
                  <a:tcPr>
                    <a:solidFill>
                      <a:srgbClr val="11264E"/>
                    </a:solidFill>
                  </a:tcPr>
                </a:tc>
              </a:tr>
            </a:tbl>
          </a:graphicData>
        </a:graphic>
      </p:graphicFrame>
      <p:sp>
        <p:nvSpPr>
          <p:cNvPr id="8" name="Rectangle 7"/>
          <p:cNvSpPr/>
          <p:nvPr/>
        </p:nvSpPr>
        <p:spPr>
          <a:xfrm>
            <a:off x="0" y="6492240"/>
            <a:ext cx="12188952" cy="365760"/>
          </a:xfrm>
          <a:prstGeom prst="rect">
            <a:avLst/>
          </a:prstGeom>
          <a:solidFill>
            <a:srgbClr val="1126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6519672"/>
            <a:ext cx="4572000" cy="320040"/>
          </a:xfrm>
          <a:prstGeom prst="rect">
            <a:avLst/>
          </a:prstGeom>
          <a:noFill/>
        </p:spPr>
        <p:txBody>
          <a:bodyPr wrap="square">
            <a:spAutoFit/>
          </a:bodyPr>
          <a:lstStyle/>
          <a:p>
            <a:pPr algn="l"/>
            <a:r>
              <a:rPr sz="1000" b="0">
                <a:solidFill>
                  <a:srgbClr val="A0B4CC"/>
                </a:solidFill>
              </a:rPr>
              <a:t>铁路线路智能综合检测机器人</a:t>
            </a:r>
          </a:p>
        </p:txBody>
      </p:sp>
      <p:sp>
        <p:nvSpPr>
          <p:cNvPr id="10" name="TextBox 9"/>
          <p:cNvSpPr txBox="1"/>
          <p:nvPr/>
        </p:nvSpPr>
        <p:spPr>
          <a:xfrm>
            <a:off x="10972800" y="6519672"/>
            <a:ext cx="1005840" cy="320040"/>
          </a:xfrm>
          <a:prstGeom prst="rect">
            <a:avLst/>
          </a:prstGeom>
          <a:noFill/>
        </p:spPr>
        <p:txBody>
          <a:bodyPr wrap="square">
            <a:spAutoFit/>
          </a:bodyPr>
          <a:lstStyle/>
          <a:p>
            <a:pPr algn="r"/>
            <a:r>
              <a:rPr sz="1000" b="0">
                <a:solidFill>
                  <a:srgbClr val="A0B4CC"/>
                </a:solidFill>
              </a:rPr>
              <a:t>12 / 28</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C1D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280160"/>
          </a:xfrm>
          <a:prstGeom prst="rect">
            <a:avLst/>
          </a:prstGeom>
          <a:solidFill>
            <a:srgbClr val="1126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280160"/>
            <a:ext cx="12188952" cy="45720"/>
          </a:xfrm>
          <a:prstGeom prst="rect">
            <a:avLst/>
          </a:prstGeom>
          <a:solidFill>
            <a:srgbClr val="00C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82880"/>
            <a:ext cx="11430000" cy="914400"/>
          </a:xfrm>
          <a:prstGeom prst="rect">
            <a:avLst/>
          </a:prstGeom>
          <a:noFill/>
        </p:spPr>
        <p:txBody>
          <a:bodyPr wrap="square">
            <a:spAutoFit/>
          </a:bodyPr>
          <a:lstStyle/>
          <a:p>
            <a:pPr algn="l"/>
            <a:r>
              <a:rPr sz="2800" b="1">
                <a:solidFill>
                  <a:srgbClr val="FFFFFF"/>
                </a:solidFill>
              </a:rPr>
              <a:t>多维数据融合判级</a:t>
            </a:r>
          </a:p>
        </p:txBody>
      </p:sp>
      <p:sp>
        <p:nvSpPr>
          <p:cNvPr id="6" name="TextBox 5"/>
          <p:cNvSpPr txBox="1"/>
          <p:nvPr/>
        </p:nvSpPr>
        <p:spPr>
          <a:xfrm>
            <a:off x="365760" y="914400"/>
            <a:ext cx="11430000" cy="320040"/>
          </a:xfrm>
          <a:prstGeom prst="rect">
            <a:avLst/>
          </a:prstGeom>
          <a:noFill/>
        </p:spPr>
        <p:txBody>
          <a:bodyPr wrap="square">
            <a:spAutoFit/>
          </a:bodyPr>
          <a:lstStyle/>
          <a:p>
            <a:pPr algn="l"/>
            <a:r>
              <a:rPr sz="1300" b="0">
                <a:solidFill>
                  <a:srgbClr val="A0B4CC"/>
                </a:solidFill>
              </a:rPr>
              <a:t>综合判断比单一维度更准确，避免误报和漏报</a:t>
            </a:r>
          </a:p>
        </p:txBody>
      </p:sp>
      <p:graphicFrame>
        <p:nvGraphicFramePr>
          <p:cNvPr id="7" name="Table 6"/>
          <p:cNvGraphicFramePr>
            <a:graphicFrameLocks noGrp="1"/>
          </p:cNvGraphicFramePr>
          <p:nvPr/>
        </p:nvGraphicFramePr>
        <p:xfrm>
          <a:off x="548640" y="1508760"/>
          <a:ext cx="11064240" cy="2560320"/>
        </p:xfrm>
        <a:graphic>
          <a:graphicData uri="http://schemas.openxmlformats.org/drawingml/2006/table">
            <a:tbl>
              <a:tblPr firstRow="1" bandRow="1">
                <a:tableStyleId>{5C22544A-7EE6-4342-B048-85BDC9FD1C3A}</a:tableStyleId>
              </a:tblPr>
              <a:tblGrid>
                <a:gridCol w="2212848"/>
                <a:gridCol w="2212848"/>
                <a:gridCol w="2212848"/>
                <a:gridCol w="2212848"/>
                <a:gridCol w="2212848"/>
              </a:tblGrid>
              <a:tr h="640080">
                <a:tc>
                  <a:txBody>
                    <a:bodyPr/>
                    <a:lstStyle/>
                    <a:p>
                      <a:pPr algn="ctr"/>
                      <a:r>
                        <a:t>案例</a:t>
                      </a:r>
                      <a:r>
                        <a:rPr sz="1200" b="1">
                          <a:solidFill>
                            <a:srgbClr val="00C4FF"/>
                          </a:solidFill>
                        </a:rPr>
                        <a:t>案例</a:t>
                      </a:r>
                    </a:p>
                  </a:txBody>
                  <a:tcPr>
                    <a:solidFill>
                      <a:srgbClr val="11264E"/>
                    </a:solidFill>
                  </a:tcPr>
                </a:tc>
                <a:tc>
                  <a:txBody>
                    <a:bodyPr/>
                    <a:lstStyle/>
                    <a:p>
                      <a:pPr algn="ctr"/>
                      <a:r>
                        <a:t>2D图像</a:t>
                      </a:r>
                      <a:r>
                        <a:rPr sz="1200" b="1">
                          <a:solidFill>
                            <a:srgbClr val="00C4FF"/>
                          </a:solidFill>
                        </a:rPr>
                        <a:t>2D图像</a:t>
                      </a:r>
                    </a:p>
                  </a:txBody>
                  <a:tcPr>
                    <a:solidFill>
                      <a:srgbClr val="11264E"/>
                    </a:solidFill>
                  </a:tcPr>
                </a:tc>
                <a:tc>
                  <a:txBody>
                    <a:bodyPr/>
                    <a:lstStyle/>
                    <a:p>
                      <a:pPr algn="ctr"/>
                      <a:r>
                        <a:t>3D廓形</a:t>
                      </a:r>
                      <a:r>
                        <a:rPr sz="1200" b="1">
                          <a:solidFill>
                            <a:srgbClr val="00C4FF"/>
                          </a:solidFill>
                        </a:rPr>
                        <a:t>3D廓形</a:t>
                      </a:r>
                    </a:p>
                  </a:txBody>
                  <a:tcPr>
                    <a:solidFill>
                      <a:srgbClr val="11264E"/>
                    </a:solidFill>
                  </a:tcPr>
                </a:tc>
                <a:tc>
                  <a:txBody>
                    <a:bodyPr/>
                    <a:lstStyle/>
                    <a:p>
                      <a:pPr algn="ctr"/>
                      <a:r>
                        <a:t>姿态参数</a:t>
                      </a:r>
                      <a:r>
                        <a:rPr sz="1200" b="1">
                          <a:solidFill>
                            <a:srgbClr val="00C4FF"/>
                          </a:solidFill>
                        </a:rPr>
                        <a:t>姿态参数</a:t>
                      </a:r>
                    </a:p>
                  </a:txBody>
                  <a:tcPr>
                    <a:solidFill>
                      <a:srgbClr val="11264E"/>
                    </a:solidFill>
                  </a:tcPr>
                </a:tc>
                <a:tc>
                  <a:txBody>
                    <a:bodyPr/>
                    <a:lstStyle/>
                    <a:p>
                      <a:pPr algn="ctr"/>
                      <a:r>
                        <a:t>综合结论</a:t>
                      </a:r>
                      <a:r>
                        <a:rPr sz="1200" b="1">
                          <a:solidFill>
                            <a:srgbClr val="00C4FF"/>
                          </a:solidFill>
                        </a:rPr>
                        <a:t>综合结论</a:t>
                      </a:r>
                    </a:p>
                  </a:txBody>
                  <a:tcPr>
                    <a:solidFill>
                      <a:srgbClr val="11264E"/>
                    </a:solidFill>
                  </a:tcPr>
                </a:tc>
              </a:tr>
              <a:tr h="640080">
                <a:tc>
                  <a:txBody>
                    <a:bodyPr/>
                    <a:lstStyle/>
                    <a:p>
                      <a:pPr algn="ctr"/>
                      <a:r>
                        <a:t>案例A</a:t>
                      </a:r>
                      <a:r>
                        <a:rPr sz="1100">
                          <a:solidFill>
                            <a:srgbClr val="FFFFFF"/>
                          </a:solidFill>
                        </a:rPr>
                        <a:t>案例A</a:t>
                      </a:r>
                    </a:p>
                  </a:txBody>
                  <a:tcPr>
                    <a:solidFill>
                      <a:srgbClr val="11264E"/>
                    </a:solidFill>
                  </a:tcPr>
                </a:tc>
                <a:tc>
                  <a:txBody>
                    <a:bodyPr/>
                    <a:lstStyle/>
                    <a:p>
                      <a:pPr algn="ctr"/>
                      <a:r>
                        <a:t>疑似裂纹</a:t>
                      </a:r>
                      <a:r>
                        <a:rPr sz="1100">
                          <a:solidFill>
                            <a:srgbClr val="FFFFFF"/>
                          </a:solidFill>
                        </a:rPr>
                        <a:t>疑似裂纹</a:t>
                      </a:r>
                    </a:p>
                  </a:txBody>
                  <a:tcPr>
                    <a:solidFill>
                      <a:srgbClr val="11264E"/>
                    </a:solidFill>
                  </a:tcPr>
                </a:tc>
                <a:tc>
                  <a:txBody>
                    <a:bodyPr/>
                    <a:lstStyle/>
                    <a:p>
                      <a:pPr algn="ctr"/>
                      <a:r>
                        <a:t>无变形</a:t>
                      </a:r>
                      <a:r>
                        <a:rPr sz="1100">
                          <a:solidFill>
                            <a:srgbClr val="FFFFFF"/>
                          </a:solidFill>
                        </a:rPr>
                        <a:t>无变形</a:t>
                      </a:r>
                    </a:p>
                  </a:txBody>
                  <a:tcPr>
                    <a:solidFill>
                      <a:srgbClr val="11264E"/>
                    </a:solidFill>
                  </a:tcPr>
                </a:tc>
                <a:tc>
                  <a:txBody>
                    <a:bodyPr/>
                    <a:lstStyle/>
                    <a:p>
                      <a:pPr algn="ctr"/>
                      <a:r>
                        <a:t>无异常</a:t>
                      </a:r>
                      <a:r>
                        <a:rPr sz="1100">
                          <a:solidFill>
                            <a:srgbClr val="FFFFFF"/>
                          </a:solidFill>
                        </a:rPr>
                        <a:t>无异常</a:t>
                      </a:r>
                    </a:p>
                  </a:txBody>
                  <a:tcPr>
                    <a:solidFill>
                      <a:srgbClr val="11264E"/>
                    </a:solidFill>
                  </a:tcPr>
                </a:tc>
                <a:tc>
                  <a:txBody>
                    <a:bodyPr/>
                    <a:lstStyle/>
                    <a:p>
                      <a:pPr algn="ctr"/>
                      <a:r>
                        <a:t>降级：疑似，需人工复核</a:t>
                      </a:r>
                      <a:r>
                        <a:rPr sz="1100">
                          <a:solidFill>
                            <a:srgbClr val="FFFFFF"/>
                          </a:solidFill>
                        </a:rPr>
                        <a:t>降级：疑似，需人工复核</a:t>
                      </a:r>
                    </a:p>
                  </a:txBody>
                  <a:tcPr>
                    <a:solidFill>
                      <a:srgbClr val="11264E"/>
                    </a:solidFill>
                  </a:tcPr>
                </a:tc>
              </a:tr>
              <a:tr h="640080">
                <a:tc>
                  <a:txBody>
                    <a:bodyPr/>
                    <a:lstStyle/>
                    <a:p>
                      <a:pPr algn="ctr"/>
                      <a:r>
                        <a:t>案例B</a:t>
                      </a:r>
                      <a:r>
                        <a:rPr sz="1100">
                          <a:solidFill>
                            <a:srgbClr val="FFFFFF"/>
                          </a:solidFill>
                        </a:rPr>
                        <a:t>案例B</a:t>
                      </a:r>
                    </a:p>
                  </a:txBody>
                  <a:tcPr>
                    <a:solidFill>
                      <a:srgbClr val="16305A"/>
                    </a:solidFill>
                  </a:tcPr>
                </a:tc>
                <a:tc>
                  <a:txBody>
                    <a:bodyPr/>
                    <a:lstStyle/>
                    <a:p>
                      <a:pPr algn="ctr"/>
                      <a:r>
                        <a:t>明显裂纹</a:t>
                      </a:r>
                      <a:r>
                        <a:rPr sz="1100">
                          <a:solidFill>
                            <a:srgbClr val="FFFFFF"/>
                          </a:solidFill>
                        </a:rPr>
                        <a:t>明显裂纹</a:t>
                      </a:r>
                    </a:p>
                  </a:txBody>
                  <a:tcPr>
                    <a:solidFill>
                      <a:srgbClr val="16305A"/>
                    </a:solidFill>
                  </a:tcPr>
                </a:tc>
                <a:tc>
                  <a:txBody>
                    <a:bodyPr/>
                    <a:lstStyle/>
                    <a:p>
                      <a:pPr algn="ctr"/>
                      <a:r>
                        <a:t>局部凹陷</a:t>
                      </a:r>
                      <a:r>
                        <a:rPr sz="1100">
                          <a:solidFill>
                            <a:srgbClr val="FFFFFF"/>
                          </a:solidFill>
                        </a:rPr>
                        <a:t>局部凹陷</a:t>
                      </a:r>
                    </a:p>
                  </a:txBody>
                  <a:tcPr>
                    <a:solidFill>
                      <a:srgbClr val="16305A"/>
                    </a:solidFill>
                  </a:tcPr>
                </a:tc>
                <a:tc>
                  <a:txBody>
                    <a:bodyPr/>
                    <a:lstStyle/>
                    <a:p>
                      <a:pPr algn="ctr"/>
                      <a:r>
                        <a:t>同位轨向偏</a:t>
                      </a:r>
                      <a:r>
                        <a:rPr sz="1100">
                          <a:solidFill>
                            <a:srgbClr val="FFFFFF"/>
                          </a:solidFill>
                        </a:rPr>
                        <a:t>同位轨向偏</a:t>
                      </a:r>
                    </a:p>
                  </a:txBody>
                  <a:tcPr>
                    <a:solidFill>
                      <a:srgbClr val="16305A"/>
                    </a:solidFill>
                  </a:tcPr>
                </a:tc>
                <a:tc>
                  <a:txBody>
                    <a:bodyPr/>
                    <a:lstStyle/>
                    <a:p>
                      <a:pPr algn="ctr"/>
                      <a:r>
                        <a:t>升级：严重，重点关注</a:t>
                      </a:r>
                      <a:r>
                        <a:rPr sz="1100">
                          <a:solidFill>
                            <a:srgbClr val="FFFFFF"/>
                          </a:solidFill>
                        </a:rPr>
                        <a:t>升级：严重，重点关注</a:t>
                      </a:r>
                    </a:p>
                  </a:txBody>
                  <a:tcPr>
                    <a:solidFill>
                      <a:srgbClr val="16305A"/>
                    </a:solidFill>
                  </a:tcPr>
                </a:tc>
              </a:tr>
              <a:tr h="640080">
                <a:tc>
                  <a:txBody>
                    <a:bodyPr/>
                    <a:lstStyle/>
                    <a:p>
                      <a:pPr algn="ctr"/>
                      <a:r>
                        <a:t>案例C</a:t>
                      </a:r>
                      <a:r>
                        <a:rPr sz="1100">
                          <a:solidFill>
                            <a:srgbClr val="FFFFFF"/>
                          </a:solidFill>
                        </a:rPr>
                        <a:t>案例C</a:t>
                      </a:r>
                    </a:p>
                  </a:txBody>
                  <a:tcPr>
                    <a:solidFill>
                      <a:srgbClr val="11264E"/>
                    </a:solidFill>
                  </a:tcPr>
                </a:tc>
                <a:tc>
                  <a:txBody>
                    <a:bodyPr/>
                    <a:lstStyle/>
                    <a:p>
                      <a:pPr algn="ctr"/>
                      <a:r>
                        <a:t>正常</a:t>
                      </a:r>
                      <a:r>
                        <a:rPr sz="1100">
                          <a:solidFill>
                            <a:srgbClr val="FFFFFF"/>
                          </a:solidFill>
                        </a:rPr>
                        <a:t>正常</a:t>
                      </a:r>
                    </a:p>
                  </a:txBody>
                  <a:tcPr>
                    <a:solidFill>
                      <a:srgbClr val="11264E"/>
                    </a:solidFill>
                  </a:tcPr>
                </a:tc>
                <a:tc>
                  <a:txBody>
                    <a:bodyPr/>
                    <a:lstStyle/>
                    <a:p>
                      <a:pPr algn="ctr"/>
                      <a:r>
                        <a:t>磨耗超标</a:t>
                      </a:r>
                      <a:r>
                        <a:rPr sz="1100">
                          <a:solidFill>
                            <a:srgbClr val="FFFFFF"/>
                          </a:solidFill>
                        </a:rPr>
                        <a:t>磨耗超标</a:t>
                      </a:r>
                    </a:p>
                  </a:txBody>
                  <a:tcPr>
                    <a:solidFill>
                      <a:srgbClr val="11264E"/>
                    </a:solidFill>
                  </a:tcPr>
                </a:tc>
                <a:tc>
                  <a:txBody>
                    <a:bodyPr/>
                    <a:lstStyle/>
                    <a:p>
                      <a:pPr algn="ctr"/>
                      <a:r>
                        <a:t>无异常</a:t>
                      </a:r>
                      <a:r>
                        <a:rPr sz="1100">
                          <a:solidFill>
                            <a:srgbClr val="FFFFFF"/>
                          </a:solidFill>
                        </a:rPr>
                        <a:t>无异常</a:t>
                      </a:r>
                    </a:p>
                  </a:txBody>
                  <a:tcPr>
                    <a:solidFill>
                      <a:srgbClr val="11264E"/>
                    </a:solidFill>
                  </a:tcPr>
                </a:tc>
                <a:tc>
                  <a:txBody>
                    <a:bodyPr/>
                    <a:lstStyle/>
                    <a:p>
                      <a:pPr algn="ctr"/>
                      <a:r>
                        <a:t>直接输出二级报警</a:t>
                      </a:r>
                      <a:r>
                        <a:rPr sz="1100">
                          <a:solidFill>
                            <a:srgbClr val="FFFFFF"/>
                          </a:solidFill>
                        </a:rPr>
                        <a:t>直接输出二级报警</a:t>
                      </a:r>
                    </a:p>
                  </a:txBody>
                  <a:tcPr>
                    <a:solidFill>
                      <a:srgbClr val="11264E"/>
                    </a:solidFill>
                  </a:tcPr>
                </a:tc>
              </a:tr>
            </a:tbl>
          </a:graphicData>
        </a:graphic>
      </p:graphicFrame>
      <p:sp>
        <p:nvSpPr>
          <p:cNvPr id="8" name="Rectangle 7"/>
          <p:cNvSpPr/>
          <p:nvPr/>
        </p:nvSpPr>
        <p:spPr>
          <a:xfrm>
            <a:off x="548640" y="4297680"/>
            <a:ext cx="2651760" cy="2103120"/>
          </a:xfrm>
          <a:prstGeom prst="rect">
            <a:avLst/>
          </a:prstGeom>
          <a:solidFill>
            <a:srgbClr val="00D4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4434840"/>
            <a:ext cx="2468880" cy="502920"/>
          </a:xfrm>
          <a:prstGeom prst="rect">
            <a:avLst/>
          </a:prstGeom>
          <a:noFill/>
        </p:spPr>
        <p:txBody>
          <a:bodyPr wrap="square">
            <a:spAutoFit/>
          </a:bodyPr>
          <a:lstStyle/>
          <a:p>
            <a:pPr algn="ctr"/>
            <a:r>
              <a:rPr sz="2000" b="1">
                <a:solidFill>
                  <a:srgbClr val="1A1A2E"/>
                </a:solidFill>
              </a:rPr>
              <a:t>正常</a:t>
            </a:r>
          </a:p>
        </p:txBody>
      </p:sp>
      <p:sp>
        <p:nvSpPr>
          <p:cNvPr id="10" name="TextBox 9"/>
          <p:cNvSpPr txBox="1"/>
          <p:nvPr/>
        </p:nvSpPr>
        <p:spPr>
          <a:xfrm>
            <a:off x="640080" y="5029200"/>
            <a:ext cx="2468880" cy="1188720"/>
          </a:xfrm>
          <a:prstGeom prst="rect">
            <a:avLst/>
          </a:prstGeom>
          <a:noFill/>
        </p:spPr>
        <p:txBody>
          <a:bodyPr wrap="square">
            <a:spAutoFit/>
          </a:bodyPr>
          <a:lstStyle/>
          <a:p>
            <a:pPr algn="ctr"/>
            <a:r>
              <a:rPr sz="1200" b="0">
                <a:solidFill>
                  <a:srgbClr val="1A1A2E"/>
                </a:solidFill>
              </a:rPr>
              <a:t>偏差在允许范围内</a:t>
            </a:r>
          </a:p>
        </p:txBody>
      </p:sp>
      <p:sp>
        <p:nvSpPr>
          <p:cNvPr id="11" name="Rectangle 10"/>
          <p:cNvSpPr/>
          <p:nvPr/>
        </p:nvSpPr>
        <p:spPr>
          <a:xfrm>
            <a:off x="3383280" y="4297680"/>
            <a:ext cx="2651760" cy="210312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474720" y="4434840"/>
            <a:ext cx="2468880" cy="502920"/>
          </a:xfrm>
          <a:prstGeom prst="rect">
            <a:avLst/>
          </a:prstGeom>
          <a:noFill/>
        </p:spPr>
        <p:txBody>
          <a:bodyPr wrap="square">
            <a:spAutoFit/>
          </a:bodyPr>
          <a:lstStyle/>
          <a:p>
            <a:pPr algn="ctr"/>
            <a:r>
              <a:rPr sz="2000" b="1">
                <a:solidFill>
                  <a:srgbClr val="1A1A2E"/>
                </a:solidFill>
              </a:rPr>
              <a:t>一级</a:t>
            </a:r>
          </a:p>
        </p:txBody>
      </p:sp>
      <p:sp>
        <p:nvSpPr>
          <p:cNvPr id="13" name="TextBox 12"/>
          <p:cNvSpPr txBox="1"/>
          <p:nvPr/>
        </p:nvSpPr>
        <p:spPr>
          <a:xfrm>
            <a:off x="3474720" y="5029200"/>
            <a:ext cx="2468880" cy="1188720"/>
          </a:xfrm>
          <a:prstGeom prst="rect">
            <a:avLst/>
          </a:prstGeom>
          <a:noFill/>
        </p:spPr>
        <p:txBody>
          <a:bodyPr wrap="square">
            <a:spAutoFit/>
          </a:bodyPr>
          <a:lstStyle/>
          <a:p>
            <a:pPr algn="ctr"/>
            <a:r>
              <a:rPr sz="1200" b="0">
                <a:solidFill>
                  <a:srgbClr val="1A1A2E"/>
                </a:solidFill>
              </a:rPr>
              <a:t>轻微异常，接近阈值</a:t>
            </a:r>
          </a:p>
        </p:txBody>
      </p:sp>
      <p:sp>
        <p:nvSpPr>
          <p:cNvPr id="14" name="Rectangle 13"/>
          <p:cNvSpPr/>
          <p:nvPr/>
        </p:nvSpPr>
        <p:spPr>
          <a:xfrm>
            <a:off x="6217920" y="4297680"/>
            <a:ext cx="2651760" cy="2103120"/>
          </a:xfrm>
          <a:prstGeom prst="rect">
            <a:avLst/>
          </a:prstGeom>
          <a:solidFill>
            <a:srgbClr val="FFA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09360" y="4434840"/>
            <a:ext cx="2468880" cy="502920"/>
          </a:xfrm>
          <a:prstGeom prst="rect">
            <a:avLst/>
          </a:prstGeom>
          <a:noFill/>
        </p:spPr>
        <p:txBody>
          <a:bodyPr wrap="square">
            <a:spAutoFit/>
          </a:bodyPr>
          <a:lstStyle/>
          <a:p>
            <a:pPr algn="ctr"/>
            <a:r>
              <a:rPr sz="2000" b="1">
                <a:solidFill>
                  <a:srgbClr val="1A1A2E"/>
                </a:solidFill>
              </a:rPr>
              <a:t>二级</a:t>
            </a:r>
          </a:p>
        </p:txBody>
      </p:sp>
      <p:sp>
        <p:nvSpPr>
          <p:cNvPr id="16" name="TextBox 15"/>
          <p:cNvSpPr txBox="1"/>
          <p:nvPr/>
        </p:nvSpPr>
        <p:spPr>
          <a:xfrm>
            <a:off x="6309360" y="5029200"/>
            <a:ext cx="2468880" cy="1188720"/>
          </a:xfrm>
          <a:prstGeom prst="rect">
            <a:avLst/>
          </a:prstGeom>
          <a:noFill/>
        </p:spPr>
        <p:txBody>
          <a:bodyPr wrap="square">
            <a:spAutoFit/>
          </a:bodyPr>
          <a:lstStyle/>
          <a:p>
            <a:pPr algn="ctr"/>
            <a:r>
              <a:rPr sz="1200" b="0">
                <a:solidFill>
                  <a:srgbClr val="1A1A2E"/>
                </a:solidFill>
              </a:rPr>
              <a:t>明显超限，需计划养护</a:t>
            </a:r>
          </a:p>
        </p:txBody>
      </p:sp>
      <p:sp>
        <p:nvSpPr>
          <p:cNvPr id="17" name="Rectangle 16"/>
          <p:cNvSpPr/>
          <p:nvPr/>
        </p:nvSpPr>
        <p:spPr>
          <a:xfrm>
            <a:off x="9052560" y="4297680"/>
            <a:ext cx="2651760" cy="2103120"/>
          </a:xfrm>
          <a:prstGeom prst="rect">
            <a:avLst/>
          </a:prstGeom>
          <a:solidFill>
            <a:srgbClr val="FF4D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0" y="4434840"/>
            <a:ext cx="2468880" cy="502920"/>
          </a:xfrm>
          <a:prstGeom prst="rect">
            <a:avLst/>
          </a:prstGeom>
          <a:noFill/>
        </p:spPr>
        <p:txBody>
          <a:bodyPr wrap="square">
            <a:spAutoFit/>
          </a:bodyPr>
          <a:lstStyle/>
          <a:p>
            <a:pPr algn="ctr"/>
            <a:r>
              <a:rPr sz="2000" b="1">
                <a:solidFill>
                  <a:srgbClr val="1A1A2E"/>
                </a:solidFill>
              </a:rPr>
              <a:t>三级</a:t>
            </a:r>
          </a:p>
        </p:txBody>
      </p:sp>
      <p:sp>
        <p:nvSpPr>
          <p:cNvPr id="19" name="TextBox 18"/>
          <p:cNvSpPr txBox="1"/>
          <p:nvPr/>
        </p:nvSpPr>
        <p:spPr>
          <a:xfrm>
            <a:off x="9144000" y="5029200"/>
            <a:ext cx="2468880" cy="1188720"/>
          </a:xfrm>
          <a:prstGeom prst="rect">
            <a:avLst/>
          </a:prstGeom>
          <a:noFill/>
        </p:spPr>
        <p:txBody>
          <a:bodyPr wrap="square">
            <a:spAutoFit/>
          </a:bodyPr>
          <a:lstStyle/>
          <a:p>
            <a:pPr algn="ctr"/>
            <a:r>
              <a:rPr sz="1200" b="0">
                <a:solidFill>
                  <a:srgbClr val="1A1A2E"/>
                </a:solidFill>
              </a:rPr>
              <a:t>严重超限，立即处置</a:t>
            </a:r>
          </a:p>
        </p:txBody>
      </p:sp>
      <p:sp>
        <p:nvSpPr>
          <p:cNvPr id="20" name="Rectangle 19"/>
          <p:cNvSpPr/>
          <p:nvPr/>
        </p:nvSpPr>
        <p:spPr>
          <a:xfrm>
            <a:off x="0" y="6492240"/>
            <a:ext cx="12188952" cy="365760"/>
          </a:xfrm>
          <a:prstGeom prst="rect">
            <a:avLst/>
          </a:prstGeom>
          <a:solidFill>
            <a:srgbClr val="1126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5760" y="6519672"/>
            <a:ext cx="4572000" cy="320040"/>
          </a:xfrm>
          <a:prstGeom prst="rect">
            <a:avLst/>
          </a:prstGeom>
          <a:noFill/>
        </p:spPr>
        <p:txBody>
          <a:bodyPr wrap="square">
            <a:spAutoFit/>
          </a:bodyPr>
          <a:lstStyle/>
          <a:p>
            <a:pPr algn="l"/>
            <a:r>
              <a:rPr sz="1000" b="0">
                <a:solidFill>
                  <a:srgbClr val="A0B4CC"/>
                </a:solidFill>
              </a:rPr>
              <a:t>铁路线路智能综合检测机器人</a:t>
            </a:r>
          </a:p>
        </p:txBody>
      </p:sp>
      <p:sp>
        <p:nvSpPr>
          <p:cNvPr id="22" name="TextBox 21"/>
          <p:cNvSpPr txBox="1"/>
          <p:nvPr/>
        </p:nvSpPr>
        <p:spPr>
          <a:xfrm>
            <a:off x="10972800" y="6519672"/>
            <a:ext cx="1005840" cy="320040"/>
          </a:xfrm>
          <a:prstGeom prst="rect">
            <a:avLst/>
          </a:prstGeom>
          <a:noFill/>
        </p:spPr>
        <p:txBody>
          <a:bodyPr wrap="square">
            <a:spAutoFit/>
          </a:bodyPr>
          <a:lstStyle/>
          <a:p>
            <a:pPr algn="r"/>
            <a:r>
              <a:rPr sz="1000" b="0">
                <a:solidFill>
                  <a:srgbClr val="A0B4CC"/>
                </a:solidFill>
              </a:rPr>
              <a:t>13 / 28</a:t>
            </a:r>
          </a:p>
        </p:txBody>
      </p:sp>
      <p:sp>
        <p:nvSpPr>
          <p:cNvPr id="23" name="Rectangle 22"/>
          <p:cNvSpPr/>
          <p:nvPr/>
        </p:nvSpPr>
        <p:spPr>
          <a:xfrm>
            <a:off x="0" y="6492240"/>
            <a:ext cx="12188952" cy="365760"/>
          </a:xfrm>
          <a:prstGeom prst="rect">
            <a:avLst/>
          </a:prstGeom>
          <a:solidFill>
            <a:srgbClr val="1126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65760" y="6519672"/>
            <a:ext cx="4572000" cy="320040"/>
          </a:xfrm>
          <a:prstGeom prst="rect">
            <a:avLst/>
          </a:prstGeom>
          <a:noFill/>
        </p:spPr>
        <p:txBody>
          <a:bodyPr wrap="square">
            <a:spAutoFit/>
          </a:bodyPr>
          <a:lstStyle/>
          <a:p>
            <a:pPr algn="l"/>
            <a:r>
              <a:rPr sz="1000" b="0">
                <a:solidFill>
                  <a:srgbClr val="A0B4CC"/>
                </a:solidFill>
              </a:rPr>
              <a:t>铁路线路智能综合检测机器人</a:t>
            </a:r>
          </a:p>
        </p:txBody>
      </p:sp>
      <p:sp>
        <p:nvSpPr>
          <p:cNvPr id="25" name="TextBox 24"/>
          <p:cNvSpPr txBox="1"/>
          <p:nvPr/>
        </p:nvSpPr>
        <p:spPr>
          <a:xfrm>
            <a:off x="10972800" y="6519672"/>
            <a:ext cx="1005840" cy="320040"/>
          </a:xfrm>
          <a:prstGeom prst="rect">
            <a:avLst/>
          </a:prstGeom>
          <a:noFill/>
        </p:spPr>
        <p:txBody>
          <a:bodyPr wrap="square">
            <a:spAutoFit/>
          </a:bodyPr>
          <a:lstStyle/>
          <a:p>
            <a:pPr algn="r"/>
            <a:r>
              <a:rPr sz="1000" b="0">
                <a:solidFill>
                  <a:srgbClr val="A0B4CC"/>
                </a:solidFill>
              </a:rPr>
              <a:t>14 / 28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C1D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20040" cy="6858000"/>
          </a:xfrm>
          <a:prstGeom prst="rect">
            <a:avLst/>
          </a:prstGeom>
          <a:solidFill>
            <a:srgbClr val="00C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0" y="3474720"/>
            <a:ext cx="4572000" cy="50800"/>
          </a:xfrm>
          <a:prstGeom prst="rect">
            <a:avLst/>
          </a:prstGeom>
          <a:solidFill>
            <a:srgbClr val="00C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828800"/>
            <a:ext cx="10515600" cy="1371600"/>
          </a:xfrm>
          <a:prstGeom prst="rect">
            <a:avLst/>
          </a:prstGeom>
          <a:noFill/>
        </p:spPr>
        <p:txBody>
          <a:bodyPr wrap="square">
            <a:spAutoFit/>
          </a:bodyPr>
          <a:lstStyle/>
          <a:p>
            <a:pPr algn="l"/>
            <a:r>
              <a:rPr sz="4400" b="1">
                <a:solidFill>
                  <a:srgbClr val="FFFFFF"/>
                </a:solidFill>
              </a:rPr>
              <a:t>05</a:t>
            </a:r>
          </a:p>
        </p:txBody>
      </p:sp>
      <p:sp>
        <p:nvSpPr>
          <p:cNvPr id="6" name="TextBox 5"/>
          <p:cNvSpPr txBox="1"/>
          <p:nvPr/>
        </p:nvSpPr>
        <p:spPr>
          <a:xfrm>
            <a:off x="548640" y="3566160"/>
            <a:ext cx="10515600" cy="548640"/>
          </a:xfrm>
          <a:prstGeom prst="rect">
            <a:avLst/>
          </a:prstGeom>
          <a:noFill/>
        </p:spPr>
        <p:txBody>
          <a:bodyPr wrap="square">
            <a:spAutoFit/>
          </a:bodyPr>
          <a:lstStyle/>
          <a:p>
            <a:pPr algn="l"/>
            <a:r>
              <a:rPr sz="1800" b="0">
                <a:solidFill>
                  <a:srgbClr val="A0B4CC"/>
                </a:solidFill>
              </a:rPr>
              <a:t>效率与数据优势</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C1D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280160"/>
          </a:xfrm>
          <a:prstGeom prst="rect">
            <a:avLst/>
          </a:prstGeom>
          <a:solidFill>
            <a:srgbClr val="1126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280160"/>
            <a:ext cx="12188952" cy="45720"/>
          </a:xfrm>
          <a:prstGeom prst="rect">
            <a:avLst/>
          </a:prstGeom>
          <a:solidFill>
            <a:srgbClr val="00C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82880"/>
            <a:ext cx="11430000" cy="914400"/>
          </a:xfrm>
          <a:prstGeom prst="rect">
            <a:avLst/>
          </a:prstGeom>
          <a:noFill/>
        </p:spPr>
        <p:txBody>
          <a:bodyPr wrap="square">
            <a:spAutoFit/>
          </a:bodyPr>
          <a:lstStyle/>
          <a:p>
            <a:pPr algn="l"/>
            <a:r>
              <a:rPr sz="2800" b="1">
                <a:solidFill>
                  <a:srgbClr val="FFFFFF"/>
                </a:solidFill>
              </a:rPr>
              <a:t>效率提升 50~60 倍</a:t>
            </a:r>
          </a:p>
        </p:txBody>
      </p:sp>
      <p:sp>
        <p:nvSpPr>
          <p:cNvPr id="6" name="TextBox 5"/>
          <p:cNvSpPr txBox="1"/>
          <p:nvPr/>
        </p:nvSpPr>
        <p:spPr>
          <a:xfrm>
            <a:off x="365760" y="914400"/>
            <a:ext cx="11430000" cy="320040"/>
          </a:xfrm>
          <a:prstGeom prst="rect">
            <a:avLst/>
          </a:prstGeom>
          <a:noFill/>
        </p:spPr>
        <p:txBody>
          <a:bodyPr wrap="square">
            <a:spAutoFit/>
          </a:bodyPr>
          <a:lstStyle/>
          <a:p>
            <a:pPr algn="l"/>
            <a:r>
              <a:rPr sz="1300" b="0">
                <a:solidFill>
                  <a:srgbClr val="A0B4CC"/>
                </a:solidFill>
              </a:rPr>
              <a:t>不是"快一点"，而是质的飞跃</a:t>
            </a:r>
          </a:p>
        </p:txBody>
      </p:sp>
      <p:graphicFrame>
        <p:nvGraphicFramePr>
          <p:cNvPr id="7" name="Table 6"/>
          <p:cNvGraphicFramePr>
            <a:graphicFrameLocks noGrp="1"/>
          </p:cNvGraphicFramePr>
          <p:nvPr/>
        </p:nvGraphicFramePr>
        <p:xfrm>
          <a:off x="914400" y="1508760"/>
          <a:ext cx="10332720" cy="3931920"/>
        </p:xfrm>
        <a:graphic>
          <a:graphicData uri="http://schemas.openxmlformats.org/drawingml/2006/table">
            <a:tbl>
              <a:tblPr firstRow="1" bandRow="1">
                <a:tableStyleId>{5C22544A-7EE6-4342-B048-85BDC9FD1C3A}</a:tableStyleId>
              </a:tblPr>
              <a:tblGrid>
                <a:gridCol w="3444240"/>
                <a:gridCol w="3444240"/>
                <a:gridCol w="3444240"/>
              </a:tblGrid>
              <a:tr h="561702">
                <a:tc>
                  <a:txBody>
                    <a:bodyPr/>
                    <a:lstStyle/>
                    <a:p>
                      <a:pPr algn="ctr"/>
                      <a:r>
                        <a:t>对比维度</a:t>
                      </a:r>
                      <a:r>
                        <a:rPr sz="1200" b="1">
                          <a:solidFill>
                            <a:srgbClr val="00C4FF"/>
                          </a:solidFill>
                        </a:rPr>
                        <a:t>对比维度</a:t>
                      </a:r>
                    </a:p>
                  </a:txBody>
                  <a:tcPr>
                    <a:solidFill>
                      <a:srgbClr val="11264E"/>
                    </a:solidFill>
                  </a:tcPr>
                </a:tc>
                <a:tc>
                  <a:txBody>
                    <a:bodyPr/>
                    <a:lstStyle/>
                    <a:p>
                      <a:pPr algn="ctr"/>
                      <a:r>
                        <a:t>人工巡检</a:t>
                      </a:r>
                      <a:r>
                        <a:rPr sz="1200" b="1">
                          <a:solidFill>
                            <a:srgbClr val="00C4FF"/>
                          </a:solidFill>
                        </a:rPr>
                        <a:t>人工巡检</a:t>
                      </a:r>
                    </a:p>
                  </a:txBody>
                  <a:tcPr>
                    <a:solidFill>
                      <a:srgbClr val="11264E"/>
                    </a:solidFill>
                  </a:tcPr>
                </a:tc>
                <a:tc>
                  <a:txBody>
                    <a:bodyPr/>
                    <a:lstStyle/>
                    <a:p>
                      <a:pPr algn="ctr"/>
                      <a:r>
                        <a:t>本产品</a:t>
                      </a:r>
                      <a:r>
                        <a:rPr sz="1200" b="1">
                          <a:solidFill>
                            <a:srgbClr val="00C4FF"/>
                          </a:solidFill>
                        </a:rPr>
                        <a:t>本产品</a:t>
                      </a:r>
                    </a:p>
                  </a:txBody>
                  <a:tcPr>
                    <a:solidFill>
                      <a:srgbClr val="11264E"/>
                    </a:solidFill>
                  </a:tcPr>
                </a:tc>
              </a:tr>
              <a:tr h="561702">
                <a:tc>
                  <a:txBody>
                    <a:bodyPr/>
                    <a:lstStyle/>
                    <a:p>
                      <a:pPr algn="ctr"/>
                      <a:r>
                        <a:t>运行速度</a:t>
                      </a:r>
                      <a:r>
                        <a:rPr sz="1100">
                          <a:solidFill>
                            <a:srgbClr val="FFFFFF"/>
                          </a:solidFill>
                        </a:rPr>
                        <a:t>运行速度</a:t>
                      </a:r>
                    </a:p>
                  </a:txBody>
                  <a:tcPr>
                    <a:solidFill>
                      <a:srgbClr val="11264E"/>
                    </a:solidFill>
                  </a:tcPr>
                </a:tc>
                <a:tc>
                  <a:txBody>
                    <a:bodyPr/>
                    <a:lstStyle/>
                    <a:p>
                      <a:pPr algn="ctr"/>
                      <a:r>
                        <a:t>1.1~1.5 km/h</a:t>
                      </a:r>
                      <a:r>
                        <a:rPr sz="1100">
                          <a:solidFill>
                            <a:srgbClr val="FFFFFF"/>
                          </a:solidFill>
                        </a:rPr>
                        <a:t>1.1~1.5 km/h</a:t>
                      </a:r>
                    </a:p>
                  </a:txBody>
                  <a:tcPr>
                    <a:solidFill>
                      <a:srgbClr val="11264E"/>
                    </a:solidFill>
                  </a:tcPr>
                </a:tc>
                <a:tc>
                  <a:txBody>
                    <a:bodyPr/>
                    <a:lstStyle/>
                    <a:p>
                      <a:pPr algn="ctr"/>
                      <a:r>
                        <a:t>3.6 km/h（是人工 2.5~3 倍）</a:t>
                      </a:r>
                      <a:r>
                        <a:rPr sz="1100">
                          <a:solidFill>
                            <a:srgbClr val="FFFFFF"/>
                          </a:solidFill>
                        </a:rPr>
                        <a:t>3.6 km/h（是人工 2.5~3 倍）</a:t>
                      </a:r>
                    </a:p>
                  </a:txBody>
                  <a:tcPr>
                    <a:solidFill>
                      <a:srgbClr val="11264E"/>
                    </a:solidFill>
                  </a:tcPr>
                </a:tc>
              </a:tr>
              <a:tr h="561702">
                <a:tc>
                  <a:txBody>
                    <a:bodyPr/>
                    <a:lstStyle/>
                    <a:p>
                      <a:pPr algn="ctr"/>
                      <a:r>
                        <a:t>夜间作业</a:t>
                      </a:r>
                      <a:r>
                        <a:rPr sz="1100">
                          <a:solidFill>
                            <a:srgbClr val="FFFFFF"/>
                          </a:solidFill>
                        </a:rPr>
                        <a:t>夜间作业</a:t>
                      </a:r>
                    </a:p>
                  </a:txBody>
                  <a:tcPr>
                    <a:solidFill>
                      <a:srgbClr val="16305A"/>
                    </a:solidFill>
                  </a:tcPr>
                </a:tc>
                <a:tc>
                  <a:txBody>
                    <a:bodyPr/>
                    <a:lstStyle/>
                    <a:p>
                      <a:pPr algn="ctr"/>
                      <a:r>
                        <a:t>不可行</a:t>
                      </a:r>
                      <a:r>
                        <a:rPr sz="1100">
                          <a:solidFill>
                            <a:srgbClr val="FFFFFF"/>
                          </a:solidFill>
                        </a:rPr>
                        <a:t>不可行</a:t>
                      </a:r>
                    </a:p>
                  </a:txBody>
                  <a:tcPr>
                    <a:solidFill>
                      <a:srgbClr val="16305A"/>
                    </a:solidFill>
                  </a:tcPr>
                </a:tc>
                <a:tc>
                  <a:txBody>
                    <a:bodyPr/>
                    <a:lstStyle/>
                    <a:p>
                      <a:pPr algn="ctr"/>
                      <a:r>
                        <a:t>可行，全天候连续</a:t>
                      </a:r>
                      <a:r>
                        <a:rPr sz="1100">
                          <a:solidFill>
                            <a:srgbClr val="FFFFFF"/>
                          </a:solidFill>
                        </a:rPr>
                        <a:t>可行，全天候连续</a:t>
                      </a:r>
                    </a:p>
                  </a:txBody>
                  <a:tcPr>
                    <a:solidFill>
                      <a:srgbClr val="16305A"/>
                    </a:solidFill>
                  </a:tcPr>
                </a:tc>
              </a:tr>
              <a:tr h="561702">
                <a:tc>
                  <a:txBody>
                    <a:bodyPr/>
                    <a:lstStyle/>
                    <a:p>
                      <a:pPr algn="ctr"/>
                      <a:r>
                        <a:t>多设备切换</a:t>
                      </a:r>
                      <a:r>
                        <a:rPr sz="1100">
                          <a:solidFill>
                            <a:srgbClr val="FFFFFF"/>
                          </a:solidFill>
                        </a:rPr>
                        <a:t>多设备切换</a:t>
                      </a:r>
                    </a:p>
                  </a:txBody>
                  <a:tcPr>
                    <a:solidFill>
                      <a:srgbClr val="11264E"/>
                    </a:solidFill>
                  </a:tcPr>
                </a:tc>
                <a:tc>
                  <a:txBody>
                    <a:bodyPr/>
                    <a:lstStyle/>
                    <a:p>
                      <a:pPr algn="ctr"/>
                      <a:r>
                        <a:t>需要，多次出动</a:t>
                      </a:r>
                      <a:r>
                        <a:rPr sz="1100">
                          <a:solidFill>
                            <a:srgbClr val="FFFFFF"/>
                          </a:solidFill>
                        </a:rPr>
                        <a:t>需要，多次出动</a:t>
                      </a:r>
                    </a:p>
                  </a:txBody>
                  <a:tcPr>
                    <a:solidFill>
                      <a:srgbClr val="11264E"/>
                    </a:solidFill>
                  </a:tcPr>
                </a:tc>
                <a:tc>
                  <a:txBody>
                    <a:bodyPr/>
                    <a:lstStyle/>
                    <a:p>
                      <a:pPr algn="ctr"/>
                      <a:r>
                        <a:t>不需要，一次完成全部</a:t>
                      </a:r>
                      <a:r>
                        <a:rPr sz="1100">
                          <a:solidFill>
                            <a:srgbClr val="FFFFFF"/>
                          </a:solidFill>
                        </a:rPr>
                        <a:t>不需要，一次完成全部</a:t>
                      </a:r>
                    </a:p>
                  </a:txBody>
                  <a:tcPr>
                    <a:solidFill>
                      <a:srgbClr val="11264E"/>
                    </a:solidFill>
                  </a:tcPr>
                </a:tc>
              </a:tr>
              <a:tr h="561702">
                <a:tc>
                  <a:txBody>
                    <a:bodyPr/>
                    <a:lstStyle/>
                    <a:p>
                      <a:pPr algn="ctr"/>
                      <a:r>
                        <a:t>人工看图时间</a:t>
                      </a:r>
                      <a:r>
                        <a:rPr sz="1100">
                          <a:solidFill>
                            <a:srgbClr val="FFFFFF"/>
                          </a:solidFill>
                        </a:rPr>
                        <a:t>人工看图时间</a:t>
                      </a:r>
                    </a:p>
                  </a:txBody>
                  <a:tcPr>
                    <a:solidFill>
                      <a:srgbClr val="16305A"/>
                    </a:solidFill>
                  </a:tcPr>
                </a:tc>
                <a:tc>
                  <a:txBody>
                    <a:bodyPr/>
                    <a:lstStyle/>
                    <a:p>
                      <a:pPr algn="ctr"/>
                      <a:r>
                        <a:t>大量人员长时间</a:t>
                      </a:r>
                      <a:r>
                        <a:rPr sz="1100">
                          <a:solidFill>
                            <a:srgbClr val="FFFFFF"/>
                          </a:solidFill>
                        </a:rPr>
                        <a:t>大量人员长时间</a:t>
                      </a:r>
                    </a:p>
                  </a:txBody>
                  <a:tcPr>
                    <a:solidFill>
                      <a:srgbClr val="16305A"/>
                    </a:solidFill>
                  </a:tcPr>
                </a:tc>
                <a:tc>
                  <a:txBody>
                    <a:bodyPr/>
                    <a:lstStyle/>
                    <a:p>
                      <a:pPr algn="ctr"/>
                      <a:r>
                        <a:t>AI 秒级自动识别</a:t>
                      </a:r>
                      <a:r>
                        <a:rPr sz="1100">
                          <a:solidFill>
                            <a:srgbClr val="FFFFFF"/>
                          </a:solidFill>
                        </a:rPr>
                        <a:t>AI 秒级自动识别</a:t>
                      </a:r>
                    </a:p>
                  </a:txBody>
                  <a:tcPr>
                    <a:solidFill>
                      <a:srgbClr val="16305A"/>
                    </a:solidFill>
                  </a:tcPr>
                </a:tc>
              </a:tr>
              <a:tr h="561702">
                <a:tc>
                  <a:txBody>
                    <a:bodyPr/>
                    <a:lstStyle/>
                    <a:p>
                      <a:pPr algn="ctr"/>
                      <a:r>
                        <a:t>每日检测里程</a:t>
                      </a:r>
                      <a:r>
                        <a:rPr sz="1100">
                          <a:solidFill>
                            <a:srgbClr val="FFFFFF"/>
                          </a:solidFill>
                        </a:rPr>
                        <a:t>每日检测里程</a:t>
                      </a:r>
                    </a:p>
                  </a:txBody>
                  <a:tcPr>
                    <a:solidFill>
                      <a:srgbClr val="11264E"/>
                    </a:solidFill>
                  </a:tcPr>
                </a:tc>
                <a:tc>
                  <a:txBody>
                    <a:bodyPr/>
                    <a:lstStyle/>
                    <a:p>
                      <a:pPr algn="ctr"/>
                      <a:r>
                        <a:t>约 3 km（疲劳限制）</a:t>
                      </a:r>
                      <a:r>
                        <a:rPr sz="1100">
                          <a:solidFill>
                            <a:srgbClr val="FFFFFF"/>
                          </a:solidFill>
                        </a:rPr>
                        <a:t>约 3 km（疲劳限制）</a:t>
                      </a:r>
                    </a:p>
                  </a:txBody>
                  <a:tcPr>
                    <a:solidFill>
                      <a:srgbClr val="11264E"/>
                    </a:solidFill>
                  </a:tcPr>
                </a:tc>
                <a:tc>
                  <a:txBody>
                    <a:bodyPr/>
                    <a:lstStyle/>
                    <a:p>
                      <a:pPr algn="ctr"/>
                      <a:r>
                        <a:t>约 6 km（2小时稳定运行）</a:t>
                      </a:r>
                      <a:r>
                        <a:rPr sz="1100">
                          <a:solidFill>
                            <a:srgbClr val="FFFFFF"/>
                          </a:solidFill>
                        </a:rPr>
                        <a:t>约 6 km（2小时稳定运行）</a:t>
                      </a:r>
                    </a:p>
                  </a:txBody>
                  <a:tcPr>
                    <a:solidFill>
                      <a:srgbClr val="11264E"/>
                    </a:solidFill>
                  </a:tcPr>
                </a:tc>
              </a:tr>
              <a:tr h="561708">
                <a:tc>
                  <a:txBody>
                    <a:bodyPr/>
                    <a:lstStyle/>
                    <a:p>
                      <a:pPr algn="ctr"/>
                      <a:r>
                        <a:t>综合效率</a:t>
                      </a:r>
                      <a:r>
                        <a:rPr sz="1100">
                          <a:solidFill>
                            <a:srgbClr val="FFFFFF"/>
                          </a:solidFill>
                        </a:rPr>
                        <a:t>综合效率</a:t>
                      </a:r>
                    </a:p>
                  </a:txBody>
                  <a:tcPr>
                    <a:solidFill>
                      <a:srgbClr val="16305A"/>
                    </a:solidFill>
                  </a:tcPr>
                </a:tc>
                <a:tc>
                  <a:txBody>
                    <a:bodyPr/>
                    <a:lstStyle/>
                    <a:p>
                      <a:pPr algn="ctr"/>
                      <a:r>
                        <a:t>基准</a:t>
                      </a:r>
                      <a:r>
                        <a:rPr sz="1100">
                          <a:solidFill>
                            <a:srgbClr val="FFFFFF"/>
                          </a:solidFill>
                        </a:rPr>
                        <a:t>基准</a:t>
                      </a:r>
                    </a:p>
                  </a:txBody>
                  <a:tcPr>
                    <a:solidFill>
                      <a:srgbClr val="16305A"/>
                    </a:solidFill>
                  </a:tcPr>
                </a:tc>
                <a:tc>
                  <a:txBody>
                    <a:bodyPr/>
                    <a:lstStyle/>
                    <a:p>
                      <a:pPr algn="ctr"/>
                      <a:r>
                        <a:t>约 50~60 倍提升</a:t>
                      </a:r>
                      <a:r>
                        <a:rPr sz="1100">
                          <a:solidFill>
                            <a:srgbClr val="FFFFFF"/>
                          </a:solidFill>
                        </a:rPr>
                        <a:t>约 50~60 倍提升</a:t>
                      </a:r>
                    </a:p>
                  </a:txBody>
                  <a:tcPr>
                    <a:solidFill>
                      <a:srgbClr val="16305A"/>
                    </a:solidFill>
                  </a:tcPr>
                </a:tc>
              </a:tr>
            </a:tbl>
          </a:graphicData>
        </a:graphic>
      </p:graphicFrame>
      <p:sp>
        <p:nvSpPr>
          <p:cNvPr id="8" name="Rectangle 7"/>
          <p:cNvSpPr/>
          <p:nvPr/>
        </p:nvSpPr>
        <p:spPr>
          <a:xfrm>
            <a:off x="914400" y="5577840"/>
            <a:ext cx="10332720" cy="502920"/>
          </a:xfrm>
          <a:prstGeom prst="rect">
            <a:avLst/>
          </a:prstGeom>
          <a:solidFill>
            <a:srgbClr val="0050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5596128"/>
            <a:ext cx="9966960" cy="457200"/>
          </a:xfrm>
          <a:prstGeom prst="rect">
            <a:avLst/>
          </a:prstGeom>
          <a:noFill/>
        </p:spPr>
        <p:txBody>
          <a:bodyPr wrap="square">
            <a:spAutoFit/>
          </a:bodyPr>
          <a:lstStyle/>
          <a:p>
            <a:pPr algn="l"/>
            <a:r>
              <a:rPr sz="1600" b="1">
                <a:solidFill>
                  <a:srgbClr val="FFFFFF"/>
                </a:solidFill>
              </a:rPr>
              <a:t>核心结论：同等检测里程，人工需要约 50~60 倍时间</a:t>
            </a:r>
          </a:p>
        </p:txBody>
      </p:sp>
      <p:sp>
        <p:nvSpPr>
          <p:cNvPr id="10" name="Rectangle 9"/>
          <p:cNvSpPr/>
          <p:nvPr/>
        </p:nvSpPr>
        <p:spPr>
          <a:xfrm>
            <a:off x="0" y="6492240"/>
            <a:ext cx="12188952" cy="365760"/>
          </a:xfrm>
          <a:prstGeom prst="rect">
            <a:avLst/>
          </a:prstGeom>
          <a:solidFill>
            <a:srgbClr val="1126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 y="6519672"/>
            <a:ext cx="4572000" cy="320040"/>
          </a:xfrm>
          <a:prstGeom prst="rect">
            <a:avLst/>
          </a:prstGeom>
          <a:noFill/>
        </p:spPr>
        <p:txBody>
          <a:bodyPr wrap="square">
            <a:spAutoFit/>
          </a:bodyPr>
          <a:lstStyle/>
          <a:p>
            <a:pPr algn="l"/>
            <a:r>
              <a:rPr sz="1000" b="0">
                <a:solidFill>
                  <a:srgbClr val="A0B4CC"/>
                </a:solidFill>
              </a:rPr>
              <a:t>铁路线路智能综合检测机器人</a:t>
            </a:r>
          </a:p>
        </p:txBody>
      </p:sp>
      <p:sp>
        <p:nvSpPr>
          <p:cNvPr id="12" name="TextBox 11"/>
          <p:cNvSpPr txBox="1"/>
          <p:nvPr/>
        </p:nvSpPr>
        <p:spPr>
          <a:xfrm>
            <a:off x="10972800" y="6519672"/>
            <a:ext cx="1005840" cy="320040"/>
          </a:xfrm>
          <a:prstGeom prst="rect">
            <a:avLst/>
          </a:prstGeom>
          <a:noFill/>
        </p:spPr>
        <p:txBody>
          <a:bodyPr wrap="square">
            <a:spAutoFit/>
          </a:bodyPr>
          <a:lstStyle/>
          <a:p>
            <a:pPr algn="r"/>
            <a:r>
              <a:rPr sz="1000" b="0">
                <a:solidFill>
                  <a:srgbClr val="A0B4CC"/>
                </a:solidFill>
              </a:rPr>
              <a:t>15 / 28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C1D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280160"/>
          </a:xfrm>
          <a:prstGeom prst="rect">
            <a:avLst/>
          </a:prstGeom>
          <a:solidFill>
            <a:srgbClr val="1126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280160"/>
            <a:ext cx="12188952" cy="45720"/>
          </a:xfrm>
          <a:prstGeom prst="rect">
            <a:avLst/>
          </a:prstGeom>
          <a:solidFill>
            <a:srgbClr val="00C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82880"/>
            <a:ext cx="11430000" cy="914400"/>
          </a:xfrm>
          <a:prstGeom prst="rect">
            <a:avLst/>
          </a:prstGeom>
          <a:noFill/>
        </p:spPr>
        <p:txBody>
          <a:bodyPr wrap="square">
            <a:spAutoFit/>
          </a:bodyPr>
          <a:lstStyle/>
          <a:p>
            <a:pPr algn="l"/>
            <a:r>
              <a:rPr sz="2800" b="1">
                <a:solidFill>
                  <a:srgbClr val="FFFFFF"/>
                </a:solidFill>
              </a:rPr>
              <a:t>数据真实可靠，规避人工弱点</a:t>
            </a:r>
          </a:p>
        </p:txBody>
      </p:sp>
      <p:graphicFrame>
        <p:nvGraphicFramePr>
          <p:cNvPr id="6" name="Table 5"/>
          <p:cNvGraphicFramePr>
            <a:graphicFrameLocks noGrp="1"/>
          </p:cNvGraphicFramePr>
          <p:nvPr/>
        </p:nvGraphicFramePr>
        <p:xfrm>
          <a:off x="1371600" y="1508760"/>
          <a:ext cx="9418320" cy="4846320"/>
        </p:xfrm>
        <a:graphic>
          <a:graphicData uri="http://schemas.openxmlformats.org/drawingml/2006/table">
            <a:tbl>
              <a:tblPr firstRow="1" bandRow="1">
                <a:tableStyleId>{5C22544A-7EE6-4342-B048-85BDC9FD1C3A}</a:tableStyleId>
              </a:tblPr>
              <a:tblGrid>
                <a:gridCol w="4709160"/>
                <a:gridCol w="4709160"/>
              </a:tblGrid>
              <a:tr h="692331">
                <a:tc>
                  <a:txBody>
                    <a:bodyPr/>
                    <a:lstStyle/>
                    <a:p>
                      <a:pPr algn="ctr"/>
                      <a:r>
                        <a:t>人工巡检弱点</a:t>
                      </a:r>
                      <a:r>
                        <a:rPr sz="1200" b="1">
                          <a:solidFill>
                            <a:srgbClr val="00C4FF"/>
                          </a:solidFill>
                        </a:rPr>
                        <a:t>人工巡检弱点</a:t>
                      </a:r>
                    </a:p>
                  </a:txBody>
                  <a:tcPr>
                    <a:solidFill>
                      <a:srgbClr val="11264E"/>
                    </a:solidFill>
                  </a:tcPr>
                </a:tc>
                <a:tc>
                  <a:txBody>
                    <a:bodyPr/>
                    <a:lstStyle/>
                    <a:p>
                      <a:pPr algn="ctr"/>
                      <a:r>
                        <a:t>本产品解决方案</a:t>
                      </a:r>
                      <a:r>
                        <a:rPr sz="1200" b="1">
                          <a:solidFill>
                            <a:srgbClr val="00C4FF"/>
                          </a:solidFill>
                        </a:rPr>
                        <a:t>本产品解决方案</a:t>
                      </a:r>
                    </a:p>
                  </a:txBody>
                  <a:tcPr>
                    <a:solidFill>
                      <a:srgbClr val="11264E"/>
                    </a:solidFill>
                  </a:tcPr>
                </a:tc>
              </a:tr>
              <a:tr h="692331">
                <a:tc>
                  <a:txBody>
                    <a:bodyPr/>
                    <a:lstStyle/>
                    <a:p>
                      <a:pPr algn="ctr"/>
                      <a:r>
                        <a:t>人员状态波动（疲劳/情绪）</a:t>
                      </a:r>
                      <a:r>
                        <a:rPr sz="1100">
                          <a:solidFill>
                            <a:srgbClr val="FFFFFF"/>
                          </a:solidFill>
                        </a:rPr>
                        <a:t>人员状态波动（疲劳/情绪）</a:t>
                      </a:r>
                    </a:p>
                  </a:txBody>
                  <a:tcPr>
                    <a:solidFill>
                      <a:srgbClr val="11264E"/>
                    </a:solidFill>
                  </a:tcPr>
                </a:tc>
                <a:tc>
                  <a:txBody>
                    <a:bodyPr/>
                    <a:lstStyle/>
                    <a:p>
                      <a:pPr algn="ctr"/>
                      <a:r>
                        <a:t>传感器 7x24 稳定，性能无波动</a:t>
                      </a:r>
                      <a:r>
                        <a:rPr sz="1100">
                          <a:solidFill>
                            <a:srgbClr val="FFFFFF"/>
                          </a:solidFill>
                        </a:rPr>
                        <a:t>传感器 7x24 稳定，性能无波动</a:t>
                      </a:r>
                    </a:p>
                  </a:txBody>
                  <a:tcPr>
                    <a:solidFill>
                      <a:srgbClr val="11264E"/>
                    </a:solidFill>
                  </a:tcPr>
                </a:tc>
              </a:tr>
              <a:tr h="692331">
                <a:tc>
                  <a:txBody>
                    <a:bodyPr/>
                    <a:lstStyle/>
                    <a:p>
                      <a:pPr algn="ctr"/>
                      <a:r>
                        <a:t>经验水平差异</a:t>
                      </a:r>
                      <a:r>
                        <a:rPr sz="1100">
                          <a:solidFill>
                            <a:srgbClr val="FFFFFF"/>
                          </a:solidFill>
                        </a:rPr>
                        <a:t>经验水平差异</a:t>
                      </a:r>
                    </a:p>
                  </a:txBody>
                  <a:tcPr>
                    <a:solidFill>
                      <a:srgbClr val="16305A"/>
                    </a:solidFill>
                  </a:tcPr>
                </a:tc>
                <a:tc>
                  <a:txBody>
                    <a:bodyPr/>
                    <a:lstStyle/>
                    <a:p>
                      <a:pPr algn="ctr"/>
                      <a:r>
                        <a:t>AI 模型统一标准，结果客观一致</a:t>
                      </a:r>
                      <a:r>
                        <a:rPr sz="1100">
                          <a:solidFill>
                            <a:srgbClr val="FFFFFF"/>
                          </a:solidFill>
                        </a:rPr>
                        <a:t>AI 模型统一标准，结果客观一致</a:t>
                      </a:r>
                    </a:p>
                  </a:txBody>
                  <a:tcPr>
                    <a:solidFill>
                      <a:srgbClr val="16305A"/>
                    </a:solidFill>
                  </a:tcPr>
                </a:tc>
              </a:tr>
              <a:tr h="692331">
                <a:tc>
                  <a:txBody>
                    <a:bodyPr/>
                    <a:lstStyle/>
                    <a:p>
                      <a:pPr algn="ctr"/>
                      <a:r>
                        <a:t>主观判断偏差</a:t>
                      </a:r>
                      <a:r>
                        <a:rPr sz="1100">
                          <a:solidFill>
                            <a:srgbClr val="FFFFFF"/>
                          </a:solidFill>
                        </a:rPr>
                        <a:t>主观判断偏差</a:t>
                      </a:r>
                    </a:p>
                  </a:txBody>
                  <a:tcPr>
                    <a:solidFill>
                      <a:srgbClr val="11264E"/>
                    </a:solidFill>
                  </a:tcPr>
                </a:tc>
                <a:tc>
                  <a:txBody>
                    <a:bodyPr/>
                    <a:lstStyle/>
                    <a:p>
                      <a:pPr algn="ctr"/>
                      <a:r>
                        <a:t>算法阈值客观判定，无人为随意性</a:t>
                      </a:r>
                      <a:r>
                        <a:rPr sz="1100">
                          <a:solidFill>
                            <a:srgbClr val="FFFFFF"/>
                          </a:solidFill>
                        </a:rPr>
                        <a:t>算法阈值客观判定，无人为随意性</a:t>
                      </a:r>
                    </a:p>
                  </a:txBody>
                  <a:tcPr>
                    <a:solidFill>
                      <a:srgbClr val="11264E"/>
                    </a:solidFill>
                  </a:tcPr>
                </a:tc>
              </a:tr>
              <a:tr h="692331">
                <a:tc>
                  <a:txBody>
                    <a:bodyPr/>
                    <a:lstStyle/>
                    <a:p>
                      <a:pPr algn="ctr"/>
                      <a:r>
                        <a:t>环境干扰（光线/天气）</a:t>
                      </a:r>
                      <a:r>
                        <a:rPr sz="1100">
                          <a:solidFill>
                            <a:srgbClr val="FFFFFF"/>
                          </a:solidFill>
                        </a:rPr>
                        <a:t>环境干扰（光线/天气）</a:t>
                      </a:r>
                    </a:p>
                  </a:txBody>
                  <a:tcPr>
                    <a:solidFill>
                      <a:srgbClr val="16305A"/>
                    </a:solidFill>
                  </a:tcPr>
                </a:tc>
                <a:tc>
                  <a:txBody>
                    <a:bodyPr/>
                    <a:lstStyle/>
                    <a:p>
                      <a:pPr algn="ctr"/>
                      <a:r>
                        <a:t>专用光源 + 主动激光，不受环境光影响</a:t>
                      </a:r>
                      <a:r>
                        <a:rPr sz="1100">
                          <a:solidFill>
                            <a:srgbClr val="FFFFFF"/>
                          </a:solidFill>
                        </a:rPr>
                        <a:t>专用光源 + 主动激光，不受环境光影响</a:t>
                      </a:r>
                    </a:p>
                  </a:txBody>
                  <a:tcPr>
                    <a:solidFill>
                      <a:srgbClr val="16305A"/>
                    </a:solidFill>
                  </a:tcPr>
                </a:tc>
              </a:tr>
              <a:tr h="692331">
                <a:tc>
                  <a:txBody>
                    <a:bodyPr/>
                    <a:lstStyle/>
                    <a:p>
                      <a:pPr algn="ctr"/>
                      <a:r>
                        <a:t>记录错误/遗漏</a:t>
                      </a:r>
                      <a:r>
                        <a:rPr sz="1100">
                          <a:solidFill>
                            <a:srgbClr val="FFFFFF"/>
                          </a:solidFill>
                        </a:rPr>
                        <a:t>记录错误/遗漏</a:t>
                      </a:r>
                    </a:p>
                  </a:txBody>
                  <a:tcPr>
                    <a:solidFill>
                      <a:srgbClr val="11264E"/>
                    </a:solidFill>
                  </a:tcPr>
                </a:tc>
                <a:tc>
                  <a:txBody>
                    <a:bodyPr/>
                    <a:lstStyle/>
                    <a:p>
                      <a:pPr algn="ctr"/>
                      <a:r>
                        <a:t>每帧数据自动记录，无人为疏漏</a:t>
                      </a:r>
                      <a:r>
                        <a:rPr sz="1100">
                          <a:solidFill>
                            <a:srgbClr val="FFFFFF"/>
                          </a:solidFill>
                        </a:rPr>
                        <a:t>每帧数据自动记录，无人为疏漏</a:t>
                      </a:r>
                    </a:p>
                  </a:txBody>
                  <a:tcPr>
                    <a:solidFill>
                      <a:srgbClr val="11264E"/>
                    </a:solidFill>
                  </a:tcPr>
                </a:tc>
              </a:tr>
              <a:tr h="692334">
                <a:tc>
                  <a:txBody>
                    <a:bodyPr/>
                    <a:lstStyle/>
                    <a:p>
                      <a:pPr algn="ctr"/>
                      <a:r>
                        <a:t>数据无法追溯</a:t>
                      </a:r>
                      <a:r>
                        <a:rPr sz="1100">
                          <a:solidFill>
                            <a:srgbClr val="FFFFFF"/>
                          </a:solidFill>
                        </a:rPr>
                        <a:t>数据无法追溯</a:t>
                      </a:r>
                    </a:p>
                  </a:txBody>
                  <a:tcPr>
                    <a:solidFill>
                      <a:srgbClr val="16305A"/>
                    </a:solidFill>
                  </a:tcPr>
                </a:tc>
                <a:tc>
                  <a:txBody>
                    <a:bodyPr/>
                    <a:lstStyle/>
                    <a:p>
                      <a:pPr algn="ctr"/>
                      <a:r>
                        <a:t>Frame ID + 里程 + 时间戳，完整可回放</a:t>
                      </a:r>
                      <a:r>
                        <a:rPr sz="1100">
                          <a:solidFill>
                            <a:srgbClr val="FFFFFF"/>
                          </a:solidFill>
                        </a:rPr>
                        <a:t>Frame ID + 里程 + 时间戳，完整可回放</a:t>
                      </a:r>
                    </a:p>
                  </a:txBody>
                  <a:tcPr>
                    <a:solidFill>
                      <a:srgbClr val="16305A"/>
                    </a:solidFill>
                  </a:tcPr>
                </a:tc>
              </a:tr>
            </a:tbl>
          </a:graphicData>
        </a:graphic>
      </p:graphicFrame>
      <p:sp>
        <p:nvSpPr>
          <p:cNvPr id="7" name="Rectangle 6"/>
          <p:cNvSpPr/>
          <p:nvPr/>
        </p:nvSpPr>
        <p:spPr>
          <a:xfrm>
            <a:off x="0" y="6492240"/>
            <a:ext cx="12188952" cy="365760"/>
          </a:xfrm>
          <a:prstGeom prst="rect">
            <a:avLst/>
          </a:prstGeom>
          <a:solidFill>
            <a:srgbClr val="1126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6519672"/>
            <a:ext cx="4572000" cy="320040"/>
          </a:xfrm>
          <a:prstGeom prst="rect">
            <a:avLst/>
          </a:prstGeom>
          <a:noFill/>
        </p:spPr>
        <p:txBody>
          <a:bodyPr wrap="square">
            <a:spAutoFit/>
          </a:bodyPr>
          <a:lstStyle/>
          <a:p>
            <a:pPr algn="l"/>
            <a:r>
              <a:rPr sz="1000" b="0">
                <a:solidFill>
                  <a:srgbClr val="A0B4CC"/>
                </a:solidFill>
              </a:rPr>
              <a:t>铁路线路智能综合检测机器人</a:t>
            </a:r>
          </a:p>
        </p:txBody>
      </p:sp>
      <p:sp>
        <p:nvSpPr>
          <p:cNvPr id="9" name="TextBox 8"/>
          <p:cNvSpPr txBox="1"/>
          <p:nvPr/>
        </p:nvSpPr>
        <p:spPr>
          <a:xfrm>
            <a:off x="10972800" y="6519672"/>
            <a:ext cx="1005840" cy="320040"/>
          </a:xfrm>
          <a:prstGeom prst="rect">
            <a:avLst/>
          </a:prstGeom>
          <a:noFill/>
        </p:spPr>
        <p:txBody>
          <a:bodyPr wrap="square">
            <a:spAutoFit/>
          </a:bodyPr>
          <a:lstStyle/>
          <a:p>
            <a:pPr algn="r"/>
            <a:r>
              <a:rPr sz="1000" b="0">
                <a:solidFill>
                  <a:srgbClr val="A0B4CC"/>
                </a:solidFill>
              </a:rPr>
              <a:t>16 / 28</a:t>
            </a:r>
          </a:p>
        </p:txBody>
      </p:sp>
      <p:sp>
        <p:nvSpPr>
          <p:cNvPr id="10" name="Rectangle 9"/>
          <p:cNvSpPr/>
          <p:nvPr/>
        </p:nvSpPr>
        <p:spPr>
          <a:xfrm>
            <a:off x="0" y="6492240"/>
            <a:ext cx="12188952" cy="365760"/>
          </a:xfrm>
          <a:prstGeom prst="rect">
            <a:avLst/>
          </a:prstGeom>
          <a:solidFill>
            <a:srgbClr val="1126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 y="6519672"/>
            <a:ext cx="4572000" cy="320040"/>
          </a:xfrm>
          <a:prstGeom prst="rect">
            <a:avLst/>
          </a:prstGeom>
          <a:noFill/>
        </p:spPr>
        <p:txBody>
          <a:bodyPr wrap="square">
            <a:spAutoFit/>
          </a:bodyPr>
          <a:lstStyle/>
          <a:p>
            <a:pPr algn="l"/>
            <a:r>
              <a:rPr sz="1000" b="0">
                <a:solidFill>
                  <a:srgbClr val="A0B4CC"/>
                </a:solidFill>
              </a:rPr>
              <a:t>铁路线路智能综合检测机器人</a:t>
            </a:r>
          </a:p>
        </p:txBody>
      </p:sp>
      <p:sp>
        <p:nvSpPr>
          <p:cNvPr id="12" name="TextBox 11"/>
          <p:cNvSpPr txBox="1"/>
          <p:nvPr/>
        </p:nvSpPr>
        <p:spPr>
          <a:xfrm>
            <a:off x="10972800" y="6519672"/>
            <a:ext cx="1005840" cy="320040"/>
          </a:xfrm>
          <a:prstGeom prst="rect">
            <a:avLst/>
          </a:prstGeom>
          <a:noFill/>
        </p:spPr>
        <p:txBody>
          <a:bodyPr wrap="square">
            <a:spAutoFit/>
          </a:bodyPr>
          <a:lstStyle/>
          <a:p>
            <a:pPr algn="r"/>
            <a:r>
              <a:rPr sz="1000" b="0">
                <a:solidFill>
                  <a:srgbClr val="A0B4CC"/>
                </a:solidFill>
              </a:rPr>
              <a:t>17 / 28</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C1D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20040" cy="6858000"/>
          </a:xfrm>
          <a:prstGeom prst="rect">
            <a:avLst/>
          </a:prstGeom>
          <a:solidFill>
            <a:srgbClr val="00C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0" y="3474720"/>
            <a:ext cx="4572000" cy="50800"/>
          </a:xfrm>
          <a:prstGeom prst="rect">
            <a:avLst/>
          </a:prstGeom>
          <a:solidFill>
            <a:srgbClr val="00C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828800"/>
            <a:ext cx="10515600" cy="1371600"/>
          </a:xfrm>
          <a:prstGeom prst="rect">
            <a:avLst/>
          </a:prstGeom>
          <a:noFill/>
        </p:spPr>
        <p:txBody>
          <a:bodyPr wrap="square">
            <a:spAutoFit/>
          </a:bodyPr>
          <a:lstStyle/>
          <a:p>
            <a:pPr algn="l"/>
            <a:r>
              <a:rPr sz="4400" b="1">
                <a:solidFill>
                  <a:srgbClr val="FFFFFF"/>
                </a:solidFill>
              </a:rPr>
              <a:t>06</a:t>
            </a:r>
          </a:p>
        </p:txBody>
      </p:sp>
      <p:sp>
        <p:nvSpPr>
          <p:cNvPr id="6" name="TextBox 5"/>
          <p:cNvSpPr txBox="1"/>
          <p:nvPr/>
        </p:nvSpPr>
        <p:spPr>
          <a:xfrm>
            <a:off x="548640" y="3566160"/>
            <a:ext cx="10515600" cy="548640"/>
          </a:xfrm>
          <a:prstGeom prst="rect">
            <a:avLst/>
          </a:prstGeom>
          <a:noFill/>
        </p:spPr>
        <p:txBody>
          <a:bodyPr wrap="square">
            <a:spAutoFit/>
          </a:bodyPr>
          <a:lstStyle/>
          <a:p>
            <a:pPr algn="l"/>
            <a:r>
              <a:rPr sz="1800" b="0">
                <a:solidFill>
                  <a:srgbClr val="A0B4CC"/>
                </a:solidFill>
              </a:rPr>
              <a:t>健康评估与智能养护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C1D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280160"/>
          </a:xfrm>
          <a:prstGeom prst="rect">
            <a:avLst/>
          </a:prstGeom>
          <a:solidFill>
            <a:srgbClr val="1126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280160"/>
            <a:ext cx="12188952" cy="45720"/>
          </a:xfrm>
          <a:prstGeom prst="rect">
            <a:avLst/>
          </a:prstGeom>
          <a:solidFill>
            <a:srgbClr val="00C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82880"/>
            <a:ext cx="11430000" cy="914400"/>
          </a:xfrm>
          <a:prstGeom prst="rect">
            <a:avLst/>
          </a:prstGeom>
          <a:noFill/>
        </p:spPr>
        <p:txBody>
          <a:bodyPr wrap="square">
            <a:spAutoFit/>
          </a:bodyPr>
          <a:lstStyle/>
          <a:p>
            <a:pPr algn="l"/>
            <a:r>
              <a:rPr sz="2800" b="1">
                <a:solidFill>
                  <a:srgbClr val="FFFFFF"/>
                </a:solidFill>
              </a:rPr>
              <a:t>线路健康一张图</a:t>
            </a:r>
          </a:p>
        </p:txBody>
      </p:sp>
      <p:sp>
        <p:nvSpPr>
          <p:cNvPr id="6" name="TextBox 5"/>
          <p:cNvSpPr txBox="1"/>
          <p:nvPr/>
        </p:nvSpPr>
        <p:spPr>
          <a:xfrm>
            <a:off x="365760" y="914400"/>
            <a:ext cx="11430000" cy="320040"/>
          </a:xfrm>
          <a:prstGeom prst="rect">
            <a:avLst/>
          </a:prstGeom>
          <a:noFill/>
        </p:spPr>
        <p:txBody>
          <a:bodyPr wrap="square">
            <a:spAutoFit/>
          </a:bodyPr>
          <a:lstStyle/>
          <a:p>
            <a:pPr algn="l"/>
            <a:r>
              <a:rPr sz="1300" b="0">
                <a:solidFill>
                  <a:srgbClr val="A0B4CC"/>
                </a:solidFill>
              </a:rPr>
              <a:t>将全线检测数据汇聚，生成可视化的线路健康地图</a:t>
            </a:r>
          </a:p>
        </p:txBody>
      </p:sp>
      <p:sp>
        <p:nvSpPr>
          <p:cNvPr id="7" name="Rectangle 6"/>
          <p:cNvSpPr/>
          <p:nvPr/>
        </p:nvSpPr>
        <p:spPr>
          <a:xfrm>
            <a:off x="365760" y="1508760"/>
            <a:ext cx="3749039" cy="2286000"/>
          </a:xfrm>
          <a:prstGeom prst="rect">
            <a:avLst/>
          </a:prstGeom>
          <a:solidFill>
            <a:srgbClr val="1126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65760" y="1508760"/>
            <a:ext cx="3749039" cy="54864"/>
          </a:xfrm>
          <a:prstGeom prst="rect">
            <a:avLst/>
          </a:prstGeom>
          <a:solidFill>
            <a:srgbClr val="00C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645920"/>
            <a:ext cx="3474720" cy="411480"/>
          </a:xfrm>
          <a:prstGeom prst="rect">
            <a:avLst/>
          </a:prstGeom>
          <a:noFill/>
        </p:spPr>
        <p:txBody>
          <a:bodyPr wrap="square">
            <a:spAutoFit/>
          </a:bodyPr>
          <a:lstStyle/>
          <a:p>
            <a:pPr algn="l"/>
            <a:r>
              <a:rPr sz="2000" b="1">
                <a:solidFill>
                  <a:srgbClr val="00C4FF"/>
                </a:solidFill>
              </a:rPr>
              <a:t>健康热力图</a:t>
            </a:r>
          </a:p>
        </p:txBody>
      </p:sp>
      <p:sp>
        <p:nvSpPr>
          <p:cNvPr id="10" name="TextBox 9"/>
          <p:cNvSpPr txBox="1"/>
          <p:nvPr/>
        </p:nvSpPr>
        <p:spPr>
          <a:xfrm>
            <a:off x="502920" y="2103120"/>
            <a:ext cx="3474720" cy="1554480"/>
          </a:xfrm>
          <a:prstGeom prst="rect">
            <a:avLst/>
          </a:prstGeom>
          <a:noFill/>
        </p:spPr>
        <p:txBody>
          <a:bodyPr wrap="square">
            <a:spAutoFit/>
          </a:bodyPr>
          <a:lstStyle/>
          <a:p>
            <a:pPr algn="l"/>
            <a:r>
              <a:rPr sz="1400" b="0">
                <a:solidFill>
                  <a:srgbClr val="FFFFFF"/>
                </a:solidFill>
              </a:rPr>
              <a:t>按里程区段着色
绿/黄/红直观显示</a:t>
            </a:r>
          </a:p>
        </p:txBody>
      </p:sp>
      <p:sp>
        <p:nvSpPr>
          <p:cNvPr id="11" name="Rectangle 10"/>
          <p:cNvSpPr/>
          <p:nvPr/>
        </p:nvSpPr>
        <p:spPr>
          <a:xfrm>
            <a:off x="4279392" y="1508760"/>
            <a:ext cx="3749039" cy="2286000"/>
          </a:xfrm>
          <a:prstGeom prst="rect">
            <a:avLst/>
          </a:prstGeom>
          <a:solidFill>
            <a:srgbClr val="1126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79392" y="1508760"/>
            <a:ext cx="3749039" cy="54864"/>
          </a:xfrm>
          <a:prstGeom prst="rect">
            <a:avLst/>
          </a:prstGeom>
          <a:solidFill>
            <a:srgbClr val="00A0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16552" y="1645920"/>
            <a:ext cx="3474720" cy="411480"/>
          </a:xfrm>
          <a:prstGeom prst="rect">
            <a:avLst/>
          </a:prstGeom>
          <a:noFill/>
        </p:spPr>
        <p:txBody>
          <a:bodyPr wrap="square">
            <a:spAutoFit/>
          </a:bodyPr>
          <a:lstStyle/>
          <a:p>
            <a:pPr algn="l"/>
            <a:r>
              <a:rPr sz="2000" b="1">
                <a:solidFill>
                  <a:srgbClr val="00A0E0"/>
                </a:solidFill>
              </a:rPr>
              <a:t>缺陷分布图</a:t>
            </a:r>
          </a:p>
        </p:txBody>
      </p:sp>
      <p:sp>
        <p:nvSpPr>
          <p:cNvPr id="14" name="TextBox 13"/>
          <p:cNvSpPr txBox="1"/>
          <p:nvPr/>
        </p:nvSpPr>
        <p:spPr>
          <a:xfrm>
            <a:off x="4416552" y="2103120"/>
            <a:ext cx="3474720" cy="1554480"/>
          </a:xfrm>
          <a:prstGeom prst="rect">
            <a:avLst/>
          </a:prstGeom>
          <a:noFill/>
        </p:spPr>
        <p:txBody>
          <a:bodyPr wrap="square">
            <a:spAutoFit/>
          </a:bodyPr>
          <a:lstStyle/>
          <a:p>
            <a:pPr algn="l"/>
            <a:r>
              <a:rPr sz="1400" b="0">
                <a:solidFill>
                  <a:srgbClr val="FFFFFF"/>
                </a:solidFill>
              </a:rPr>
              <a:t>各类缺陷图标标注
精准定位每处病害</a:t>
            </a:r>
          </a:p>
        </p:txBody>
      </p:sp>
      <p:sp>
        <p:nvSpPr>
          <p:cNvPr id="15" name="Rectangle 14"/>
          <p:cNvSpPr/>
          <p:nvPr/>
        </p:nvSpPr>
        <p:spPr>
          <a:xfrm>
            <a:off x="8193024" y="1508760"/>
            <a:ext cx="3749039" cy="2286000"/>
          </a:xfrm>
          <a:prstGeom prst="rect">
            <a:avLst/>
          </a:prstGeom>
          <a:solidFill>
            <a:srgbClr val="1126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93024" y="1508760"/>
            <a:ext cx="3749039" cy="5486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30184" y="1645920"/>
            <a:ext cx="3474720" cy="411480"/>
          </a:xfrm>
          <a:prstGeom prst="rect">
            <a:avLst/>
          </a:prstGeom>
          <a:noFill/>
        </p:spPr>
        <p:txBody>
          <a:bodyPr wrap="square">
            <a:spAutoFit/>
          </a:bodyPr>
          <a:lstStyle/>
          <a:p>
            <a:pPr algn="l"/>
            <a:r>
              <a:rPr sz="2000" b="1">
                <a:solidFill>
                  <a:srgbClr val="0070C0"/>
                </a:solidFill>
              </a:rPr>
              <a:t>趋势箭头</a:t>
            </a:r>
          </a:p>
        </p:txBody>
      </p:sp>
      <p:sp>
        <p:nvSpPr>
          <p:cNvPr id="18" name="TextBox 17"/>
          <p:cNvSpPr txBox="1"/>
          <p:nvPr/>
        </p:nvSpPr>
        <p:spPr>
          <a:xfrm>
            <a:off x="8330184" y="2103120"/>
            <a:ext cx="3474720" cy="1554480"/>
          </a:xfrm>
          <a:prstGeom prst="rect">
            <a:avLst/>
          </a:prstGeom>
          <a:noFill/>
        </p:spPr>
        <p:txBody>
          <a:bodyPr wrap="square">
            <a:spAutoFit/>
          </a:bodyPr>
          <a:lstStyle/>
          <a:p>
            <a:pPr algn="l"/>
            <a:r>
              <a:rPr sz="1400" b="0">
                <a:solidFill>
                  <a:srgbClr val="FFFFFF"/>
                </a:solidFill>
              </a:rPr>
              <a:t>同一区段历史变化
看出劣化速度</a:t>
            </a:r>
          </a:p>
        </p:txBody>
      </p:sp>
      <p:sp>
        <p:nvSpPr>
          <p:cNvPr id="19" name="Rectangle 18"/>
          <p:cNvSpPr/>
          <p:nvPr/>
        </p:nvSpPr>
        <p:spPr>
          <a:xfrm>
            <a:off x="365760" y="3977639"/>
            <a:ext cx="3749039" cy="2286000"/>
          </a:xfrm>
          <a:prstGeom prst="rect">
            <a:avLst/>
          </a:prstGeom>
          <a:solidFill>
            <a:srgbClr val="1126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65760" y="3977639"/>
            <a:ext cx="3749039" cy="54864"/>
          </a:xfrm>
          <a:prstGeom prst="rect">
            <a:avLst/>
          </a:prstGeom>
          <a:solidFill>
            <a:srgbClr val="0050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2920" y="4114799"/>
            <a:ext cx="3474720" cy="411480"/>
          </a:xfrm>
          <a:prstGeom prst="rect">
            <a:avLst/>
          </a:prstGeom>
          <a:noFill/>
        </p:spPr>
        <p:txBody>
          <a:bodyPr wrap="square">
            <a:spAutoFit/>
          </a:bodyPr>
          <a:lstStyle/>
          <a:p>
            <a:pPr algn="l"/>
            <a:r>
              <a:rPr sz="2000" b="1">
                <a:solidFill>
                  <a:srgbClr val="005090"/>
                </a:solidFill>
              </a:rPr>
              <a:t>综合评分</a:t>
            </a:r>
          </a:p>
        </p:txBody>
      </p:sp>
      <p:sp>
        <p:nvSpPr>
          <p:cNvPr id="22" name="TextBox 21"/>
          <p:cNvSpPr txBox="1"/>
          <p:nvPr/>
        </p:nvSpPr>
        <p:spPr>
          <a:xfrm>
            <a:off x="502920" y="4571999"/>
            <a:ext cx="3474720" cy="1554480"/>
          </a:xfrm>
          <a:prstGeom prst="rect">
            <a:avLst/>
          </a:prstGeom>
          <a:noFill/>
        </p:spPr>
        <p:txBody>
          <a:bodyPr wrap="square">
            <a:spAutoFit/>
          </a:bodyPr>
          <a:lstStyle/>
          <a:p>
            <a:pPr algn="l"/>
            <a:r>
              <a:rPr sz="1400" b="0">
                <a:solidFill>
                  <a:srgbClr val="FFFFFF"/>
                </a:solidFill>
              </a:rPr>
              <a:t>各区段 0~100 分
横向对比不同区段</a:t>
            </a:r>
          </a:p>
        </p:txBody>
      </p:sp>
      <p:sp>
        <p:nvSpPr>
          <p:cNvPr id="23" name="Rectangle 22"/>
          <p:cNvSpPr/>
          <p:nvPr/>
        </p:nvSpPr>
        <p:spPr>
          <a:xfrm>
            <a:off x="4279392" y="3977639"/>
            <a:ext cx="3749039" cy="2286000"/>
          </a:xfrm>
          <a:prstGeom prst="rect">
            <a:avLst/>
          </a:prstGeom>
          <a:solidFill>
            <a:srgbClr val="1126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279392" y="3977639"/>
            <a:ext cx="3749039" cy="54864"/>
          </a:xfrm>
          <a:prstGeom prst="rect">
            <a:avLst/>
          </a:prstGeom>
          <a:solidFill>
            <a:srgbClr val="0040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416552" y="4114799"/>
            <a:ext cx="3474720" cy="411480"/>
          </a:xfrm>
          <a:prstGeom prst="rect">
            <a:avLst/>
          </a:prstGeom>
          <a:noFill/>
        </p:spPr>
        <p:txBody>
          <a:bodyPr wrap="square">
            <a:spAutoFit/>
          </a:bodyPr>
          <a:lstStyle/>
          <a:p>
            <a:pPr algn="l"/>
            <a:r>
              <a:rPr sz="2000" b="1">
                <a:solidFill>
                  <a:srgbClr val="004070"/>
                </a:solidFill>
              </a:rPr>
              <a:t>养护履历</a:t>
            </a:r>
          </a:p>
        </p:txBody>
      </p:sp>
      <p:sp>
        <p:nvSpPr>
          <p:cNvPr id="26" name="TextBox 25"/>
          <p:cNvSpPr txBox="1"/>
          <p:nvPr/>
        </p:nvSpPr>
        <p:spPr>
          <a:xfrm>
            <a:off x="4416552" y="4571999"/>
            <a:ext cx="3474720" cy="1554480"/>
          </a:xfrm>
          <a:prstGeom prst="rect">
            <a:avLst/>
          </a:prstGeom>
          <a:noFill/>
        </p:spPr>
        <p:txBody>
          <a:bodyPr wrap="square">
            <a:spAutoFit/>
          </a:bodyPr>
          <a:lstStyle/>
          <a:p>
            <a:pPr algn="l"/>
            <a:r>
              <a:rPr sz="1400" b="0">
                <a:solidFill>
                  <a:srgbClr val="FFFFFF"/>
                </a:solidFill>
              </a:rPr>
              <a:t>每次养护时间/内容/效果
验证效果形成闭环</a:t>
            </a:r>
          </a:p>
        </p:txBody>
      </p:sp>
      <p:sp>
        <p:nvSpPr>
          <p:cNvPr id="27" name="Rectangle 26"/>
          <p:cNvSpPr/>
          <p:nvPr/>
        </p:nvSpPr>
        <p:spPr>
          <a:xfrm>
            <a:off x="365760" y="6126480"/>
            <a:ext cx="3749039" cy="502920"/>
          </a:xfrm>
          <a:prstGeom prst="rect">
            <a:avLst/>
          </a:prstGeom>
          <a:solidFill>
            <a:srgbClr val="1126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7200" y="6144768"/>
            <a:ext cx="3566160" cy="457200"/>
          </a:xfrm>
          <a:prstGeom prst="rect">
            <a:avLst/>
          </a:prstGeom>
          <a:noFill/>
        </p:spPr>
        <p:txBody>
          <a:bodyPr wrap="square">
            <a:spAutoFit/>
          </a:bodyPr>
          <a:lstStyle/>
          <a:p>
            <a:pPr algn="l"/>
            <a:r>
              <a:rPr sz="1200" b="1">
                <a:solidFill>
                  <a:srgbClr val="00C4FF"/>
                </a:solidFill>
              </a:rPr>
              <a:t>养护人员：知道哪段先修 / 哪段缓修</a:t>
            </a:r>
          </a:p>
        </p:txBody>
      </p:sp>
      <p:sp>
        <p:nvSpPr>
          <p:cNvPr id="29" name="Rectangle 28"/>
          <p:cNvSpPr/>
          <p:nvPr/>
        </p:nvSpPr>
        <p:spPr>
          <a:xfrm>
            <a:off x="4279392" y="6126480"/>
            <a:ext cx="3749039" cy="502920"/>
          </a:xfrm>
          <a:prstGeom prst="rect">
            <a:avLst/>
          </a:prstGeom>
          <a:solidFill>
            <a:srgbClr val="1126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370832" y="6144768"/>
            <a:ext cx="3566160" cy="457200"/>
          </a:xfrm>
          <a:prstGeom prst="rect">
            <a:avLst/>
          </a:prstGeom>
          <a:noFill/>
        </p:spPr>
        <p:txBody>
          <a:bodyPr wrap="square">
            <a:spAutoFit/>
          </a:bodyPr>
          <a:lstStyle/>
          <a:p>
            <a:pPr algn="l"/>
            <a:r>
              <a:rPr sz="1200" b="1">
                <a:solidFill>
                  <a:srgbClr val="00C4FF"/>
                </a:solidFill>
              </a:rPr>
              <a:t>管理决策者：知道全线状况 / 资源分配</a:t>
            </a:r>
          </a:p>
        </p:txBody>
      </p:sp>
      <p:sp>
        <p:nvSpPr>
          <p:cNvPr id="31" name="Rectangle 30"/>
          <p:cNvSpPr/>
          <p:nvPr/>
        </p:nvSpPr>
        <p:spPr>
          <a:xfrm>
            <a:off x="8193024" y="6126480"/>
            <a:ext cx="3749039" cy="502920"/>
          </a:xfrm>
          <a:prstGeom prst="rect">
            <a:avLst/>
          </a:prstGeom>
          <a:solidFill>
            <a:srgbClr val="1126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84464" y="6144768"/>
            <a:ext cx="3566160" cy="457200"/>
          </a:xfrm>
          <a:prstGeom prst="rect">
            <a:avLst/>
          </a:prstGeom>
          <a:noFill/>
        </p:spPr>
        <p:txBody>
          <a:bodyPr wrap="square">
            <a:spAutoFit/>
          </a:bodyPr>
          <a:lstStyle/>
          <a:p>
            <a:pPr algn="l"/>
            <a:r>
              <a:rPr sz="1200" b="1">
                <a:solidFill>
                  <a:srgbClr val="00C4FF"/>
                </a:solidFill>
              </a:rPr>
              <a:t>技术人员：病害历史 / 根因分析</a:t>
            </a:r>
          </a:p>
        </p:txBody>
      </p:sp>
      <p:sp>
        <p:nvSpPr>
          <p:cNvPr id="33" name="Rectangle 32"/>
          <p:cNvSpPr/>
          <p:nvPr/>
        </p:nvSpPr>
        <p:spPr>
          <a:xfrm>
            <a:off x="0" y="6492240"/>
            <a:ext cx="12188952" cy="365760"/>
          </a:xfrm>
          <a:prstGeom prst="rect">
            <a:avLst/>
          </a:prstGeom>
          <a:solidFill>
            <a:srgbClr val="1126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5760" y="6519672"/>
            <a:ext cx="4572000" cy="320040"/>
          </a:xfrm>
          <a:prstGeom prst="rect">
            <a:avLst/>
          </a:prstGeom>
          <a:noFill/>
        </p:spPr>
        <p:txBody>
          <a:bodyPr wrap="square">
            <a:spAutoFit/>
          </a:bodyPr>
          <a:lstStyle/>
          <a:p>
            <a:pPr algn="l"/>
            <a:r>
              <a:rPr sz="1000" b="0">
                <a:solidFill>
                  <a:srgbClr val="A0B4CC"/>
                </a:solidFill>
              </a:rPr>
              <a:t>铁路线路智能综合检测机器人</a:t>
            </a:r>
          </a:p>
        </p:txBody>
      </p:sp>
      <p:sp>
        <p:nvSpPr>
          <p:cNvPr id="35" name="TextBox 34"/>
          <p:cNvSpPr txBox="1"/>
          <p:nvPr/>
        </p:nvSpPr>
        <p:spPr>
          <a:xfrm>
            <a:off x="10972800" y="6519672"/>
            <a:ext cx="1005840" cy="320040"/>
          </a:xfrm>
          <a:prstGeom prst="rect">
            <a:avLst/>
          </a:prstGeom>
          <a:noFill/>
        </p:spPr>
        <p:txBody>
          <a:bodyPr wrap="square">
            <a:spAutoFit/>
          </a:bodyPr>
          <a:lstStyle/>
          <a:p>
            <a:pPr algn="r"/>
            <a:r>
              <a:rPr sz="1000" b="0">
                <a:solidFill>
                  <a:srgbClr val="A0B4CC"/>
                </a:solidFill>
              </a:rPr>
              <a:t>18 / 28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C1D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280160"/>
          </a:xfrm>
          <a:prstGeom prst="rect">
            <a:avLst/>
          </a:prstGeom>
          <a:solidFill>
            <a:srgbClr val="1126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280160"/>
            <a:ext cx="12188952" cy="45720"/>
          </a:xfrm>
          <a:prstGeom prst="rect">
            <a:avLst/>
          </a:prstGeom>
          <a:solidFill>
            <a:srgbClr val="00C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82880"/>
            <a:ext cx="11430000" cy="914400"/>
          </a:xfrm>
          <a:prstGeom prst="rect">
            <a:avLst/>
          </a:prstGeom>
          <a:noFill/>
        </p:spPr>
        <p:txBody>
          <a:bodyPr wrap="square">
            <a:spAutoFit/>
          </a:bodyPr>
          <a:lstStyle/>
          <a:p>
            <a:pPr algn="l"/>
            <a:r>
              <a:rPr sz="2800" b="1">
                <a:solidFill>
                  <a:srgbClr val="FFFFFF"/>
                </a:solidFill>
              </a:rPr>
              <a:t>养护决策智能辅助</a:t>
            </a:r>
          </a:p>
        </p:txBody>
      </p:sp>
      <p:sp>
        <p:nvSpPr>
          <p:cNvPr id="6" name="TextBox 5"/>
          <p:cNvSpPr txBox="1"/>
          <p:nvPr/>
        </p:nvSpPr>
        <p:spPr>
          <a:xfrm>
            <a:off x="365760" y="914400"/>
            <a:ext cx="11430000" cy="320040"/>
          </a:xfrm>
          <a:prstGeom prst="rect">
            <a:avLst/>
          </a:prstGeom>
          <a:noFill/>
        </p:spPr>
        <p:txBody>
          <a:bodyPr wrap="square">
            <a:spAutoFit/>
          </a:bodyPr>
          <a:lstStyle/>
          <a:p>
            <a:pPr algn="l"/>
            <a:r>
              <a:rPr sz="1300" b="0">
                <a:solidFill>
                  <a:srgbClr val="A0B4CC"/>
                </a:solidFill>
              </a:rPr>
              <a:t>让养护决策从经验驱动升级为数据驱动</a:t>
            </a:r>
          </a:p>
        </p:txBody>
      </p:sp>
      <p:sp>
        <p:nvSpPr>
          <p:cNvPr id="7" name="Rectangle 6"/>
          <p:cNvSpPr/>
          <p:nvPr/>
        </p:nvSpPr>
        <p:spPr>
          <a:xfrm>
            <a:off x="365760" y="1508760"/>
            <a:ext cx="3749039" cy="4846320"/>
          </a:xfrm>
          <a:prstGeom prst="rect">
            <a:avLst/>
          </a:prstGeom>
          <a:solidFill>
            <a:srgbClr val="1126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65760" y="1508760"/>
            <a:ext cx="3749039" cy="54864"/>
          </a:xfrm>
          <a:prstGeom prst="rect">
            <a:avLst/>
          </a:prstGeom>
          <a:solidFill>
            <a:srgbClr val="00C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645920"/>
            <a:ext cx="3566160" cy="914400"/>
          </a:xfrm>
          <a:prstGeom prst="rect">
            <a:avLst/>
          </a:prstGeom>
          <a:noFill/>
        </p:spPr>
        <p:txBody>
          <a:bodyPr wrap="square">
            <a:spAutoFit/>
          </a:bodyPr>
          <a:lstStyle/>
          <a:p>
            <a:pPr algn="l"/>
            <a:r>
              <a:rPr sz="2000" b="1">
                <a:solidFill>
                  <a:srgbClr val="00C4FF"/>
                </a:solidFill>
              </a:rPr>
              <a:t>养护优先级
自动排序</a:t>
            </a:r>
          </a:p>
        </p:txBody>
      </p:sp>
      <p:sp>
        <p:nvSpPr>
          <p:cNvPr id="10" name="TextBox 9"/>
          <p:cNvSpPr txBox="1"/>
          <p:nvPr/>
        </p:nvSpPr>
        <p:spPr>
          <a:xfrm>
            <a:off x="457200" y="2651760"/>
            <a:ext cx="3566160" cy="3657600"/>
          </a:xfrm>
          <a:prstGeom prst="rect">
            <a:avLst/>
          </a:prstGeom>
          <a:noFill/>
        </p:spPr>
        <p:txBody>
          <a:bodyPr wrap="square">
            <a:spAutoFit/>
          </a:bodyPr>
          <a:lstStyle/>
          <a:p>
            <a:pPr>
              <a:spcBef>
                <a:spcPts val="400"/>
              </a:spcBef>
            </a:pPr>
            <a:r>
              <a:rPr sz="1400">
                <a:solidFill>
                  <a:srgbClr val="FFFFFF"/>
                </a:solidFill>
              </a:rPr>
              <a:t>三级缺陷 -&gt; 立即处理</a:t>
            </a:r>
          </a:p>
          <a:p>
            <a:pPr>
              <a:spcBef>
                <a:spcPts val="400"/>
              </a:spcBef>
            </a:pPr>
            <a:r>
              <a:rPr sz="1400">
                <a:solidFill>
                  <a:srgbClr val="FFFFFF"/>
                </a:solidFill>
              </a:rPr>
              <a:t>二级缺陷 -&gt; 列入计划</a:t>
            </a:r>
          </a:p>
          <a:p>
            <a:pPr>
              <a:spcBef>
                <a:spcPts val="400"/>
              </a:spcBef>
            </a:pPr>
            <a:r>
              <a:rPr sz="1400">
                <a:solidFill>
                  <a:srgbClr val="FFFFFF"/>
                </a:solidFill>
              </a:rPr>
              <a:t>一级缺陷 -&gt; 重点观察</a:t>
            </a:r>
          </a:p>
          <a:p>
            <a:pPr>
              <a:spcBef>
                <a:spcPts val="400"/>
              </a:spcBef>
            </a:pPr>
            <a:r>
              <a:rPr sz="1400">
                <a:solidFill>
                  <a:srgbClr val="FFFFFF"/>
                </a:solidFill>
              </a:rPr>
              <a:t>趋势恶化 &gt; 稳定</a:t>
            </a:r>
          </a:p>
          <a:p>
            <a:pPr>
              <a:spcBef>
                <a:spcPts val="400"/>
              </a:spcBef>
            </a:pPr>
            <a:r>
              <a:rPr sz="1400">
                <a:solidFill>
                  <a:srgbClr val="FFFFFF"/>
                </a:solidFill>
              </a:rPr>
              <a:t>历史高发 &gt; 偶发</a:t>
            </a:r>
          </a:p>
          <a:p>
            <a:pPr>
              <a:spcBef>
                <a:spcPts val="400"/>
              </a:spcBef>
            </a:pPr>
            <a:r>
              <a:rPr sz="1400">
                <a:solidFill>
                  <a:srgbClr val="FFFFFF"/>
                </a:solidFill>
              </a:rPr>
              <a:t/>
            </a:r>
          </a:p>
          <a:p>
            <a:pPr>
              <a:spcBef>
                <a:spcPts val="400"/>
              </a:spcBef>
            </a:pPr>
            <a:r>
              <a:rPr sz="1400">
                <a:solidFill>
                  <a:srgbClr val="FFFFFF"/>
                </a:solidFill>
              </a:rPr>
              <a:t>-&gt; 本周养护计划清单</a:t>
            </a:r>
          </a:p>
        </p:txBody>
      </p:sp>
      <p:sp>
        <p:nvSpPr>
          <p:cNvPr id="11" name="Rectangle 10"/>
          <p:cNvSpPr/>
          <p:nvPr/>
        </p:nvSpPr>
        <p:spPr>
          <a:xfrm>
            <a:off x="4279392" y="1508760"/>
            <a:ext cx="3749039" cy="4846320"/>
          </a:xfrm>
          <a:prstGeom prst="rect">
            <a:avLst/>
          </a:prstGeom>
          <a:solidFill>
            <a:srgbClr val="1126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79392" y="1508760"/>
            <a:ext cx="3749039" cy="54864"/>
          </a:xfrm>
          <a:prstGeom prst="rect">
            <a:avLst/>
          </a:prstGeom>
          <a:solidFill>
            <a:srgbClr val="00A0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70832" y="1645920"/>
            <a:ext cx="3566160" cy="914400"/>
          </a:xfrm>
          <a:prstGeom prst="rect">
            <a:avLst/>
          </a:prstGeom>
          <a:noFill/>
        </p:spPr>
        <p:txBody>
          <a:bodyPr wrap="square">
            <a:spAutoFit/>
          </a:bodyPr>
          <a:lstStyle/>
          <a:p>
            <a:pPr algn="l"/>
            <a:r>
              <a:rPr sz="2000" b="1">
                <a:solidFill>
                  <a:srgbClr val="00A0E0"/>
                </a:solidFill>
              </a:rPr>
              <a:t>养护效果
量化验证</a:t>
            </a:r>
          </a:p>
        </p:txBody>
      </p:sp>
      <p:sp>
        <p:nvSpPr>
          <p:cNvPr id="14" name="TextBox 13"/>
          <p:cNvSpPr txBox="1"/>
          <p:nvPr/>
        </p:nvSpPr>
        <p:spPr>
          <a:xfrm>
            <a:off x="4370832" y="2651760"/>
            <a:ext cx="3566160" cy="3657600"/>
          </a:xfrm>
          <a:prstGeom prst="rect">
            <a:avLst/>
          </a:prstGeom>
          <a:noFill/>
        </p:spPr>
        <p:txBody>
          <a:bodyPr wrap="square">
            <a:spAutoFit/>
          </a:bodyPr>
          <a:lstStyle/>
          <a:p>
            <a:pPr>
              <a:spcBef>
                <a:spcPts val="400"/>
              </a:spcBef>
            </a:pPr>
            <a:r>
              <a:rPr sz="1400">
                <a:solidFill>
                  <a:srgbClr val="FFFFFF"/>
                </a:solidFill>
              </a:rPr>
              <a:t>养护执行后再次检测</a:t>
            </a:r>
          </a:p>
          <a:p>
            <a:pPr>
              <a:spcBef>
                <a:spcPts val="400"/>
              </a:spcBef>
            </a:pPr>
            <a:r>
              <a:rPr sz="1400">
                <a:solidFill>
                  <a:srgbClr val="FFFFFF"/>
                </a:solidFill>
              </a:rPr>
              <a:t>验证效果</a:t>
            </a:r>
          </a:p>
          <a:p>
            <a:pPr>
              <a:spcBef>
                <a:spcPts val="400"/>
              </a:spcBef>
            </a:pPr>
            <a:r>
              <a:rPr sz="1400">
                <a:solidFill>
                  <a:srgbClr val="FFFFFF"/>
                </a:solidFill>
              </a:rPr>
              <a:t/>
            </a:r>
          </a:p>
          <a:p>
            <a:pPr>
              <a:spcBef>
                <a:spcPts val="400"/>
              </a:spcBef>
            </a:pPr>
            <a:r>
              <a:rPr sz="1400">
                <a:solidFill>
                  <a:srgbClr val="FFFFFF"/>
                </a:solidFill>
              </a:rPr>
              <a:t>检测-&gt;养护-&gt;再检测</a:t>
            </a:r>
          </a:p>
          <a:p>
            <a:pPr>
              <a:spcBef>
                <a:spcPts val="400"/>
              </a:spcBef>
            </a:pPr>
            <a:r>
              <a:rPr sz="1400">
                <a:solidFill>
                  <a:srgbClr val="FFFFFF"/>
                </a:solidFill>
              </a:rPr>
              <a:t>-&gt;效果评估闭环</a:t>
            </a:r>
          </a:p>
          <a:p>
            <a:pPr>
              <a:spcBef>
                <a:spcPts val="400"/>
              </a:spcBef>
            </a:pPr>
            <a:r>
              <a:rPr sz="1400">
                <a:solidFill>
                  <a:srgbClr val="FFFFFF"/>
                </a:solidFill>
              </a:rPr>
              <a:t/>
            </a:r>
          </a:p>
          <a:p>
            <a:pPr>
              <a:spcBef>
                <a:spcPts val="400"/>
              </a:spcBef>
            </a:pPr>
            <a:r>
              <a:rPr sz="1400">
                <a:solidFill>
                  <a:srgbClr val="FFFFFF"/>
                </a:solidFill>
              </a:rPr>
              <a:t>养护投入产出可量化</a:t>
            </a:r>
          </a:p>
        </p:txBody>
      </p:sp>
      <p:sp>
        <p:nvSpPr>
          <p:cNvPr id="15" name="Rectangle 14"/>
          <p:cNvSpPr/>
          <p:nvPr/>
        </p:nvSpPr>
        <p:spPr>
          <a:xfrm>
            <a:off x="8193024" y="1508760"/>
            <a:ext cx="3749039" cy="4846320"/>
          </a:xfrm>
          <a:prstGeom prst="rect">
            <a:avLst/>
          </a:prstGeom>
          <a:solidFill>
            <a:srgbClr val="1126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93024" y="1508760"/>
            <a:ext cx="3749039" cy="5486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84464" y="1645920"/>
            <a:ext cx="3566160" cy="914400"/>
          </a:xfrm>
          <a:prstGeom prst="rect">
            <a:avLst/>
          </a:prstGeom>
          <a:noFill/>
        </p:spPr>
        <p:txBody>
          <a:bodyPr wrap="square">
            <a:spAutoFit/>
          </a:bodyPr>
          <a:lstStyle/>
          <a:p>
            <a:pPr algn="l"/>
            <a:r>
              <a:rPr sz="2000" b="1">
                <a:solidFill>
                  <a:srgbClr val="0070C0"/>
                </a:solidFill>
              </a:rPr>
              <a:t>预测性维护</a:t>
            </a:r>
          </a:p>
        </p:txBody>
      </p:sp>
      <p:sp>
        <p:nvSpPr>
          <p:cNvPr id="18" name="TextBox 17"/>
          <p:cNvSpPr txBox="1"/>
          <p:nvPr/>
        </p:nvSpPr>
        <p:spPr>
          <a:xfrm>
            <a:off x="8284464" y="2651760"/>
            <a:ext cx="3566160" cy="3657600"/>
          </a:xfrm>
          <a:prstGeom prst="rect">
            <a:avLst/>
          </a:prstGeom>
          <a:noFill/>
        </p:spPr>
        <p:txBody>
          <a:bodyPr wrap="square">
            <a:spAutoFit/>
          </a:bodyPr>
          <a:lstStyle/>
          <a:p>
            <a:pPr>
              <a:spcBef>
                <a:spcPts val="400"/>
              </a:spcBef>
            </a:pPr>
            <a:r>
              <a:rPr sz="1400">
                <a:solidFill>
                  <a:srgbClr val="FFFFFF"/>
                </a:solidFill>
              </a:rPr>
              <a:t>基于历史数据预测</a:t>
            </a:r>
          </a:p>
          <a:p>
            <a:pPr>
              <a:spcBef>
                <a:spcPts val="400"/>
              </a:spcBef>
            </a:pPr>
            <a:r>
              <a:rPr sz="1400">
                <a:solidFill>
                  <a:srgbClr val="FFFFFF"/>
                </a:solidFill>
              </a:rPr>
              <a:t>缺陷扩展速度</a:t>
            </a:r>
          </a:p>
          <a:p>
            <a:pPr>
              <a:spcBef>
                <a:spcPts val="400"/>
              </a:spcBef>
            </a:pPr>
            <a:r>
              <a:rPr sz="1400">
                <a:solidFill>
                  <a:srgbClr val="FFFFFF"/>
                </a:solidFill>
              </a:rPr>
              <a:t/>
            </a:r>
          </a:p>
          <a:p>
            <a:pPr>
              <a:spcBef>
                <a:spcPts val="400"/>
              </a:spcBef>
            </a:pPr>
            <a:r>
              <a:rPr sz="1400">
                <a:solidFill>
                  <a:srgbClr val="FFFFFF"/>
                </a:solidFill>
              </a:rPr>
              <a:t>从出问题再修</a:t>
            </a:r>
          </a:p>
          <a:p>
            <a:pPr>
              <a:spcBef>
                <a:spcPts val="400"/>
              </a:spcBef>
            </a:pPr>
            <a:r>
              <a:rPr sz="1400">
                <a:solidFill>
                  <a:srgbClr val="FFFFFF"/>
                </a:solidFill>
              </a:rPr>
              <a:t>-&gt; 看到苗头就修</a:t>
            </a:r>
          </a:p>
          <a:p>
            <a:pPr>
              <a:spcBef>
                <a:spcPts val="400"/>
              </a:spcBef>
            </a:pPr>
            <a:r>
              <a:rPr sz="1400">
                <a:solidFill>
                  <a:srgbClr val="FFFFFF"/>
                </a:solidFill>
              </a:rPr>
              <a:t/>
            </a:r>
          </a:p>
          <a:p>
            <a:pPr>
              <a:spcBef>
                <a:spcPts val="400"/>
              </a:spcBef>
            </a:pPr>
            <a:r>
              <a:rPr sz="1400">
                <a:solidFill>
                  <a:srgbClr val="FFFFFF"/>
                </a:solidFill>
              </a:rPr>
              <a:t>减少突发故障</a:t>
            </a:r>
          </a:p>
          <a:p>
            <a:pPr>
              <a:spcBef>
                <a:spcPts val="400"/>
              </a:spcBef>
            </a:pPr>
            <a:r>
              <a:rPr sz="1400">
                <a:solidFill>
                  <a:srgbClr val="FFFFFF"/>
                </a:solidFill>
              </a:rPr>
              <a:t>降低养护成本</a:t>
            </a:r>
          </a:p>
        </p:txBody>
      </p:sp>
      <p:sp>
        <p:nvSpPr>
          <p:cNvPr id="19" name="Rectangle 18"/>
          <p:cNvSpPr/>
          <p:nvPr/>
        </p:nvSpPr>
        <p:spPr>
          <a:xfrm>
            <a:off x="0" y="6492240"/>
            <a:ext cx="12188952" cy="365760"/>
          </a:xfrm>
          <a:prstGeom prst="rect">
            <a:avLst/>
          </a:prstGeom>
          <a:solidFill>
            <a:srgbClr val="1126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5760" y="6519672"/>
            <a:ext cx="4572000" cy="320040"/>
          </a:xfrm>
          <a:prstGeom prst="rect">
            <a:avLst/>
          </a:prstGeom>
          <a:noFill/>
        </p:spPr>
        <p:txBody>
          <a:bodyPr wrap="square">
            <a:spAutoFit/>
          </a:bodyPr>
          <a:lstStyle/>
          <a:p>
            <a:pPr algn="l"/>
            <a:r>
              <a:rPr sz="1000" b="0">
                <a:solidFill>
                  <a:srgbClr val="A0B4CC"/>
                </a:solidFill>
              </a:rPr>
              <a:t>铁路线路智能综合检测机器人</a:t>
            </a:r>
          </a:p>
        </p:txBody>
      </p:sp>
      <p:sp>
        <p:nvSpPr>
          <p:cNvPr id="21" name="TextBox 20"/>
          <p:cNvSpPr txBox="1"/>
          <p:nvPr/>
        </p:nvSpPr>
        <p:spPr>
          <a:xfrm>
            <a:off x="10972800" y="6519672"/>
            <a:ext cx="1005840" cy="320040"/>
          </a:xfrm>
          <a:prstGeom prst="rect">
            <a:avLst/>
          </a:prstGeom>
          <a:noFill/>
        </p:spPr>
        <p:txBody>
          <a:bodyPr wrap="square">
            <a:spAutoFit/>
          </a:bodyPr>
          <a:lstStyle/>
          <a:p>
            <a:pPr algn="r"/>
            <a:r>
              <a:rPr sz="1000" b="0">
                <a:solidFill>
                  <a:srgbClr val="A0B4CC"/>
                </a:solidFill>
              </a:rPr>
              <a:t>19 / 28</a:t>
            </a:r>
          </a:p>
        </p:txBody>
      </p:sp>
      <p:sp>
        <p:nvSpPr>
          <p:cNvPr id="22" name="Rectangle 21"/>
          <p:cNvSpPr/>
          <p:nvPr/>
        </p:nvSpPr>
        <p:spPr>
          <a:xfrm>
            <a:off x="0" y="6492240"/>
            <a:ext cx="12188952" cy="365760"/>
          </a:xfrm>
          <a:prstGeom prst="rect">
            <a:avLst/>
          </a:prstGeom>
          <a:solidFill>
            <a:srgbClr val="1126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65760" y="6519672"/>
            <a:ext cx="4572000" cy="320040"/>
          </a:xfrm>
          <a:prstGeom prst="rect">
            <a:avLst/>
          </a:prstGeom>
          <a:noFill/>
        </p:spPr>
        <p:txBody>
          <a:bodyPr wrap="square">
            <a:spAutoFit/>
          </a:bodyPr>
          <a:lstStyle/>
          <a:p>
            <a:pPr algn="l"/>
            <a:r>
              <a:rPr sz="1000" b="0">
                <a:solidFill>
                  <a:srgbClr val="A0B4CC"/>
                </a:solidFill>
              </a:rPr>
              <a:t>铁路线路智能综合检测机器人</a:t>
            </a:r>
          </a:p>
        </p:txBody>
      </p:sp>
      <p:sp>
        <p:nvSpPr>
          <p:cNvPr id="24" name="TextBox 23"/>
          <p:cNvSpPr txBox="1"/>
          <p:nvPr/>
        </p:nvSpPr>
        <p:spPr>
          <a:xfrm>
            <a:off x="10972800" y="6519672"/>
            <a:ext cx="1005840" cy="320040"/>
          </a:xfrm>
          <a:prstGeom prst="rect">
            <a:avLst/>
          </a:prstGeom>
          <a:noFill/>
        </p:spPr>
        <p:txBody>
          <a:bodyPr wrap="square">
            <a:spAutoFit/>
          </a:bodyPr>
          <a:lstStyle/>
          <a:p>
            <a:pPr algn="r"/>
            <a:r>
              <a:rPr sz="1000" b="0">
                <a:solidFill>
                  <a:srgbClr val="A0B4CC"/>
                </a:solidFill>
              </a:rPr>
              <a:t>20 / 28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C1D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20040" cy="6858000"/>
          </a:xfrm>
          <a:prstGeom prst="rect">
            <a:avLst/>
          </a:prstGeom>
          <a:solidFill>
            <a:srgbClr val="00C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0" y="3474720"/>
            <a:ext cx="4572000" cy="50800"/>
          </a:xfrm>
          <a:prstGeom prst="rect">
            <a:avLst/>
          </a:prstGeom>
          <a:solidFill>
            <a:srgbClr val="00C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828800"/>
            <a:ext cx="10515600" cy="1371600"/>
          </a:xfrm>
          <a:prstGeom prst="rect">
            <a:avLst/>
          </a:prstGeom>
          <a:noFill/>
        </p:spPr>
        <p:txBody>
          <a:bodyPr wrap="square">
            <a:spAutoFit/>
          </a:bodyPr>
          <a:lstStyle/>
          <a:p>
            <a:pPr algn="l"/>
            <a:r>
              <a:rPr sz="4400" b="1">
                <a:solidFill>
                  <a:srgbClr val="FFFFFF"/>
                </a:solidFill>
              </a:rPr>
              <a:t>07</a:t>
            </a:r>
          </a:p>
        </p:txBody>
      </p:sp>
      <p:sp>
        <p:nvSpPr>
          <p:cNvPr id="6" name="TextBox 5"/>
          <p:cNvSpPr txBox="1"/>
          <p:nvPr/>
        </p:nvSpPr>
        <p:spPr>
          <a:xfrm>
            <a:off x="548640" y="3566160"/>
            <a:ext cx="10515600" cy="548640"/>
          </a:xfrm>
          <a:prstGeom prst="rect">
            <a:avLst/>
          </a:prstGeom>
          <a:noFill/>
        </p:spPr>
        <p:txBody>
          <a:bodyPr wrap="square">
            <a:spAutoFit/>
          </a:bodyPr>
          <a:lstStyle/>
          <a:p>
            <a:pPr algn="l"/>
            <a:r>
              <a:rPr sz="1800" b="0">
                <a:solidFill>
                  <a:srgbClr val="A0B4CC"/>
                </a:solidFill>
              </a:rPr>
              <a:t>技术规格参数</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C1D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280160"/>
          </a:xfrm>
          <a:prstGeom prst="rect">
            <a:avLst/>
          </a:prstGeom>
          <a:solidFill>
            <a:srgbClr val="1126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280160"/>
            <a:ext cx="12188952" cy="45720"/>
          </a:xfrm>
          <a:prstGeom prst="rect">
            <a:avLst/>
          </a:prstGeom>
          <a:solidFill>
            <a:srgbClr val="00C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82880"/>
            <a:ext cx="11430000" cy="914400"/>
          </a:xfrm>
          <a:prstGeom prst="rect">
            <a:avLst/>
          </a:prstGeom>
          <a:noFill/>
        </p:spPr>
        <p:txBody>
          <a:bodyPr wrap="square">
            <a:spAutoFit/>
          </a:bodyPr>
          <a:lstStyle/>
          <a:p>
            <a:pPr algn="l"/>
            <a:r>
              <a:rPr sz="2800" b="1">
                <a:solidFill>
                  <a:srgbClr val="FFFFFF"/>
                </a:solidFill>
              </a:rPr>
              <a:t>系统参数总览</a:t>
            </a:r>
          </a:p>
        </p:txBody>
      </p:sp>
      <p:graphicFrame>
        <p:nvGraphicFramePr>
          <p:cNvPr id="6" name="Table 5"/>
          <p:cNvGraphicFramePr>
            <a:graphicFrameLocks noGrp="1"/>
          </p:cNvGraphicFramePr>
          <p:nvPr/>
        </p:nvGraphicFramePr>
        <p:xfrm>
          <a:off x="1828800" y="1508760"/>
          <a:ext cx="8503920" cy="4846320"/>
        </p:xfrm>
        <a:graphic>
          <a:graphicData uri="http://schemas.openxmlformats.org/drawingml/2006/table">
            <a:tbl>
              <a:tblPr firstRow="1" bandRow="1">
                <a:tableStyleId>{5C22544A-7EE6-4342-B048-85BDC9FD1C3A}</a:tableStyleId>
              </a:tblPr>
              <a:tblGrid>
                <a:gridCol w="4251960"/>
                <a:gridCol w="4251960"/>
              </a:tblGrid>
              <a:tr h="484632">
                <a:tc>
                  <a:txBody>
                    <a:bodyPr/>
                    <a:lstStyle/>
                    <a:p>
                      <a:pPr algn="ctr"/>
                      <a:r>
                        <a:t>项目</a:t>
                      </a:r>
                      <a:r>
                        <a:rPr sz="1200" b="1">
                          <a:solidFill>
                            <a:srgbClr val="00C4FF"/>
                          </a:solidFill>
                        </a:rPr>
                        <a:t>项目</a:t>
                      </a:r>
                    </a:p>
                  </a:txBody>
                  <a:tcPr>
                    <a:solidFill>
                      <a:srgbClr val="11264E"/>
                    </a:solidFill>
                  </a:tcPr>
                </a:tc>
                <a:tc>
                  <a:txBody>
                    <a:bodyPr/>
                    <a:lstStyle/>
                    <a:p>
                      <a:pPr algn="ctr"/>
                      <a:r>
                        <a:t>参数</a:t>
                      </a:r>
                      <a:r>
                        <a:rPr sz="1200" b="1">
                          <a:solidFill>
                            <a:srgbClr val="00C4FF"/>
                          </a:solidFill>
                        </a:rPr>
                        <a:t>参数</a:t>
                      </a:r>
                    </a:p>
                  </a:txBody>
                  <a:tcPr>
                    <a:solidFill>
                      <a:srgbClr val="11264E"/>
                    </a:solidFill>
                  </a:tcPr>
                </a:tc>
              </a:tr>
              <a:tr h="484632">
                <a:tc>
                  <a:txBody>
                    <a:bodyPr/>
                    <a:lstStyle/>
                    <a:p>
                      <a:pPr algn="ctr"/>
                      <a:r>
                        <a:t>运行速度</a:t>
                      </a:r>
                      <a:r>
                        <a:rPr sz="1100">
                          <a:solidFill>
                            <a:srgbClr val="FFFFFF"/>
                          </a:solidFill>
                        </a:rPr>
                        <a:t>运行速度</a:t>
                      </a:r>
                    </a:p>
                  </a:txBody>
                  <a:tcPr>
                    <a:solidFill>
                      <a:srgbClr val="11264E"/>
                    </a:solidFill>
                  </a:tcPr>
                </a:tc>
                <a:tc>
                  <a:txBody>
                    <a:bodyPr/>
                    <a:lstStyle/>
                    <a:p>
                      <a:pPr algn="ctr"/>
                      <a:r>
                        <a:t>1 m/s（3.6 km/h）</a:t>
                      </a:r>
                      <a:r>
                        <a:rPr sz="1100">
                          <a:solidFill>
                            <a:srgbClr val="FFFFFF"/>
                          </a:solidFill>
                        </a:rPr>
                        <a:t>1 m/s（3.6 km/h）</a:t>
                      </a:r>
                    </a:p>
                  </a:txBody>
                  <a:tcPr>
                    <a:solidFill>
                      <a:srgbClr val="11264E"/>
                    </a:solidFill>
                  </a:tcPr>
                </a:tc>
              </a:tr>
              <a:tr h="484632">
                <a:tc>
                  <a:txBody>
                    <a:bodyPr/>
                    <a:lstStyle/>
                    <a:p>
                      <a:pPr algn="ctr"/>
                      <a:r>
                        <a:t>每日作业</a:t>
                      </a:r>
                      <a:r>
                        <a:rPr sz="1100">
                          <a:solidFill>
                            <a:srgbClr val="FFFFFF"/>
                          </a:solidFill>
                        </a:rPr>
                        <a:t>每日作业</a:t>
                      </a:r>
                    </a:p>
                  </a:txBody>
                  <a:tcPr>
                    <a:solidFill>
                      <a:srgbClr val="16305A"/>
                    </a:solidFill>
                  </a:tcPr>
                </a:tc>
                <a:tc>
                  <a:txBody>
                    <a:bodyPr/>
                    <a:lstStyle/>
                    <a:p>
                      <a:pPr algn="ctr"/>
                      <a:r>
                        <a:t>2 小时，约 6 公里</a:t>
                      </a:r>
                      <a:r>
                        <a:rPr sz="1100">
                          <a:solidFill>
                            <a:srgbClr val="FFFFFF"/>
                          </a:solidFill>
                        </a:rPr>
                        <a:t>2 小时，约 6 公里</a:t>
                      </a:r>
                    </a:p>
                  </a:txBody>
                  <a:tcPr>
                    <a:solidFill>
                      <a:srgbClr val="16305A"/>
                    </a:solidFill>
                  </a:tcPr>
                </a:tc>
              </a:tr>
              <a:tr h="484632">
                <a:tc>
                  <a:txBody>
                    <a:bodyPr/>
                    <a:lstStyle/>
                    <a:p>
                      <a:pPr algn="ctr"/>
                      <a:r>
                        <a:t>2D工业相机</a:t>
                      </a:r>
                      <a:r>
                        <a:rPr sz="1100">
                          <a:solidFill>
                            <a:srgbClr val="FFFFFF"/>
                          </a:solidFill>
                        </a:rPr>
                        <a:t>2D工业相机</a:t>
                      </a:r>
                    </a:p>
                  </a:txBody>
                  <a:tcPr>
                    <a:solidFill>
                      <a:srgbClr val="11264E"/>
                    </a:solidFill>
                  </a:tcPr>
                </a:tc>
                <a:tc>
                  <a:txBody>
                    <a:bodyPr/>
                    <a:lstStyle/>
                    <a:p>
                      <a:pPr algn="ctr"/>
                      <a:r>
                        <a:t>6个，2448x2048，帧率 20~25 fps</a:t>
                      </a:r>
                      <a:r>
                        <a:rPr sz="1100">
                          <a:solidFill>
                            <a:srgbClr val="FFFFFF"/>
                          </a:solidFill>
                        </a:rPr>
                        <a:t>6个，2448x2048，帧率 20~25 fps</a:t>
                      </a:r>
                    </a:p>
                  </a:txBody>
                  <a:tcPr>
                    <a:solidFill>
                      <a:srgbClr val="11264E"/>
                    </a:solidFill>
                  </a:tcPr>
                </a:tc>
              </a:tr>
              <a:tr h="484632">
                <a:tc>
                  <a:txBody>
                    <a:bodyPr/>
                    <a:lstStyle/>
                    <a:p>
                      <a:pPr algn="ctr"/>
                      <a:r>
                        <a:t>3D线激光</a:t>
                      </a:r>
                      <a:r>
                        <a:rPr sz="1100">
                          <a:solidFill>
                            <a:srgbClr val="FFFFFF"/>
                          </a:solidFill>
                        </a:rPr>
                        <a:t>3D线激光</a:t>
                      </a:r>
                    </a:p>
                  </a:txBody>
                  <a:tcPr>
                    <a:solidFill>
                      <a:srgbClr val="16305A"/>
                    </a:solidFill>
                  </a:tcPr>
                </a:tc>
                <a:tc>
                  <a:txBody>
                    <a:bodyPr/>
                    <a:lstStyle/>
                    <a:p>
                      <a:pPr algn="ctr"/>
                      <a:r>
                        <a:t>2个，左右轨头轮廓，垂直朝下</a:t>
                      </a:r>
                      <a:r>
                        <a:rPr sz="1100">
                          <a:solidFill>
                            <a:srgbClr val="FFFFFF"/>
                          </a:solidFill>
                        </a:rPr>
                        <a:t>2个，左右轨头轮廓，垂直朝下</a:t>
                      </a:r>
                    </a:p>
                  </a:txBody>
                  <a:tcPr>
                    <a:solidFill>
                      <a:srgbClr val="16305A"/>
                    </a:solidFill>
                  </a:tcPr>
                </a:tc>
              </a:tr>
              <a:tr h="484632">
                <a:tc>
                  <a:txBody>
                    <a:bodyPr/>
                    <a:lstStyle/>
                    <a:p>
                      <a:pPr algn="ctr"/>
                      <a:r>
                        <a:t>双陀螺仪</a:t>
                      </a:r>
                      <a:r>
                        <a:rPr sz="1100">
                          <a:solidFill>
                            <a:srgbClr val="FFFFFF"/>
                          </a:solidFill>
                        </a:rPr>
                        <a:t>双陀螺仪</a:t>
                      </a:r>
                    </a:p>
                  </a:txBody>
                  <a:tcPr>
                    <a:solidFill>
                      <a:srgbClr val="11264E"/>
                    </a:solidFill>
                  </a:tcPr>
                </a:tc>
                <a:tc>
                  <a:txBody>
                    <a:bodyPr/>
                    <a:lstStyle/>
                    <a:p>
                      <a:pPr algn="ctr"/>
                      <a:r>
                        <a:t>水平 / 高低 / 轨向姿态检测</a:t>
                      </a:r>
                      <a:r>
                        <a:rPr sz="1100">
                          <a:solidFill>
                            <a:srgbClr val="FFFFFF"/>
                          </a:solidFill>
                        </a:rPr>
                        <a:t>水平 / 高低 / 轨向姿态检测</a:t>
                      </a:r>
                    </a:p>
                  </a:txBody>
                  <a:tcPr>
                    <a:solidFill>
                      <a:srgbClr val="11264E"/>
                    </a:solidFill>
                  </a:tcPr>
                </a:tc>
              </a:tr>
              <a:tr h="484632">
                <a:tc>
                  <a:txBody>
                    <a:bodyPr/>
                    <a:lstStyle/>
                    <a:p>
                      <a:pPr algn="ctr"/>
                      <a:r>
                        <a:t>工控机网口</a:t>
                      </a:r>
                      <a:r>
                        <a:rPr sz="1100">
                          <a:solidFill>
                            <a:srgbClr val="FFFFFF"/>
                          </a:solidFill>
                        </a:rPr>
                        <a:t>工控机网口</a:t>
                      </a:r>
                    </a:p>
                  </a:txBody>
                  <a:tcPr>
                    <a:solidFill>
                      <a:srgbClr val="16305A"/>
                    </a:solidFill>
                  </a:tcPr>
                </a:tc>
                <a:tc>
                  <a:txBody>
                    <a:bodyPr/>
                    <a:lstStyle/>
                    <a:p>
                      <a:pPr algn="ctr"/>
                      <a:r>
                        <a:t>10网口（EtherCAT+千兆网+4G/5G）</a:t>
                      </a:r>
                      <a:r>
                        <a:rPr sz="1100">
                          <a:solidFill>
                            <a:srgbClr val="FFFFFF"/>
                          </a:solidFill>
                        </a:rPr>
                        <a:t>10网口（EtherCAT+千兆网+4G/5G）</a:t>
                      </a:r>
                    </a:p>
                  </a:txBody>
                  <a:tcPr>
                    <a:solidFill>
                      <a:srgbClr val="16305A"/>
                    </a:solidFill>
                  </a:tcPr>
                </a:tc>
              </a:tr>
              <a:tr h="484632">
                <a:tc>
                  <a:txBody>
                    <a:bodyPr/>
                    <a:lstStyle/>
                    <a:p>
                      <a:pPr algn="ctr"/>
                      <a:r>
                        <a:t>主供电</a:t>
                      </a:r>
                      <a:r>
                        <a:rPr sz="1100">
                          <a:solidFill>
                            <a:srgbClr val="FFFFFF"/>
                          </a:solidFill>
                        </a:rPr>
                        <a:t>主供电</a:t>
                      </a:r>
                    </a:p>
                  </a:txBody>
                  <a:tcPr>
                    <a:solidFill>
                      <a:srgbClr val="11264E"/>
                    </a:solidFill>
                  </a:tcPr>
                </a:tc>
                <a:tc>
                  <a:txBody>
                    <a:bodyPr/>
                    <a:lstStyle/>
                    <a:p>
                      <a:pPr algn="ctr"/>
                      <a:r>
                        <a:t>48V 蓄电池组，智能供电管理</a:t>
                      </a:r>
                      <a:r>
                        <a:rPr sz="1100">
                          <a:solidFill>
                            <a:srgbClr val="FFFFFF"/>
                          </a:solidFill>
                        </a:rPr>
                        <a:t>48V 蓄电池组，智能供电管理</a:t>
                      </a:r>
                    </a:p>
                  </a:txBody>
                  <a:tcPr>
                    <a:solidFill>
                      <a:srgbClr val="11264E"/>
                    </a:solidFill>
                  </a:tcPr>
                </a:tc>
              </a:tr>
              <a:tr h="484632">
                <a:tc>
                  <a:txBody>
                    <a:bodyPr/>
                    <a:lstStyle/>
                    <a:p>
                      <a:pPr algn="ctr"/>
                      <a:r>
                        <a:t>防护等级</a:t>
                      </a:r>
                      <a:r>
                        <a:rPr sz="1100">
                          <a:solidFill>
                            <a:srgbClr val="FFFFFF"/>
                          </a:solidFill>
                        </a:rPr>
                        <a:t>防护等级</a:t>
                      </a:r>
                    </a:p>
                  </a:txBody>
                  <a:tcPr>
                    <a:solidFill>
                      <a:srgbClr val="16305A"/>
                    </a:solidFill>
                  </a:tcPr>
                </a:tc>
                <a:tc>
                  <a:txBody>
                    <a:bodyPr/>
                    <a:lstStyle/>
                    <a:p>
                      <a:pPr algn="ctr"/>
                      <a:r>
                        <a:t>IP54（工控机）/ IP67（相机/激光）</a:t>
                      </a:r>
                      <a:r>
                        <a:rPr sz="1100">
                          <a:solidFill>
                            <a:srgbClr val="FFFFFF"/>
                          </a:solidFill>
                        </a:rPr>
                        <a:t>IP54（工控机）/ IP67（相机/激光）</a:t>
                      </a:r>
                    </a:p>
                  </a:txBody>
                  <a:tcPr>
                    <a:solidFill>
                      <a:srgbClr val="16305A"/>
                    </a:solidFill>
                  </a:tcPr>
                </a:tc>
              </a:tr>
              <a:tr h="484632">
                <a:tc>
                  <a:txBody>
                    <a:bodyPr/>
                    <a:lstStyle/>
                    <a:p>
                      <a:pPr algn="ctr"/>
                      <a:r>
                        <a:t>急停保护</a:t>
                      </a:r>
                      <a:r>
                        <a:rPr sz="1100">
                          <a:solidFill>
                            <a:srgbClr val="FFFFFF"/>
                          </a:solidFill>
                        </a:rPr>
                        <a:t>急停保护</a:t>
                      </a:r>
                    </a:p>
                  </a:txBody>
                  <a:tcPr>
                    <a:solidFill>
                      <a:srgbClr val="11264E"/>
                    </a:solidFill>
                  </a:tcPr>
                </a:tc>
                <a:tc>
                  <a:txBody>
                    <a:bodyPr/>
                    <a:lstStyle/>
                    <a:p>
                      <a:pPr algn="ctr"/>
                      <a:r>
                        <a:t>硬件独立回路，失效导向安全</a:t>
                      </a:r>
                      <a:r>
                        <a:rPr sz="1100">
                          <a:solidFill>
                            <a:srgbClr val="FFFFFF"/>
                          </a:solidFill>
                        </a:rPr>
                        <a:t>硬件独立回路，失效导向安全</a:t>
                      </a:r>
                    </a:p>
                  </a:txBody>
                  <a:tcPr>
                    <a:solidFill>
                      <a:srgbClr val="11264E"/>
                    </a:solidFill>
                  </a:tcPr>
                </a:tc>
              </a:tr>
            </a:tbl>
          </a:graphicData>
        </a:graphic>
      </p:graphicFrame>
      <p:sp>
        <p:nvSpPr>
          <p:cNvPr id="7" name="Rectangle 6"/>
          <p:cNvSpPr/>
          <p:nvPr/>
        </p:nvSpPr>
        <p:spPr>
          <a:xfrm>
            <a:off x="0" y="6492240"/>
            <a:ext cx="12188952" cy="365760"/>
          </a:xfrm>
          <a:prstGeom prst="rect">
            <a:avLst/>
          </a:prstGeom>
          <a:solidFill>
            <a:srgbClr val="1126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6519672"/>
            <a:ext cx="4572000" cy="320040"/>
          </a:xfrm>
          <a:prstGeom prst="rect">
            <a:avLst/>
          </a:prstGeom>
          <a:noFill/>
        </p:spPr>
        <p:txBody>
          <a:bodyPr wrap="square">
            <a:spAutoFit/>
          </a:bodyPr>
          <a:lstStyle/>
          <a:p>
            <a:pPr algn="l"/>
            <a:r>
              <a:rPr sz="1000" b="0">
                <a:solidFill>
                  <a:srgbClr val="A0B4CC"/>
                </a:solidFill>
              </a:rPr>
              <a:t>铁路线路智能综合检测机器人</a:t>
            </a:r>
          </a:p>
        </p:txBody>
      </p:sp>
      <p:sp>
        <p:nvSpPr>
          <p:cNvPr id="9" name="TextBox 8"/>
          <p:cNvSpPr txBox="1"/>
          <p:nvPr/>
        </p:nvSpPr>
        <p:spPr>
          <a:xfrm>
            <a:off x="10972800" y="6519672"/>
            <a:ext cx="1005840" cy="320040"/>
          </a:xfrm>
          <a:prstGeom prst="rect">
            <a:avLst/>
          </a:prstGeom>
          <a:noFill/>
        </p:spPr>
        <p:txBody>
          <a:bodyPr wrap="square">
            <a:spAutoFit/>
          </a:bodyPr>
          <a:lstStyle/>
          <a:p>
            <a:pPr algn="r"/>
            <a:r>
              <a:rPr sz="1000" b="0">
                <a:solidFill>
                  <a:srgbClr val="A0B4CC"/>
                </a:solidFill>
              </a:rPr>
              <a:t>21 / 28</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C1D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280160"/>
          </a:xfrm>
          <a:prstGeom prst="rect">
            <a:avLst/>
          </a:prstGeom>
          <a:solidFill>
            <a:srgbClr val="1126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280160"/>
            <a:ext cx="12188952" cy="45720"/>
          </a:xfrm>
          <a:prstGeom prst="rect">
            <a:avLst/>
          </a:prstGeom>
          <a:solidFill>
            <a:srgbClr val="00C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82880"/>
            <a:ext cx="11430000" cy="914400"/>
          </a:xfrm>
          <a:prstGeom prst="rect">
            <a:avLst/>
          </a:prstGeom>
          <a:noFill/>
        </p:spPr>
        <p:txBody>
          <a:bodyPr wrap="square">
            <a:spAutoFit/>
          </a:bodyPr>
          <a:lstStyle/>
          <a:p>
            <a:pPr algn="l"/>
            <a:r>
              <a:rPr sz="2800" b="1">
                <a:solidFill>
                  <a:srgbClr val="FFFFFF"/>
                </a:solidFill>
              </a:rPr>
              <a:t>人机交互系统</a:t>
            </a:r>
          </a:p>
        </p:txBody>
      </p:sp>
      <p:graphicFrame>
        <p:nvGraphicFramePr>
          <p:cNvPr id="6" name="Table 5"/>
          <p:cNvGraphicFramePr>
            <a:graphicFrameLocks noGrp="1"/>
          </p:cNvGraphicFramePr>
          <p:nvPr/>
        </p:nvGraphicFramePr>
        <p:xfrm>
          <a:off x="548640" y="1508760"/>
          <a:ext cx="11064240" cy="4846320"/>
        </p:xfrm>
        <a:graphic>
          <a:graphicData uri="http://schemas.openxmlformats.org/drawingml/2006/table">
            <a:tbl>
              <a:tblPr firstRow="1" bandRow="1">
                <a:tableStyleId>{5C22544A-7EE6-4342-B048-85BDC9FD1C3A}</a:tableStyleId>
              </a:tblPr>
              <a:tblGrid>
                <a:gridCol w="3688080"/>
                <a:gridCol w="3688080"/>
                <a:gridCol w="3688080"/>
              </a:tblGrid>
              <a:tr h="692331">
                <a:tc>
                  <a:txBody>
                    <a:bodyPr/>
                    <a:lstStyle/>
                    <a:p>
                      <a:pPr algn="ctr"/>
                      <a:r>
                        <a:t>控制方式</a:t>
                      </a:r>
                      <a:r>
                        <a:rPr sz="1200" b="1">
                          <a:solidFill>
                            <a:srgbClr val="00C4FF"/>
                          </a:solidFill>
                        </a:rPr>
                        <a:t>控制方式</a:t>
                      </a:r>
                    </a:p>
                  </a:txBody>
                  <a:tcPr>
                    <a:solidFill>
                      <a:srgbClr val="11264E"/>
                    </a:solidFill>
                  </a:tcPr>
                </a:tc>
                <a:tc>
                  <a:txBody>
                    <a:bodyPr/>
                    <a:lstStyle/>
                    <a:p>
                      <a:pPr algn="ctr"/>
                      <a:r>
                        <a:t>说明</a:t>
                      </a:r>
                      <a:r>
                        <a:rPr sz="1200" b="1">
                          <a:solidFill>
                            <a:srgbClr val="00C4FF"/>
                          </a:solidFill>
                        </a:rPr>
                        <a:t>说明</a:t>
                      </a:r>
                    </a:p>
                  </a:txBody>
                  <a:tcPr>
                    <a:solidFill>
                      <a:srgbClr val="11264E"/>
                    </a:solidFill>
                  </a:tcPr>
                </a:tc>
                <a:tc>
                  <a:txBody>
                    <a:bodyPr/>
                    <a:lstStyle/>
                    <a:p>
                      <a:pPr algn="ctr"/>
                      <a:r>
                        <a:t>适用场景</a:t>
                      </a:r>
                      <a:r>
                        <a:rPr sz="1200" b="1">
                          <a:solidFill>
                            <a:srgbClr val="00C4FF"/>
                          </a:solidFill>
                        </a:rPr>
                        <a:t>适用场景</a:t>
                      </a:r>
                    </a:p>
                  </a:txBody>
                  <a:tcPr>
                    <a:solidFill>
                      <a:srgbClr val="11264E"/>
                    </a:solidFill>
                  </a:tcPr>
                </a:tc>
              </a:tr>
              <a:tr h="692331">
                <a:tc>
                  <a:txBody>
                    <a:bodyPr/>
                    <a:lstStyle/>
                    <a:p>
                      <a:pPr algn="ctr"/>
                      <a:r>
                        <a:t>金属物理按钮</a:t>
                      </a:r>
                      <a:r>
                        <a:rPr sz="1100">
                          <a:solidFill>
                            <a:srgbClr val="FFFFFF"/>
                          </a:solidFill>
                        </a:rPr>
                        <a:t>金属物理按钮</a:t>
                      </a:r>
                    </a:p>
                  </a:txBody>
                  <a:tcPr>
                    <a:solidFill>
                      <a:srgbClr val="11264E"/>
                    </a:solidFill>
                  </a:tcPr>
                </a:tc>
                <a:tc>
                  <a:txBody>
                    <a:bodyPr/>
                    <a:lstStyle/>
                    <a:p>
                      <a:pPr algn="ctr"/>
                      <a:r>
                        <a:t>实体按键，盲操作可靠</a:t>
                      </a:r>
                      <a:r>
                        <a:rPr sz="1100">
                          <a:solidFill>
                            <a:srgbClr val="FFFFFF"/>
                          </a:solidFill>
                        </a:rPr>
                        <a:t>实体按键，盲操作可靠</a:t>
                      </a:r>
                    </a:p>
                  </a:txBody>
                  <a:tcPr>
                    <a:solidFill>
                      <a:srgbClr val="11264E"/>
                    </a:solidFill>
                  </a:tcPr>
                </a:tc>
                <a:tc>
                  <a:txBody>
                    <a:bodyPr/>
                    <a:lstStyle/>
                    <a:p>
                      <a:pPr algn="ctr"/>
                      <a:r>
                        <a:t>现场紧急操作 / 屏幕故障兜底</a:t>
                      </a:r>
                      <a:r>
                        <a:rPr sz="1100">
                          <a:solidFill>
                            <a:srgbClr val="FFFFFF"/>
                          </a:solidFill>
                        </a:rPr>
                        <a:t>现场紧急操作 / 屏幕故障兜底</a:t>
                      </a:r>
                    </a:p>
                  </a:txBody>
                  <a:tcPr>
                    <a:solidFill>
                      <a:srgbClr val="11264E"/>
                    </a:solidFill>
                  </a:tcPr>
                </a:tc>
              </a:tr>
              <a:tr h="692331">
                <a:tc>
                  <a:txBody>
                    <a:bodyPr/>
                    <a:lstStyle/>
                    <a:p>
                      <a:pPr algn="ctr"/>
                      <a:r>
                        <a:t>触摸屏控制</a:t>
                      </a:r>
                      <a:r>
                        <a:rPr sz="1100">
                          <a:solidFill>
                            <a:srgbClr val="FFFFFF"/>
                          </a:solidFill>
                        </a:rPr>
                        <a:t>触摸屏控制</a:t>
                      </a:r>
                    </a:p>
                  </a:txBody>
                  <a:tcPr>
                    <a:solidFill>
                      <a:srgbClr val="16305A"/>
                    </a:solidFill>
                  </a:tcPr>
                </a:tc>
                <a:tc>
                  <a:txBody>
                    <a:bodyPr/>
                    <a:lstStyle/>
                    <a:p>
                      <a:pPr algn="ctr"/>
                      <a:r>
                        <a:t>参数设置+状态监控+数据预览</a:t>
                      </a:r>
                      <a:r>
                        <a:rPr sz="1100">
                          <a:solidFill>
                            <a:srgbClr val="FFFFFF"/>
                          </a:solidFill>
                        </a:rPr>
                        <a:t>参数设置+状态监控+数据预览</a:t>
                      </a:r>
                    </a:p>
                  </a:txBody>
                  <a:tcPr>
                    <a:solidFill>
                      <a:srgbClr val="16305A"/>
                    </a:solidFill>
                  </a:tcPr>
                </a:tc>
                <a:tc>
                  <a:txBody>
                    <a:bodyPr/>
                    <a:lstStyle/>
                    <a:p>
                      <a:pPr algn="ctr"/>
                      <a:r>
                        <a:t>出发前设置 / 作业中监控</a:t>
                      </a:r>
                      <a:r>
                        <a:rPr sz="1100">
                          <a:solidFill>
                            <a:srgbClr val="FFFFFF"/>
                          </a:solidFill>
                        </a:rPr>
                        <a:t>出发前设置 / 作业中监控</a:t>
                      </a:r>
                    </a:p>
                  </a:txBody>
                  <a:tcPr>
                    <a:solidFill>
                      <a:srgbClr val="16305A"/>
                    </a:solidFill>
                  </a:tcPr>
                </a:tc>
              </a:tr>
              <a:tr h="692331">
                <a:tc>
                  <a:txBody>
                    <a:bodyPr/>
                    <a:lstStyle/>
                    <a:p>
                      <a:pPr algn="ctr"/>
                      <a:r>
                        <a:t>遥控控制</a:t>
                      </a:r>
                      <a:r>
                        <a:rPr sz="1100">
                          <a:solidFill>
                            <a:srgbClr val="FFFFFF"/>
                          </a:solidFill>
                        </a:rPr>
                        <a:t>遥控控制</a:t>
                      </a:r>
                    </a:p>
                  </a:txBody>
                  <a:tcPr>
                    <a:solidFill>
                      <a:srgbClr val="11264E"/>
                    </a:solidFill>
                  </a:tcPr>
                </a:tc>
                <a:tc>
                  <a:txBody>
                    <a:bodyPr/>
                    <a:lstStyle/>
                    <a:p>
                      <a:pPr algn="ctr"/>
                      <a:r>
                        <a:t>远距离启停/速度/返航</a:t>
                      </a:r>
                      <a:r>
                        <a:rPr sz="1100">
                          <a:solidFill>
                            <a:srgbClr val="FFFFFF"/>
                          </a:solidFill>
                        </a:rPr>
                        <a:t>远距离启停/速度/返航</a:t>
                      </a:r>
                    </a:p>
                  </a:txBody>
                  <a:tcPr>
                    <a:solidFill>
                      <a:srgbClr val="11264E"/>
                    </a:solidFill>
                  </a:tcPr>
                </a:tc>
                <a:tc>
                  <a:txBody>
                    <a:bodyPr/>
                    <a:lstStyle/>
                    <a:p>
                      <a:pPr algn="ctr"/>
                      <a:r>
                        <a:t>复杂现场 / 远距离操作</a:t>
                      </a:r>
                      <a:r>
                        <a:rPr sz="1100">
                          <a:solidFill>
                            <a:srgbClr val="FFFFFF"/>
                          </a:solidFill>
                        </a:rPr>
                        <a:t>复杂现场 / 远距离操作</a:t>
                      </a:r>
                    </a:p>
                  </a:txBody>
                  <a:tcPr>
                    <a:solidFill>
                      <a:srgbClr val="11264E"/>
                    </a:solidFill>
                  </a:tcPr>
                </a:tc>
              </a:tr>
              <a:tr h="692331">
                <a:tc>
                  <a:txBody>
                    <a:bodyPr/>
                    <a:lstStyle/>
                    <a:p>
                      <a:pPr algn="ctr"/>
                      <a:r>
                        <a:t>定速巡航</a:t>
                      </a:r>
                      <a:r>
                        <a:rPr sz="1100">
                          <a:solidFill>
                            <a:srgbClr val="FFFFFF"/>
                          </a:solidFill>
                        </a:rPr>
                        <a:t>定速巡航</a:t>
                      </a:r>
                    </a:p>
                  </a:txBody>
                  <a:tcPr>
                    <a:solidFill>
                      <a:srgbClr val="16305A"/>
                    </a:solidFill>
                  </a:tcPr>
                </a:tc>
                <a:tc>
                  <a:txBody>
                    <a:bodyPr/>
                    <a:lstStyle/>
                    <a:p>
                      <a:pPr algn="ctr"/>
                      <a:r>
                        <a:t>设定速度自动保持匀速</a:t>
                      </a:r>
                      <a:r>
                        <a:rPr sz="1100">
                          <a:solidFill>
                            <a:srgbClr val="FFFFFF"/>
                          </a:solidFill>
                        </a:rPr>
                        <a:t>设定速度自动保持匀速</a:t>
                      </a:r>
                    </a:p>
                  </a:txBody>
                  <a:tcPr>
                    <a:solidFill>
                      <a:srgbClr val="16305A"/>
                    </a:solidFill>
                  </a:tcPr>
                </a:tc>
                <a:tc>
                  <a:txBody>
                    <a:bodyPr/>
                    <a:lstStyle/>
                    <a:p>
                      <a:pPr algn="ctr"/>
                      <a:r>
                        <a:t>保证采集速度一致性</a:t>
                      </a:r>
                      <a:r>
                        <a:rPr sz="1100">
                          <a:solidFill>
                            <a:srgbClr val="FFFFFF"/>
                          </a:solidFill>
                        </a:rPr>
                        <a:t>保证采集速度一致性</a:t>
                      </a:r>
                    </a:p>
                  </a:txBody>
                  <a:tcPr>
                    <a:solidFill>
                      <a:srgbClr val="16305A"/>
                    </a:solidFill>
                  </a:tcPr>
                </a:tc>
              </a:tr>
              <a:tr h="692331">
                <a:tc>
                  <a:txBody>
                    <a:bodyPr/>
                    <a:lstStyle/>
                    <a:p>
                      <a:pPr algn="ctr"/>
                      <a:r>
                        <a:t>定点返程</a:t>
                      </a:r>
                      <a:r>
                        <a:rPr sz="1100">
                          <a:solidFill>
                            <a:srgbClr val="FFFFFF"/>
                          </a:solidFill>
                        </a:rPr>
                        <a:t>定点返程</a:t>
                      </a:r>
                    </a:p>
                  </a:txBody>
                  <a:tcPr>
                    <a:solidFill>
                      <a:srgbClr val="11264E"/>
                    </a:solidFill>
                  </a:tcPr>
                </a:tc>
                <a:tc>
                  <a:txBody>
                    <a:bodyPr/>
                    <a:lstStyle/>
                    <a:p>
                      <a:pPr algn="ctr"/>
                      <a:r>
                        <a:t>一键自动返航至起点</a:t>
                      </a:r>
                      <a:r>
                        <a:rPr sz="1100">
                          <a:solidFill>
                            <a:srgbClr val="FFFFFF"/>
                          </a:solidFill>
                        </a:rPr>
                        <a:t>一键自动返航至起点</a:t>
                      </a:r>
                    </a:p>
                  </a:txBody>
                  <a:tcPr>
                    <a:solidFill>
                      <a:srgbClr val="11264E"/>
                    </a:solidFill>
                  </a:tcPr>
                </a:tc>
                <a:tc>
                  <a:txBody>
                    <a:bodyPr/>
                    <a:lstStyle/>
                    <a:p>
                      <a:pPr algn="ctr"/>
                      <a:r>
                        <a:t>防止复杂现场无法回收</a:t>
                      </a:r>
                      <a:r>
                        <a:rPr sz="1100">
                          <a:solidFill>
                            <a:srgbClr val="FFFFFF"/>
                          </a:solidFill>
                        </a:rPr>
                        <a:t>防止复杂现场无法回收</a:t>
                      </a:r>
                    </a:p>
                  </a:txBody>
                  <a:tcPr>
                    <a:solidFill>
                      <a:srgbClr val="11264E"/>
                    </a:solidFill>
                  </a:tcPr>
                </a:tc>
              </a:tr>
              <a:tr h="692334">
                <a:tc>
                  <a:txBody>
                    <a:bodyPr/>
                    <a:lstStyle/>
                    <a:p>
                      <a:pPr algn="ctr"/>
                      <a:r>
                        <a:t>语音控制（规划）</a:t>
                      </a:r>
                      <a:r>
                        <a:rPr sz="1100">
                          <a:solidFill>
                            <a:srgbClr val="FFFFFF"/>
                          </a:solidFill>
                        </a:rPr>
                        <a:t>语音控制（规划）</a:t>
                      </a:r>
                    </a:p>
                  </a:txBody>
                  <a:tcPr>
                    <a:solidFill>
                      <a:srgbClr val="16305A"/>
                    </a:solidFill>
                  </a:tcPr>
                </a:tc>
                <a:tc>
                  <a:txBody>
                    <a:bodyPr/>
                    <a:lstStyle/>
                    <a:p>
                      <a:pPr algn="ctr"/>
                      <a:r>
                        <a:t>喊话操控，解放双手</a:t>
                      </a:r>
                      <a:r>
                        <a:rPr sz="1100">
                          <a:solidFill>
                            <a:srgbClr val="FFFFFF"/>
                          </a:solidFill>
                        </a:rPr>
                        <a:t>喊话操控，解放双手</a:t>
                      </a:r>
                    </a:p>
                  </a:txBody>
                  <a:tcPr>
                    <a:solidFill>
                      <a:srgbClr val="16305A"/>
                    </a:solidFill>
                  </a:tcPr>
                </a:tc>
                <a:tc>
                  <a:txBody>
                    <a:bodyPr/>
                    <a:lstStyle/>
                    <a:p>
                      <a:pPr algn="ctr"/>
                      <a:r>
                        <a:t>降低使用门槛</a:t>
                      </a:r>
                      <a:r>
                        <a:rPr sz="1100">
                          <a:solidFill>
                            <a:srgbClr val="FFFFFF"/>
                          </a:solidFill>
                        </a:rPr>
                        <a:t>降低使用门槛</a:t>
                      </a:r>
                    </a:p>
                  </a:txBody>
                  <a:tcPr>
                    <a:solidFill>
                      <a:srgbClr val="16305A"/>
                    </a:solidFill>
                  </a:tcPr>
                </a:tc>
              </a:tr>
            </a:tbl>
          </a:graphicData>
        </a:graphic>
      </p:graphicFrame>
      <p:sp>
        <p:nvSpPr>
          <p:cNvPr id="7" name="Rectangle 6"/>
          <p:cNvSpPr/>
          <p:nvPr/>
        </p:nvSpPr>
        <p:spPr>
          <a:xfrm>
            <a:off x="0" y="6492240"/>
            <a:ext cx="12188952" cy="365760"/>
          </a:xfrm>
          <a:prstGeom prst="rect">
            <a:avLst/>
          </a:prstGeom>
          <a:solidFill>
            <a:srgbClr val="1126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6519672"/>
            <a:ext cx="4572000" cy="320040"/>
          </a:xfrm>
          <a:prstGeom prst="rect">
            <a:avLst/>
          </a:prstGeom>
          <a:noFill/>
        </p:spPr>
        <p:txBody>
          <a:bodyPr wrap="square">
            <a:spAutoFit/>
          </a:bodyPr>
          <a:lstStyle/>
          <a:p>
            <a:pPr algn="l"/>
            <a:r>
              <a:rPr sz="1000" b="0">
                <a:solidFill>
                  <a:srgbClr val="A0B4CC"/>
                </a:solidFill>
              </a:rPr>
              <a:t>铁路线路智能综合检测机器人</a:t>
            </a:r>
          </a:p>
        </p:txBody>
      </p:sp>
      <p:sp>
        <p:nvSpPr>
          <p:cNvPr id="9" name="TextBox 8"/>
          <p:cNvSpPr txBox="1"/>
          <p:nvPr/>
        </p:nvSpPr>
        <p:spPr>
          <a:xfrm>
            <a:off x="10972800" y="6519672"/>
            <a:ext cx="1005840" cy="320040"/>
          </a:xfrm>
          <a:prstGeom prst="rect">
            <a:avLst/>
          </a:prstGeom>
          <a:noFill/>
        </p:spPr>
        <p:txBody>
          <a:bodyPr wrap="square">
            <a:spAutoFit/>
          </a:bodyPr>
          <a:lstStyle/>
          <a:p>
            <a:pPr algn="r"/>
            <a:r>
              <a:rPr sz="1000" b="0">
                <a:solidFill>
                  <a:srgbClr val="A0B4CC"/>
                </a:solidFill>
              </a:rPr>
              <a:t>22 / 28</a:t>
            </a:r>
          </a:p>
        </p:txBody>
      </p:sp>
      <p:sp>
        <p:nvSpPr>
          <p:cNvPr id="10" name="Rectangle 9"/>
          <p:cNvSpPr/>
          <p:nvPr/>
        </p:nvSpPr>
        <p:spPr>
          <a:xfrm>
            <a:off x="0" y="6492240"/>
            <a:ext cx="12188952" cy="365760"/>
          </a:xfrm>
          <a:prstGeom prst="rect">
            <a:avLst/>
          </a:prstGeom>
          <a:solidFill>
            <a:srgbClr val="1126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 y="6519672"/>
            <a:ext cx="4572000" cy="320040"/>
          </a:xfrm>
          <a:prstGeom prst="rect">
            <a:avLst/>
          </a:prstGeom>
          <a:noFill/>
        </p:spPr>
        <p:txBody>
          <a:bodyPr wrap="square">
            <a:spAutoFit/>
          </a:bodyPr>
          <a:lstStyle/>
          <a:p>
            <a:pPr algn="l"/>
            <a:r>
              <a:rPr sz="1000" b="0">
                <a:solidFill>
                  <a:srgbClr val="A0B4CC"/>
                </a:solidFill>
              </a:rPr>
              <a:t>铁路线路智能综合检测机器人</a:t>
            </a:r>
          </a:p>
        </p:txBody>
      </p:sp>
      <p:sp>
        <p:nvSpPr>
          <p:cNvPr id="12" name="TextBox 11"/>
          <p:cNvSpPr txBox="1"/>
          <p:nvPr/>
        </p:nvSpPr>
        <p:spPr>
          <a:xfrm>
            <a:off x="10972800" y="6519672"/>
            <a:ext cx="1005840" cy="320040"/>
          </a:xfrm>
          <a:prstGeom prst="rect">
            <a:avLst/>
          </a:prstGeom>
          <a:noFill/>
        </p:spPr>
        <p:txBody>
          <a:bodyPr wrap="square">
            <a:spAutoFit/>
          </a:bodyPr>
          <a:lstStyle/>
          <a:p>
            <a:pPr algn="r"/>
            <a:r>
              <a:rPr sz="1000" b="0">
                <a:solidFill>
                  <a:srgbClr val="A0B4CC"/>
                </a:solidFill>
              </a:rPr>
              <a:t>23 / 28</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C1D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20040" cy="6858000"/>
          </a:xfrm>
          <a:prstGeom prst="rect">
            <a:avLst/>
          </a:prstGeom>
          <a:solidFill>
            <a:srgbClr val="00C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0" y="3474720"/>
            <a:ext cx="4572000" cy="50800"/>
          </a:xfrm>
          <a:prstGeom prst="rect">
            <a:avLst/>
          </a:prstGeom>
          <a:solidFill>
            <a:srgbClr val="00C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828800"/>
            <a:ext cx="10515600" cy="1371600"/>
          </a:xfrm>
          <a:prstGeom prst="rect">
            <a:avLst/>
          </a:prstGeom>
          <a:noFill/>
        </p:spPr>
        <p:txBody>
          <a:bodyPr wrap="square">
            <a:spAutoFit/>
          </a:bodyPr>
          <a:lstStyle/>
          <a:p>
            <a:pPr algn="l"/>
            <a:r>
              <a:rPr sz="4400" b="1">
                <a:solidFill>
                  <a:srgbClr val="FFFFFF"/>
                </a:solidFill>
              </a:rPr>
              <a:t>08</a:t>
            </a:r>
          </a:p>
        </p:txBody>
      </p:sp>
      <p:sp>
        <p:nvSpPr>
          <p:cNvPr id="6" name="TextBox 5"/>
          <p:cNvSpPr txBox="1"/>
          <p:nvPr/>
        </p:nvSpPr>
        <p:spPr>
          <a:xfrm>
            <a:off x="548640" y="3566160"/>
            <a:ext cx="10515600" cy="548640"/>
          </a:xfrm>
          <a:prstGeom prst="rect">
            <a:avLst/>
          </a:prstGeom>
          <a:noFill/>
        </p:spPr>
        <p:txBody>
          <a:bodyPr wrap="square">
            <a:spAutoFit/>
          </a:bodyPr>
          <a:lstStyle/>
          <a:p>
            <a:pPr algn="l"/>
            <a:r>
              <a:rPr sz="1800" b="0">
                <a:solidFill>
                  <a:srgbClr val="A0B4CC"/>
                </a:solidFill>
              </a:rPr>
              <a:t>设备运行状态远程监测系统</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C1D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280160"/>
          </a:xfrm>
          <a:prstGeom prst="rect">
            <a:avLst/>
          </a:prstGeom>
          <a:solidFill>
            <a:srgbClr val="1126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280160"/>
            <a:ext cx="12188952" cy="45720"/>
          </a:xfrm>
          <a:prstGeom prst="rect">
            <a:avLst/>
          </a:prstGeom>
          <a:solidFill>
            <a:srgbClr val="00C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82880"/>
            <a:ext cx="11430000" cy="914400"/>
          </a:xfrm>
          <a:prstGeom prst="rect">
            <a:avLst/>
          </a:prstGeom>
          <a:noFill/>
        </p:spPr>
        <p:txBody>
          <a:bodyPr wrap="square">
            <a:spAutoFit/>
          </a:bodyPr>
          <a:lstStyle/>
          <a:p>
            <a:pPr algn="l"/>
            <a:r>
              <a:rPr sz="2800" b="1">
                <a:solidFill>
                  <a:srgbClr val="FFFFFF"/>
                </a:solidFill>
              </a:rPr>
              <a:t>机器人运行状态远程监测系统</a:t>
            </a:r>
          </a:p>
        </p:txBody>
      </p:sp>
      <p:sp>
        <p:nvSpPr>
          <p:cNvPr id="6" name="TextBox 5"/>
          <p:cNvSpPr txBox="1"/>
          <p:nvPr/>
        </p:nvSpPr>
        <p:spPr>
          <a:xfrm>
            <a:off x="365760" y="914400"/>
            <a:ext cx="11430000" cy="320040"/>
          </a:xfrm>
          <a:prstGeom prst="rect">
            <a:avLst/>
          </a:prstGeom>
          <a:noFill/>
        </p:spPr>
        <p:txBody>
          <a:bodyPr wrap="square">
            <a:spAutoFit/>
          </a:bodyPr>
          <a:lstStyle/>
          <a:p>
            <a:pPr algn="l"/>
            <a:r>
              <a:rPr sz="1300" b="0">
                <a:solidFill>
                  <a:srgbClr val="A0B4CC"/>
                </a:solidFill>
              </a:rPr>
              <a:t>让设备从"看不见摸不着"变为"全程可视化可控"</a:t>
            </a:r>
          </a:p>
        </p:txBody>
      </p:sp>
      <p:sp>
        <p:nvSpPr>
          <p:cNvPr id="7" name="Rectangle 6"/>
          <p:cNvSpPr/>
          <p:nvPr/>
        </p:nvSpPr>
        <p:spPr>
          <a:xfrm>
            <a:off x="457200" y="1508760"/>
            <a:ext cx="5577840" cy="2286000"/>
          </a:xfrm>
          <a:prstGeom prst="rect">
            <a:avLst/>
          </a:prstGeom>
          <a:solidFill>
            <a:srgbClr val="1126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508760"/>
            <a:ext cx="5577840" cy="54864"/>
          </a:xfrm>
          <a:prstGeom prst="rect">
            <a:avLst/>
          </a:prstGeom>
          <a:solidFill>
            <a:srgbClr val="00D4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1600200"/>
            <a:ext cx="5303520" cy="822960"/>
          </a:xfrm>
          <a:prstGeom prst="rect">
            <a:avLst/>
          </a:prstGeom>
          <a:noFill/>
        </p:spPr>
        <p:txBody>
          <a:bodyPr wrap="square">
            <a:spAutoFit/>
          </a:bodyPr>
          <a:lstStyle/>
          <a:p>
            <a:pPr algn="l"/>
            <a:r>
              <a:rPr sz="1600" b="1">
                <a:solidFill>
                  <a:srgbClr val="00D47A"/>
                </a:solidFill>
              </a:rPr>
              <a:t>电力状态
实时监测</a:t>
            </a:r>
          </a:p>
        </p:txBody>
      </p:sp>
      <p:sp>
        <p:nvSpPr>
          <p:cNvPr id="10" name="TextBox 9"/>
          <p:cNvSpPr txBox="1"/>
          <p:nvPr/>
        </p:nvSpPr>
        <p:spPr>
          <a:xfrm>
            <a:off x="594360" y="2468880"/>
            <a:ext cx="5303520" cy="1234440"/>
          </a:xfrm>
          <a:prstGeom prst="rect">
            <a:avLst/>
          </a:prstGeom>
          <a:noFill/>
        </p:spPr>
        <p:txBody>
          <a:bodyPr wrap="square">
            <a:spAutoFit/>
          </a:bodyPr>
          <a:lstStyle/>
          <a:p>
            <a:pPr>
              <a:spcBef>
                <a:spcPts val="200"/>
              </a:spcBef>
            </a:pPr>
            <a:r>
              <a:rPr sz="1200">
                <a:solidFill>
                  <a:srgbClr val="FFFFFF"/>
                </a:solidFill>
              </a:rPr>
              <a:t>* 蓄电池电压/电流/SOC</a:t>
            </a:r>
          </a:p>
          <a:p>
            <a:pPr>
              <a:spcBef>
                <a:spcPts val="200"/>
              </a:spcBef>
            </a:pPr>
            <a:r>
              <a:rPr sz="1200">
                <a:solidFill>
                  <a:srgbClr val="FFFFFF"/>
                </a:solidFill>
              </a:rPr>
              <a:t>* 容量百分比/健康状态SOH</a:t>
            </a:r>
          </a:p>
          <a:p>
            <a:pPr>
              <a:spcBef>
                <a:spcPts val="200"/>
              </a:spcBef>
            </a:pPr>
            <a:r>
              <a:rPr sz="1200">
                <a:solidFill>
                  <a:srgbClr val="FFFFFF"/>
                </a:solidFill>
              </a:rPr>
              <a:t>* 充放电实时曲线</a:t>
            </a:r>
          </a:p>
          <a:p>
            <a:pPr>
              <a:spcBef>
                <a:spcPts val="200"/>
              </a:spcBef>
            </a:pPr>
            <a:r>
              <a:rPr sz="1200">
                <a:solidFill>
                  <a:srgbClr val="FFFFFF"/>
                </a:solidFill>
              </a:rPr>
              <a:t>* 续航里程预估</a:t>
            </a:r>
          </a:p>
          <a:p>
            <a:pPr>
              <a:spcBef>
                <a:spcPts val="200"/>
              </a:spcBef>
            </a:pPr>
            <a:r>
              <a:rPr sz="1200">
                <a:solidFill>
                  <a:srgbClr val="FFFFFF"/>
                </a:solidFill>
              </a:rPr>
              <a:t>* 欠压/过压/过温报警</a:t>
            </a:r>
          </a:p>
        </p:txBody>
      </p:sp>
      <p:sp>
        <p:nvSpPr>
          <p:cNvPr id="11" name="Rectangle 10"/>
          <p:cNvSpPr/>
          <p:nvPr/>
        </p:nvSpPr>
        <p:spPr>
          <a:xfrm>
            <a:off x="6309360" y="1508760"/>
            <a:ext cx="5577840" cy="2286000"/>
          </a:xfrm>
          <a:prstGeom prst="rect">
            <a:avLst/>
          </a:prstGeom>
          <a:solidFill>
            <a:srgbClr val="1126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09360" y="1508760"/>
            <a:ext cx="5577840" cy="54864"/>
          </a:xfrm>
          <a:prstGeom prst="rect">
            <a:avLst/>
          </a:prstGeom>
          <a:solidFill>
            <a:srgbClr val="00C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46520" y="1600200"/>
            <a:ext cx="5303520" cy="822960"/>
          </a:xfrm>
          <a:prstGeom prst="rect">
            <a:avLst/>
          </a:prstGeom>
          <a:noFill/>
        </p:spPr>
        <p:txBody>
          <a:bodyPr wrap="square">
            <a:spAutoFit/>
          </a:bodyPr>
          <a:lstStyle/>
          <a:p>
            <a:pPr algn="l"/>
            <a:r>
              <a:rPr sz="1600" b="1">
                <a:solidFill>
                  <a:srgbClr val="00C4FF"/>
                </a:solidFill>
              </a:rPr>
              <a:t>传感器状态
实时监测</a:t>
            </a:r>
          </a:p>
        </p:txBody>
      </p:sp>
      <p:sp>
        <p:nvSpPr>
          <p:cNvPr id="14" name="TextBox 13"/>
          <p:cNvSpPr txBox="1"/>
          <p:nvPr/>
        </p:nvSpPr>
        <p:spPr>
          <a:xfrm>
            <a:off x="6446520" y="2468880"/>
            <a:ext cx="5303520" cy="1234440"/>
          </a:xfrm>
          <a:prstGeom prst="rect">
            <a:avLst/>
          </a:prstGeom>
          <a:noFill/>
        </p:spPr>
        <p:txBody>
          <a:bodyPr wrap="square">
            <a:spAutoFit/>
          </a:bodyPr>
          <a:lstStyle/>
          <a:p>
            <a:pPr>
              <a:spcBef>
                <a:spcPts val="200"/>
              </a:spcBef>
            </a:pPr>
            <a:r>
              <a:rPr sz="1200">
                <a:solidFill>
                  <a:srgbClr val="FFFFFF"/>
                </a:solidFill>
              </a:rPr>
              <a:t>* 6x相机在线状态</a:t>
            </a:r>
          </a:p>
          <a:p>
            <a:pPr>
              <a:spcBef>
                <a:spcPts val="200"/>
              </a:spcBef>
            </a:pPr>
            <a:r>
              <a:rPr sz="1200">
                <a:solidFill>
                  <a:srgbClr val="FFFFFF"/>
                </a:solidFill>
              </a:rPr>
              <a:t>* 2x激光器状态</a:t>
            </a:r>
          </a:p>
          <a:p>
            <a:pPr>
              <a:spcBef>
                <a:spcPts val="200"/>
              </a:spcBef>
            </a:pPr>
            <a:r>
              <a:rPr sz="1200">
                <a:solidFill>
                  <a:srgbClr val="FFFFFF"/>
                </a:solidFill>
              </a:rPr>
              <a:t>* 2x陀螺仪状态</a:t>
            </a:r>
          </a:p>
          <a:p>
            <a:pPr>
              <a:spcBef>
                <a:spcPts val="200"/>
              </a:spcBef>
            </a:pPr>
            <a:r>
              <a:rPr sz="1200">
                <a:solidFill>
                  <a:srgbClr val="FFFFFF"/>
                </a:solidFill>
              </a:rPr>
              <a:t>* 数据帧率/丢包率</a:t>
            </a:r>
          </a:p>
          <a:p>
            <a:pPr>
              <a:spcBef>
                <a:spcPts val="200"/>
              </a:spcBef>
            </a:pPr>
            <a:r>
              <a:rPr sz="1200">
                <a:solidFill>
                  <a:srgbClr val="FFFFFF"/>
                </a:solidFill>
              </a:rPr>
              <a:t>* 传感器故障诊断</a:t>
            </a:r>
          </a:p>
        </p:txBody>
      </p:sp>
      <p:sp>
        <p:nvSpPr>
          <p:cNvPr id="15" name="Rectangle 14"/>
          <p:cNvSpPr/>
          <p:nvPr/>
        </p:nvSpPr>
        <p:spPr>
          <a:xfrm>
            <a:off x="457200" y="3977639"/>
            <a:ext cx="5577840" cy="2286000"/>
          </a:xfrm>
          <a:prstGeom prst="rect">
            <a:avLst/>
          </a:prstGeom>
          <a:solidFill>
            <a:srgbClr val="1126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57200" y="3977639"/>
            <a:ext cx="5577840" cy="54864"/>
          </a:xfrm>
          <a:prstGeom prst="rect">
            <a:avLst/>
          </a:prstGeom>
          <a:solidFill>
            <a:srgbClr val="FFA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4360" y="4069079"/>
            <a:ext cx="5303520" cy="822960"/>
          </a:xfrm>
          <a:prstGeom prst="rect">
            <a:avLst/>
          </a:prstGeom>
          <a:noFill/>
        </p:spPr>
        <p:txBody>
          <a:bodyPr wrap="square">
            <a:spAutoFit/>
          </a:bodyPr>
          <a:lstStyle/>
          <a:p>
            <a:pPr algn="l"/>
            <a:r>
              <a:rPr sz="1600" b="1">
                <a:solidFill>
                  <a:srgbClr val="FFA000"/>
                </a:solidFill>
              </a:rPr>
              <a:t>设备工作
状态监测</a:t>
            </a:r>
          </a:p>
        </p:txBody>
      </p:sp>
      <p:sp>
        <p:nvSpPr>
          <p:cNvPr id="18" name="TextBox 17"/>
          <p:cNvSpPr txBox="1"/>
          <p:nvPr/>
        </p:nvSpPr>
        <p:spPr>
          <a:xfrm>
            <a:off x="594360" y="4937759"/>
            <a:ext cx="5303520" cy="1234440"/>
          </a:xfrm>
          <a:prstGeom prst="rect">
            <a:avLst/>
          </a:prstGeom>
          <a:noFill/>
        </p:spPr>
        <p:txBody>
          <a:bodyPr wrap="square">
            <a:spAutoFit/>
          </a:bodyPr>
          <a:lstStyle/>
          <a:p>
            <a:pPr>
              <a:spcBef>
                <a:spcPts val="200"/>
              </a:spcBef>
            </a:pPr>
            <a:r>
              <a:rPr sz="1200">
                <a:solidFill>
                  <a:srgbClr val="FFFFFF"/>
                </a:solidFill>
              </a:rPr>
              <a:t>* 工控机CPU/内存/磁盘</a:t>
            </a:r>
          </a:p>
          <a:p>
            <a:pPr>
              <a:spcBef>
                <a:spcPts val="200"/>
              </a:spcBef>
            </a:pPr>
            <a:r>
              <a:rPr sz="1200">
                <a:solidFill>
                  <a:srgbClr val="FFFFFF"/>
                </a:solidFill>
              </a:rPr>
              <a:t>* 各进程运行状态</a:t>
            </a:r>
          </a:p>
          <a:p>
            <a:pPr>
              <a:spcBef>
                <a:spcPts val="200"/>
              </a:spcBef>
            </a:pPr>
            <a:r>
              <a:rPr sz="1200">
                <a:solidFill>
                  <a:srgbClr val="FFFFFF"/>
                </a:solidFill>
              </a:rPr>
              <a:t>* EtherCAT通信状态</a:t>
            </a:r>
          </a:p>
          <a:p>
            <a:pPr>
              <a:spcBef>
                <a:spcPts val="200"/>
              </a:spcBef>
            </a:pPr>
            <a:r>
              <a:rPr sz="1200">
                <a:solidFill>
                  <a:srgbClr val="FFFFFF"/>
                </a:solidFill>
              </a:rPr>
              <a:t>* 4G/5G链路状态</a:t>
            </a:r>
          </a:p>
          <a:p>
            <a:pPr>
              <a:spcBef>
                <a:spcPts val="200"/>
              </a:spcBef>
            </a:pPr>
            <a:r>
              <a:rPr sz="1200">
                <a:solidFill>
                  <a:srgbClr val="FFFFFF"/>
                </a:solidFill>
              </a:rPr>
              <a:t>* 本地存储容量</a:t>
            </a:r>
          </a:p>
        </p:txBody>
      </p:sp>
      <p:sp>
        <p:nvSpPr>
          <p:cNvPr id="19" name="Rectangle 18"/>
          <p:cNvSpPr/>
          <p:nvPr/>
        </p:nvSpPr>
        <p:spPr>
          <a:xfrm>
            <a:off x="6309360" y="3977639"/>
            <a:ext cx="5577840" cy="2286000"/>
          </a:xfrm>
          <a:prstGeom prst="rect">
            <a:avLst/>
          </a:prstGeom>
          <a:solidFill>
            <a:srgbClr val="1126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09360" y="3977639"/>
            <a:ext cx="5577840" cy="54864"/>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46520" y="4069079"/>
            <a:ext cx="5303520" cy="822960"/>
          </a:xfrm>
          <a:prstGeom prst="rect">
            <a:avLst/>
          </a:prstGeom>
          <a:noFill/>
        </p:spPr>
        <p:txBody>
          <a:bodyPr wrap="square">
            <a:spAutoFit/>
          </a:bodyPr>
          <a:lstStyle/>
          <a:p>
            <a:pPr algn="l"/>
            <a:r>
              <a:rPr sz="1600" b="1">
                <a:solidFill>
                  <a:srgbClr val="FFCC00"/>
                </a:solidFill>
              </a:rPr>
              <a:t>检测任务
实时追踪</a:t>
            </a:r>
          </a:p>
        </p:txBody>
      </p:sp>
      <p:sp>
        <p:nvSpPr>
          <p:cNvPr id="22" name="TextBox 21"/>
          <p:cNvSpPr txBox="1"/>
          <p:nvPr/>
        </p:nvSpPr>
        <p:spPr>
          <a:xfrm>
            <a:off x="6446520" y="4937759"/>
            <a:ext cx="5303520" cy="1234440"/>
          </a:xfrm>
          <a:prstGeom prst="rect">
            <a:avLst/>
          </a:prstGeom>
          <a:noFill/>
        </p:spPr>
        <p:txBody>
          <a:bodyPr wrap="square">
            <a:spAutoFit/>
          </a:bodyPr>
          <a:lstStyle/>
          <a:p>
            <a:pPr>
              <a:spcBef>
                <a:spcPts val="200"/>
              </a:spcBef>
            </a:pPr>
            <a:r>
              <a:rPr sz="1200">
                <a:solidFill>
                  <a:srgbClr val="FFFFFF"/>
                </a:solidFill>
              </a:rPr>
              <a:t>* 当前里程位置</a:t>
            </a:r>
          </a:p>
          <a:p>
            <a:pPr>
              <a:spcBef>
                <a:spcPts val="200"/>
              </a:spcBef>
            </a:pPr>
            <a:r>
              <a:rPr sz="1200">
                <a:solidFill>
                  <a:srgbClr val="FFFFFF"/>
                </a:solidFill>
              </a:rPr>
              <a:t>* 采集帧数统计</a:t>
            </a:r>
          </a:p>
          <a:p>
            <a:pPr>
              <a:spcBef>
                <a:spcPts val="200"/>
              </a:spcBef>
            </a:pPr>
            <a:r>
              <a:rPr sz="1200">
                <a:solidFill>
                  <a:srgbClr val="FFFFFF"/>
                </a:solidFill>
              </a:rPr>
              <a:t>* 已检测缺陷数量</a:t>
            </a:r>
          </a:p>
          <a:p>
            <a:pPr>
              <a:spcBef>
                <a:spcPts val="200"/>
              </a:spcBef>
            </a:pPr>
            <a:r>
              <a:rPr sz="1200">
                <a:solidFill>
                  <a:srgbClr val="FFFFFF"/>
                </a:solidFill>
              </a:rPr>
              <a:t>* 任务完成进度</a:t>
            </a:r>
          </a:p>
          <a:p>
            <a:pPr>
              <a:spcBef>
                <a:spcPts val="200"/>
              </a:spcBef>
            </a:pPr>
            <a:r>
              <a:rPr sz="1200">
                <a:solidFill>
                  <a:srgbClr val="FFFFFF"/>
                </a:solidFill>
              </a:rPr>
              <a:t>* 预计剩余时间</a:t>
            </a:r>
          </a:p>
        </p:txBody>
      </p:sp>
      <p:sp>
        <p:nvSpPr>
          <p:cNvPr id="23" name="Rectangle 22"/>
          <p:cNvSpPr/>
          <p:nvPr/>
        </p:nvSpPr>
        <p:spPr>
          <a:xfrm>
            <a:off x="0" y="6492240"/>
            <a:ext cx="12188952" cy="365760"/>
          </a:xfrm>
          <a:prstGeom prst="rect">
            <a:avLst/>
          </a:prstGeom>
          <a:solidFill>
            <a:srgbClr val="1126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65760" y="6519672"/>
            <a:ext cx="4572000" cy="320040"/>
          </a:xfrm>
          <a:prstGeom prst="rect">
            <a:avLst/>
          </a:prstGeom>
          <a:noFill/>
        </p:spPr>
        <p:txBody>
          <a:bodyPr wrap="square">
            <a:spAutoFit/>
          </a:bodyPr>
          <a:lstStyle/>
          <a:p>
            <a:pPr algn="l"/>
            <a:r>
              <a:rPr sz="1000" b="0">
                <a:solidFill>
                  <a:srgbClr val="A0B4CC"/>
                </a:solidFill>
              </a:rPr>
              <a:t>铁路线路智能综合检测机器人</a:t>
            </a:r>
          </a:p>
        </p:txBody>
      </p:sp>
      <p:sp>
        <p:nvSpPr>
          <p:cNvPr id="25" name="TextBox 24"/>
          <p:cNvSpPr txBox="1"/>
          <p:nvPr/>
        </p:nvSpPr>
        <p:spPr>
          <a:xfrm>
            <a:off x="10972800" y="6519672"/>
            <a:ext cx="1005840" cy="320040"/>
          </a:xfrm>
          <a:prstGeom prst="rect">
            <a:avLst/>
          </a:prstGeom>
          <a:noFill/>
        </p:spPr>
        <p:txBody>
          <a:bodyPr wrap="square">
            <a:spAutoFit/>
          </a:bodyPr>
          <a:lstStyle/>
          <a:p>
            <a:pPr algn="r"/>
            <a:r>
              <a:rPr sz="1000" b="0">
                <a:solidFill>
                  <a:srgbClr val="A0B4CC"/>
                </a:solidFill>
              </a:rPr>
              <a:t>24 / 28</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C1D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280160"/>
          </a:xfrm>
          <a:prstGeom prst="rect">
            <a:avLst/>
          </a:prstGeom>
          <a:solidFill>
            <a:srgbClr val="1126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280160"/>
            <a:ext cx="12188952" cy="45720"/>
          </a:xfrm>
          <a:prstGeom prst="rect">
            <a:avLst/>
          </a:prstGeom>
          <a:solidFill>
            <a:srgbClr val="00C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82880"/>
            <a:ext cx="11430000" cy="914400"/>
          </a:xfrm>
          <a:prstGeom prst="rect">
            <a:avLst/>
          </a:prstGeom>
          <a:noFill/>
        </p:spPr>
        <p:txBody>
          <a:bodyPr wrap="square">
            <a:spAutoFit/>
          </a:bodyPr>
          <a:lstStyle/>
          <a:p>
            <a:pPr algn="l"/>
            <a:r>
              <a:rPr sz="2800" b="1">
                <a:solidFill>
                  <a:srgbClr val="FFFFFF"/>
                </a:solidFill>
              </a:rPr>
              <a:t>远程监测数据链路与通信架构</a:t>
            </a:r>
          </a:p>
        </p:txBody>
      </p:sp>
      <p:graphicFrame>
        <p:nvGraphicFramePr>
          <p:cNvPr id="6" name="Table 5"/>
          <p:cNvGraphicFramePr>
            <a:graphicFrameLocks noGrp="1"/>
          </p:cNvGraphicFramePr>
          <p:nvPr/>
        </p:nvGraphicFramePr>
        <p:xfrm>
          <a:off x="548640" y="1508760"/>
          <a:ext cx="11064240" cy="4846320"/>
        </p:xfrm>
        <a:graphic>
          <a:graphicData uri="http://schemas.openxmlformats.org/drawingml/2006/table">
            <a:tbl>
              <a:tblPr firstRow="1" bandRow="1">
                <a:tableStyleId>{5C22544A-7EE6-4342-B048-85BDC9FD1C3A}</a:tableStyleId>
              </a:tblPr>
              <a:tblGrid>
                <a:gridCol w="2766060"/>
                <a:gridCol w="2766060"/>
                <a:gridCol w="2766060"/>
                <a:gridCol w="2766060"/>
              </a:tblGrid>
              <a:tr h="605790">
                <a:tc>
                  <a:txBody>
                    <a:bodyPr/>
                    <a:lstStyle/>
                    <a:p>
                      <a:pPr algn="ctr"/>
                      <a:r>
                        <a:t>监测对象</a:t>
                      </a:r>
                      <a:r>
                        <a:rPr sz="1200" b="1">
                          <a:solidFill>
                            <a:srgbClr val="00C4FF"/>
                          </a:solidFill>
                        </a:rPr>
                        <a:t>监测对象</a:t>
                      </a:r>
                    </a:p>
                  </a:txBody>
                  <a:tcPr>
                    <a:solidFill>
                      <a:srgbClr val="11264E"/>
                    </a:solidFill>
                  </a:tcPr>
                </a:tc>
                <a:tc>
                  <a:txBody>
                    <a:bodyPr/>
                    <a:lstStyle/>
                    <a:p>
                      <a:pPr algn="ctr"/>
                      <a:r>
                        <a:t>监测参数</a:t>
                      </a:r>
                      <a:r>
                        <a:rPr sz="1200" b="1">
                          <a:solidFill>
                            <a:srgbClr val="00C4FF"/>
                          </a:solidFill>
                        </a:rPr>
                        <a:t>监测参数</a:t>
                      </a:r>
                    </a:p>
                  </a:txBody>
                  <a:tcPr>
                    <a:solidFill>
                      <a:srgbClr val="11264E"/>
                    </a:solidFill>
                  </a:tcPr>
                </a:tc>
                <a:tc>
                  <a:txBody>
                    <a:bodyPr/>
                    <a:lstStyle/>
                    <a:p>
                      <a:pPr algn="ctr"/>
                      <a:r>
                        <a:t>通信方式</a:t>
                      </a:r>
                      <a:r>
                        <a:rPr sz="1200" b="1">
                          <a:solidFill>
                            <a:srgbClr val="00C4FF"/>
                          </a:solidFill>
                        </a:rPr>
                        <a:t>通信方式</a:t>
                      </a:r>
                    </a:p>
                  </a:txBody>
                  <a:tcPr>
                    <a:solidFill>
                      <a:srgbClr val="11264E"/>
                    </a:solidFill>
                  </a:tcPr>
                </a:tc>
                <a:tc>
                  <a:txBody>
                    <a:bodyPr/>
                    <a:lstStyle/>
                    <a:p>
                      <a:pPr algn="ctr"/>
                      <a:r>
                        <a:t>实时性</a:t>
                      </a:r>
                      <a:r>
                        <a:rPr sz="1200" b="1">
                          <a:solidFill>
                            <a:srgbClr val="00C4FF"/>
                          </a:solidFill>
                        </a:rPr>
                        <a:t>实时性</a:t>
                      </a:r>
                    </a:p>
                  </a:txBody>
                  <a:tcPr>
                    <a:solidFill>
                      <a:srgbClr val="11264E"/>
                    </a:solidFill>
                  </a:tcPr>
                </a:tc>
              </a:tr>
              <a:tr h="605790">
                <a:tc>
                  <a:txBody>
                    <a:bodyPr/>
                    <a:lstStyle/>
                    <a:p>
                      <a:pPr algn="ctr"/>
                      <a:r>
                        <a:t>蓄电池组(BMS)</a:t>
                      </a:r>
                      <a:r>
                        <a:rPr sz="1100">
                          <a:solidFill>
                            <a:srgbClr val="FFFFFF"/>
                          </a:solidFill>
                        </a:rPr>
                        <a:t>蓄电池组(BMS)</a:t>
                      </a:r>
                    </a:p>
                  </a:txBody>
                  <a:tcPr>
                    <a:solidFill>
                      <a:srgbClr val="11264E"/>
                    </a:solidFill>
                  </a:tcPr>
                </a:tc>
                <a:tc>
                  <a:txBody>
                    <a:bodyPr/>
                    <a:lstStyle/>
                    <a:p>
                      <a:pPr algn="ctr"/>
                      <a:r>
                        <a:t>电压/电流/SOC/SOH/温度</a:t>
                      </a:r>
                      <a:r>
                        <a:rPr sz="1100">
                          <a:solidFill>
                            <a:srgbClr val="FFFFFF"/>
                          </a:solidFill>
                        </a:rPr>
                        <a:t>电压/电流/SOC/SOH/温度</a:t>
                      </a:r>
                    </a:p>
                  </a:txBody>
                  <a:tcPr>
                    <a:solidFill>
                      <a:srgbClr val="11264E"/>
                    </a:solidFill>
                  </a:tcPr>
                </a:tc>
                <a:tc>
                  <a:txBody>
                    <a:bodyPr/>
                    <a:lstStyle/>
                    <a:p>
                      <a:pPr algn="ctr"/>
                      <a:r>
                        <a:t>CAN总线 -&gt; 工控机</a:t>
                      </a:r>
                      <a:r>
                        <a:rPr sz="1100">
                          <a:solidFill>
                            <a:srgbClr val="FFFFFF"/>
                          </a:solidFill>
                        </a:rPr>
                        <a:t>CAN总线 -&gt; 工控机</a:t>
                      </a:r>
                    </a:p>
                  </a:txBody>
                  <a:tcPr>
                    <a:solidFill>
                      <a:srgbClr val="11264E"/>
                    </a:solidFill>
                  </a:tcPr>
                </a:tc>
                <a:tc>
                  <a:txBody>
                    <a:bodyPr/>
                    <a:lstStyle/>
                    <a:p>
                      <a:pPr algn="ctr"/>
                      <a:r>
                        <a:t>秒级</a:t>
                      </a:r>
                      <a:r>
                        <a:rPr sz="1100">
                          <a:solidFill>
                            <a:srgbClr val="FFFFFF"/>
                          </a:solidFill>
                        </a:rPr>
                        <a:t>秒级</a:t>
                      </a:r>
                    </a:p>
                  </a:txBody>
                  <a:tcPr>
                    <a:solidFill>
                      <a:srgbClr val="11264E"/>
                    </a:solidFill>
                  </a:tcPr>
                </a:tc>
              </a:tr>
              <a:tr h="605790">
                <a:tc>
                  <a:txBody>
                    <a:bodyPr/>
                    <a:lstStyle/>
                    <a:p>
                      <a:pPr algn="ctr"/>
                      <a:r>
                        <a:t>工业相机 x6</a:t>
                      </a:r>
                      <a:r>
                        <a:rPr sz="1100">
                          <a:solidFill>
                            <a:srgbClr val="FFFFFF"/>
                          </a:solidFill>
                        </a:rPr>
                        <a:t>工业相机 x6</a:t>
                      </a:r>
                    </a:p>
                  </a:txBody>
                  <a:tcPr>
                    <a:solidFill>
                      <a:srgbClr val="16305A"/>
                    </a:solidFill>
                  </a:tcPr>
                </a:tc>
                <a:tc>
                  <a:txBody>
                    <a:bodyPr/>
                    <a:lstStyle/>
                    <a:p>
                      <a:pPr algn="ctr"/>
                      <a:r>
                        <a:t>在线状态/帧率/丢包率</a:t>
                      </a:r>
                      <a:r>
                        <a:rPr sz="1100">
                          <a:solidFill>
                            <a:srgbClr val="FFFFFF"/>
                          </a:solidFill>
                        </a:rPr>
                        <a:t>在线状态/帧率/丢包率</a:t>
                      </a:r>
                    </a:p>
                  </a:txBody>
                  <a:tcPr>
                    <a:solidFill>
                      <a:srgbClr val="16305A"/>
                    </a:solidFill>
                  </a:tcPr>
                </a:tc>
                <a:tc>
                  <a:txBody>
                    <a:bodyPr/>
                    <a:lstStyle/>
                    <a:p>
                      <a:pPr algn="ctr"/>
                      <a:r>
                        <a:t>GigE Vision -&gt; 工控机</a:t>
                      </a:r>
                      <a:r>
                        <a:rPr sz="1100">
                          <a:solidFill>
                            <a:srgbClr val="FFFFFF"/>
                          </a:solidFill>
                        </a:rPr>
                        <a:t>GigE Vision -&gt; 工控机</a:t>
                      </a:r>
                    </a:p>
                  </a:txBody>
                  <a:tcPr>
                    <a:solidFill>
                      <a:srgbClr val="16305A"/>
                    </a:solidFill>
                  </a:tcPr>
                </a:tc>
                <a:tc>
                  <a:txBody>
                    <a:bodyPr/>
                    <a:lstStyle/>
                    <a:p>
                      <a:pPr algn="ctr"/>
                      <a:r>
                        <a:t>秒级</a:t>
                      </a:r>
                      <a:r>
                        <a:rPr sz="1100">
                          <a:solidFill>
                            <a:srgbClr val="FFFFFF"/>
                          </a:solidFill>
                        </a:rPr>
                        <a:t>秒级</a:t>
                      </a:r>
                    </a:p>
                  </a:txBody>
                  <a:tcPr>
                    <a:solidFill>
                      <a:srgbClr val="16305A"/>
                    </a:solidFill>
                  </a:tcPr>
                </a:tc>
              </a:tr>
              <a:tr h="605790">
                <a:tc>
                  <a:txBody>
                    <a:bodyPr/>
                    <a:lstStyle/>
                    <a:p>
                      <a:pPr algn="ctr"/>
                      <a:r>
                        <a:t>3D线激光 x2</a:t>
                      </a:r>
                      <a:r>
                        <a:rPr sz="1100">
                          <a:solidFill>
                            <a:srgbClr val="FFFFFF"/>
                          </a:solidFill>
                        </a:rPr>
                        <a:t>3D线激光 x2</a:t>
                      </a:r>
                    </a:p>
                  </a:txBody>
                  <a:tcPr>
                    <a:solidFill>
                      <a:srgbClr val="11264E"/>
                    </a:solidFill>
                  </a:tcPr>
                </a:tc>
                <a:tc>
                  <a:txBody>
                    <a:bodyPr/>
                    <a:lstStyle/>
                    <a:p>
                      <a:pPr algn="ctr"/>
                      <a:r>
                        <a:t>在线状态/数据率/温度</a:t>
                      </a:r>
                      <a:r>
                        <a:rPr sz="1100">
                          <a:solidFill>
                            <a:srgbClr val="FFFFFF"/>
                          </a:solidFill>
                        </a:rPr>
                        <a:t>在线状态/数据率/温度</a:t>
                      </a:r>
                    </a:p>
                  </a:txBody>
                  <a:tcPr>
                    <a:solidFill>
                      <a:srgbClr val="11264E"/>
                    </a:solidFill>
                  </a:tcPr>
                </a:tc>
                <a:tc>
                  <a:txBody>
                    <a:bodyPr/>
                    <a:lstStyle/>
                    <a:p>
                      <a:pPr algn="ctr"/>
                      <a:r>
                        <a:t>千兆以太网 -&gt; 工控机</a:t>
                      </a:r>
                      <a:r>
                        <a:rPr sz="1100">
                          <a:solidFill>
                            <a:srgbClr val="FFFFFF"/>
                          </a:solidFill>
                        </a:rPr>
                        <a:t>千兆以太网 -&gt; 工控机</a:t>
                      </a:r>
                    </a:p>
                  </a:txBody>
                  <a:tcPr>
                    <a:solidFill>
                      <a:srgbClr val="11264E"/>
                    </a:solidFill>
                  </a:tcPr>
                </a:tc>
                <a:tc>
                  <a:txBody>
                    <a:bodyPr/>
                    <a:lstStyle/>
                    <a:p>
                      <a:pPr algn="ctr"/>
                      <a:r>
                        <a:t>秒级</a:t>
                      </a:r>
                      <a:r>
                        <a:rPr sz="1100">
                          <a:solidFill>
                            <a:srgbClr val="FFFFFF"/>
                          </a:solidFill>
                        </a:rPr>
                        <a:t>秒级</a:t>
                      </a:r>
                    </a:p>
                  </a:txBody>
                  <a:tcPr>
                    <a:solidFill>
                      <a:srgbClr val="11264E"/>
                    </a:solidFill>
                  </a:tcPr>
                </a:tc>
              </a:tr>
              <a:tr h="605790">
                <a:tc>
                  <a:txBody>
                    <a:bodyPr/>
                    <a:lstStyle/>
                    <a:p>
                      <a:pPr algn="ctr"/>
                      <a:r>
                        <a:t>双陀螺仪</a:t>
                      </a:r>
                      <a:r>
                        <a:rPr sz="1100">
                          <a:solidFill>
                            <a:srgbClr val="FFFFFF"/>
                          </a:solidFill>
                        </a:rPr>
                        <a:t>双陀螺仪</a:t>
                      </a:r>
                    </a:p>
                  </a:txBody>
                  <a:tcPr>
                    <a:solidFill>
                      <a:srgbClr val="16305A"/>
                    </a:solidFill>
                  </a:tcPr>
                </a:tc>
                <a:tc>
                  <a:txBody>
                    <a:bodyPr/>
                    <a:lstStyle/>
                    <a:p>
                      <a:pPr algn="ctr"/>
                      <a:r>
                        <a:t>角速度/姿态角/状态</a:t>
                      </a:r>
                      <a:r>
                        <a:rPr sz="1100">
                          <a:solidFill>
                            <a:srgbClr val="FFFFFF"/>
                          </a:solidFill>
                        </a:rPr>
                        <a:t>角速度/姿态角/状态</a:t>
                      </a:r>
                    </a:p>
                  </a:txBody>
                  <a:tcPr>
                    <a:solidFill>
                      <a:srgbClr val="16305A"/>
                    </a:solidFill>
                  </a:tcPr>
                </a:tc>
                <a:tc>
                  <a:txBody>
                    <a:bodyPr/>
                    <a:lstStyle/>
                    <a:p>
                      <a:pPr algn="ctr"/>
                      <a:r>
                        <a:t>串口 -&gt; 工控机</a:t>
                      </a:r>
                      <a:r>
                        <a:rPr sz="1100">
                          <a:solidFill>
                            <a:srgbClr val="FFFFFF"/>
                          </a:solidFill>
                        </a:rPr>
                        <a:t>串口 -&gt; 工控机</a:t>
                      </a:r>
                    </a:p>
                  </a:txBody>
                  <a:tcPr>
                    <a:solidFill>
                      <a:srgbClr val="16305A"/>
                    </a:solidFill>
                  </a:tcPr>
                </a:tc>
                <a:tc>
                  <a:txBody>
                    <a:bodyPr/>
                    <a:lstStyle/>
                    <a:p>
                      <a:pPr algn="ctr"/>
                      <a:r>
                        <a:t>毫秒级</a:t>
                      </a:r>
                      <a:r>
                        <a:rPr sz="1100">
                          <a:solidFill>
                            <a:srgbClr val="FFFFFF"/>
                          </a:solidFill>
                        </a:rPr>
                        <a:t>毫秒级</a:t>
                      </a:r>
                    </a:p>
                  </a:txBody>
                  <a:tcPr>
                    <a:solidFill>
                      <a:srgbClr val="16305A"/>
                    </a:solidFill>
                  </a:tcPr>
                </a:tc>
              </a:tr>
              <a:tr h="605790">
                <a:tc>
                  <a:txBody>
                    <a:bodyPr/>
                    <a:lstStyle/>
                    <a:p>
                      <a:pPr algn="ctr"/>
                      <a:r>
                        <a:t>工控机本体</a:t>
                      </a:r>
                      <a:r>
                        <a:rPr sz="1100">
                          <a:solidFill>
                            <a:srgbClr val="FFFFFF"/>
                          </a:solidFill>
                        </a:rPr>
                        <a:t>工控机本体</a:t>
                      </a:r>
                    </a:p>
                  </a:txBody>
                  <a:tcPr>
                    <a:solidFill>
                      <a:srgbClr val="11264E"/>
                    </a:solidFill>
                  </a:tcPr>
                </a:tc>
                <a:tc>
                  <a:txBody>
                    <a:bodyPr/>
                    <a:lstStyle/>
                    <a:p>
                      <a:pPr algn="ctr"/>
                      <a:r>
                        <a:t>CPU/内存/磁盘/进程</a:t>
                      </a:r>
                      <a:r>
                        <a:rPr sz="1100">
                          <a:solidFill>
                            <a:srgbClr val="FFFFFF"/>
                          </a:solidFill>
                        </a:rPr>
                        <a:t>CPU/内存/磁盘/进程</a:t>
                      </a:r>
                    </a:p>
                  </a:txBody>
                  <a:tcPr>
                    <a:solidFill>
                      <a:srgbClr val="11264E"/>
                    </a:solidFill>
                  </a:tcPr>
                </a:tc>
                <a:tc>
                  <a:txBody>
                    <a:bodyPr/>
                    <a:lstStyle/>
                    <a:p>
                      <a:pPr algn="ctr"/>
                      <a:r>
                        <a:t>本地监测</a:t>
                      </a:r>
                      <a:r>
                        <a:rPr sz="1100">
                          <a:solidFill>
                            <a:srgbClr val="FFFFFF"/>
                          </a:solidFill>
                        </a:rPr>
                        <a:t>本地监测</a:t>
                      </a:r>
                    </a:p>
                  </a:txBody>
                  <a:tcPr>
                    <a:solidFill>
                      <a:srgbClr val="11264E"/>
                    </a:solidFill>
                  </a:tcPr>
                </a:tc>
                <a:tc>
                  <a:txBody>
                    <a:bodyPr/>
                    <a:lstStyle/>
                    <a:p>
                      <a:pPr algn="ctr"/>
                      <a:r>
                        <a:t>准实时</a:t>
                      </a:r>
                      <a:r>
                        <a:rPr sz="1100">
                          <a:solidFill>
                            <a:srgbClr val="FFFFFF"/>
                          </a:solidFill>
                        </a:rPr>
                        <a:t>准实时</a:t>
                      </a:r>
                    </a:p>
                  </a:txBody>
                  <a:tcPr>
                    <a:solidFill>
                      <a:srgbClr val="11264E"/>
                    </a:solidFill>
                  </a:tcPr>
                </a:tc>
              </a:tr>
              <a:tr h="605790">
                <a:tc>
                  <a:txBody>
                    <a:bodyPr/>
                    <a:lstStyle/>
                    <a:p>
                      <a:pPr algn="ctr"/>
                      <a:r>
                        <a:t>通信链路</a:t>
                      </a:r>
                      <a:r>
                        <a:rPr sz="1100">
                          <a:solidFill>
                            <a:srgbClr val="FFFFFF"/>
                          </a:solidFill>
                        </a:rPr>
                        <a:t>通信链路</a:t>
                      </a:r>
                    </a:p>
                  </a:txBody>
                  <a:tcPr>
                    <a:solidFill>
                      <a:srgbClr val="16305A"/>
                    </a:solidFill>
                  </a:tcPr>
                </a:tc>
                <a:tc>
                  <a:txBody>
                    <a:bodyPr/>
                    <a:lstStyle/>
                    <a:p>
                      <a:pPr algn="ctr"/>
                      <a:r>
                        <a:t>4G/5G信号/带宽/延迟</a:t>
                      </a:r>
                      <a:r>
                        <a:rPr sz="1100">
                          <a:solidFill>
                            <a:srgbClr val="FFFFFF"/>
                          </a:solidFill>
                        </a:rPr>
                        <a:t>4G/5G信号/带宽/延迟</a:t>
                      </a:r>
                    </a:p>
                  </a:txBody>
                  <a:tcPr>
                    <a:solidFill>
                      <a:srgbClr val="16305A"/>
                    </a:solidFill>
                  </a:tcPr>
                </a:tc>
                <a:tc>
                  <a:txBody>
                    <a:bodyPr/>
                    <a:lstStyle/>
                    <a:p>
                      <a:pPr algn="ctr"/>
                      <a:r>
                        <a:t>工业路由器 -&gt; 云端</a:t>
                      </a:r>
                      <a:r>
                        <a:rPr sz="1100">
                          <a:solidFill>
                            <a:srgbClr val="FFFFFF"/>
                          </a:solidFill>
                        </a:rPr>
                        <a:t>工业路由器 -&gt; 云端</a:t>
                      </a:r>
                    </a:p>
                  </a:txBody>
                  <a:tcPr>
                    <a:solidFill>
                      <a:srgbClr val="16305A"/>
                    </a:solidFill>
                  </a:tcPr>
                </a:tc>
                <a:tc>
                  <a:txBody>
                    <a:bodyPr/>
                    <a:lstStyle/>
                    <a:p>
                      <a:pPr algn="ctr"/>
                      <a:r>
                        <a:t>准实时</a:t>
                      </a:r>
                      <a:r>
                        <a:rPr sz="1100">
                          <a:solidFill>
                            <a:srgbClr val="FFFFFF"/>
                          </a:solidFill>
                        </a:rPr>
                        <a:t>准实时</a:t>
                      </a:r>
                    </a:p>
                  </a:txBody>
                  <a:tcPr>
                    <a:solidFill>
                      <a:srgbClr val="16305A"/>
                    </a:solidFill>
                  </a:tcPr>
                </a:tc>
              </a:tr>
              <a:tr h="605790">
                <a:tc>
                  <a:txBody>
                    <a:bodyPr/>
                    <a:lstStyle/>
                    <a:p>
                      <a:pPr algn="ctr"/>
                      <a:r>
                        <a:t>伺服驱动单元</a:t>
                      </a:r>
                      <a:r>
                        <a:rPr sz="1100">
                          <a:solidFill>
                            <a:srgbClr val="FFFFFF"/>
                          </a:solidFill>
                        </a:rPr>
                        <a:t>伺服驱动单元</a:t>
                      </a:r>
                    </a:p>
                  </a:txBody>
                  <a:tcPr>
                    <a:solidFill>
                      <a:srgbClr val="11264E"/>
                    </a:solidFill>
                  </a:tcPr>
                </a:tc>
                <a:tc>
                  <a:txBody>
                    <a:bodyPr/>
                    <a:lstStyle/>
                    <a:p>
                      <a:pPr algn="ctr"/>
                      <a:r>
                        <a:t>运行状态/故障码</a:t>
                      </a:r>
                      <a:r>
                        <a:rPr sz="1100">
                          <a:solidFill>
                            <a:srgbClr val="FFFFFF"/>
                          </a:solidFill>
                        </a:rPr>
                        <a:t>运行状态/故障码</a:t>
                      </a:r>
                    </a:p>
                  </a:txBody>
                  <a:tcPr>
                    <a:solidFill>
                      <a:srgbClr val="11264E"/>
                    </a:solidFill>
                  </a:tcPr>
                </a:tc>
                <a:tc>
                  <a:txBody>
                    <a:bodyPr/>
                    <a:lstStyle/>
                    <a:p>
                      <a:pPr algn="ctr"/>
                      <a:r>
                        <a:t>EtherCAT -&gt; 工控机</a:t>
                      </a:r>
                      <a:r>
                        <a:rPr sz="1100">
                          <a:solidFill>
                            <a:srgbClr val="FFFFFF"/>
                          </a:solidFill>
                        </a:rPr>
                        <a:t>EtherCAT -&gt; 工控机</a:t>
                      </a:r>
                    </a:p>
                  </a:txBody>
                  <a:tcPr>
                    <a:solidFill>
                      <a:srgbClr val="11264E"/>
                    </a:solidFill>
                  </a:tcPr>
                </a:tc>
                <a:tc>
                  <a:txBody>
                    <a:bodyPr/>
                    <a:lstStyle/>
                    <a:p>
                      <a:pPr algn="ctr"/>
                      <a:r>
                        <a:t>毫秒级</a:t>
                      </a:r>
                      <a:r>
                        <a:rPr sz="1100">
                          <a:solidFill>
                            <a:srgbClr val="FFFFFF"/>
                          </a:solidFill>
                        </a:rPr>
                        <a:t>毫秒级</a:t>
                      </a:r>
                    </a:p>
                  </a:txBody>
                  <a:tcPr>
                    <a:solidFill>
                      <a:srgbClr val="11264E"/>
                    </a:solidFill>
                  </a:tcPr>
                </a:tc>
              </a:tr>
            </a:tbl>
          </a:graphicData>
        </a:graphic>
      </p:graphicFrame>
      <p:sp>
        <p:nvSpPr>
          <p:cNvPr id="7" name="Rectangle 6"/>
          <p:cNvSpPr/>
          <p:nvPr/>
        </p:nvSpPr>
        <p:spPr>
          <a:xfrm>
            <a:off x="0" y="6492240"/>
            <a:ext cx="12188952" cy="365760"/>
          </a:xfrm>
          <a:prstGeom prst="rect">
            <a:avLst/>
          </a:prstGeom>
          <a:solidFill>
            <a:srgbClr val="1126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6519672"/>
            <a:ext cx="4572000" cy="320040"/>
          </a:xfrm>
          <a:prstGeom prst="rect">
            <a:avLst/>
          </a:prstGeom>
          <a:noFill/>
        </p:spPr>
        <p:txBody>
          <a:bodyPr wrap="square">
            <a:spAutoFit/>
          </a:bodyPr>
          <a:lstStyle/>
          <a:p>
            <a:pPr algn="l"/>
            <a:r>
              <a:rPr sz="1000" b="0">
                <a:solidFill>
                  <a:srgbClr val="A0B4CC"/>
                </a:solidFill>
              </a:rPr>
              <a:t>铁路线路智能综合检测机器人</a:t>
            </a:r>
          </a:p>
        </p:txBody>
      </p:sp>
      <p:sp>
        <p:nvSpPr>
          <p:cNvPr id="9" name="TextBox 8"/>
          <p:cNvSpPr txBox="1"/>
          <p:nvPr/>
        </p:nvSpPr>
        <p:spPr>
          <a:xfrm>
            <a:off x="10972800" y="6519672"/>
            <a:ext cx="1005840" cy="320040"/>
          </a:xfrm>
          <a:prstGeom prst="rect">
            <a:avLst/>
          </a:prstGeom>
          <a:noFill/>
        </p:spPr>
        <p:txBody>
          <a:bodyPr wrap="square">
            <a:spAutoFit/>
          </a:bodyPr>
          <a:lstStyle/>
          <a:p>
            <a:pPr algn="r"/>
            <a:r>
              <a:rPr sz="1000" b="0">
                <a:solidFill>
                  <a:srgbClr val="A0B4CC"/>
                </a:solidFill>
              </a:rPr>
              <a:t>25 / 28</a:t>
            </a:r>
          </a:p>
        </p:txBody>
      </p:sp>
      <p:sp>
        <p:nvSpPr>
          <p:cNvPr id="10" name="Rectangle 9"/>
          <p:cNvSpPr/>
          <p:nvPr/>
        </p:nvSpPr>
        <p:spPr>
          <a:xfrm>
            <a:off x="0" y="6492240"/>
            <a:ext cx="12188952" cy="365760"/>
          </a:xfrm>
          <a:prstGeom prst="rect">
            <a:avLst/>
          </a:prstGeom>
          <a:solidFill>
            <a:srgbClr val="1126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 y="6519672"/>
            <a:ext cx="4572000" cy="320040"/>
          </a:xfrm>
          <a:prstGeom prst="rect">
            <a:avLst/>
          </a:prstGeom>
          <a:noFill/>
        </p:spPr>
        <p:txBody>
          <a:bodyPr wrap="square">
            <a:spAutoFit/>
          </a:bodyPr>
          <a:lstStyle/>
          <a:p>
            <a:pPr algn="l"/>
            <a:r>
              <a:rPr sz="1000" b="0">
                <a:solidFill>
                  <a:srgbClr val="A0B4CC"/>
                </a:solidFill>
              </a:rPr>
              <a:t>铁路线路智能综合检测机器人</a:t>
            </a:r>
          </a:p>
        </p:txBody>
      </p:sp>
      <p:sp>
        <p:nvSpPr>
          <p:cNvPr id="12" name="TextBox 11"/>
          <p:cNvSpPr txBox="1"/>
          <p:nvPr/>
        </p:nvSpPr>
        <p:spPr>
          <a:xfrm>
            <a:off x="10972800" y="6519672"/>
            <a:ext cx="1005840" cy="320040"/>
          </a:xfrm>
          <a:prstGeom prst="rect">
            <a:avLst/>
          </a:prstGeom>
          <a:noFill/>
        </p:spPr>
        <p:txBody>
          <a:bodyPr wrap="square">
            <a:spAutoFit/>
          </a:bodyPr>
          <a:lstStyle/>
          <a:p>
            <a:pPr algn="r"/>
            <a:r>
              <a:rPr sz="1000" b="0">
                <a:solidFill>
                  <a:srgbClr val="A0B4CC"/>
                </a:solidFill>
              </a:rPr>
              <a:t>26 / 28</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C1D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20040" cy="6858000"/>
          </a:xfrm>
          <a:prstGeom prst="rect">
            <a:avLst/>
          </a:prstGeom>
          <a:solidFill>
            <a:srgbClr val="00C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0" y="3474720"/>
            <a:ext cx="4572000" cy="50800"/>
          </a:xfrm>
          <a:prstGeom prst="rect">
            <a:avLst/>
          </a:prstGeom>
          <a:solidFill>
            <a:srgbClr val="00C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828800"/>
            <a:ext cx="10515600" cy="1371600"/>
          </a:xfrm>
          <a:prstGeom prst="rect">
            <a:avLst/>
          </a:prstGeom>
          <a:noFill/>
        </p:spPr>
        <p:txBody>
          <a:bodyPr wrap="square">
            <a:spAutoFit/>
          </a:bodyPr>
          <a:lstStyle/>
          <a:p>
            <a:pPr algn="l"/>
            <a:r>
              <a:rPr sz="4400" b="1">
                <a:solidFill>
                  <a:srgbClr val="FFFFFF"/>
                </a:solidFill>
              </a:rPr>
              <a:t>09</a:t>
            </a:r>
          </a:p>
        </p:txBody>
      </p:sp>
      <p:sp>
        <p:nvSpPr>
          <p:cNvPr id="6" name="TextBox 5"/>
          <p:cNvSpPr txBox="1"/>
          <p:nvPr/>
        </p:nvSpPr>
        <p:spPr>
          <a:xfrm>
            <a:off x="548640" y="3566160"/>
            <a:ext cx="10515600" cy="548640"/>
          </a:xfrm>
          <a:prstGeom prst="rect">
            <a:avLst/>
          </a:prstGeom>
          <a:noFill/>
        </p:spPr>
        <p:txBody>
          <a:bodyPr wrap="square">
            <a:spAutoFit/>
          </a:bodyPr>
          <a:lstStyle/>
          <a:p>
            <a:pPr algn="l"/>
            <a:r>
              <a:rPr sz="1800" b="0">
                <a:solidFill>
                  <a:srgbClr val="A0B4CC"/>
                </a:solidFill>
              </a:rPr>
              <a:t>总结与展望</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C1D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280160"/>
          </a:xfrm>
          <a:prstGeom prst="rect">
            <a:avLst/>
          </a:prstGeom>
          <a:solidFill>
            <a:srgbClr val="1126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280160"/>
            <a:ext cx="12188952" cy="45720"/>
          </a:xfrm>
          <a:prstGeom prst="rect">
            <a:avLst/>
          </a:prstGeom>
          <a:solidFill>
            <a:srgbClr val="00C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82880"/>
            <a:ext cx="11430000" cy="914400"/>
          </a:xfrm>
          <a:prstGeom prst="rect">
            <a:avLst/>
          </a:prstGeom>
          <a:noFill/>
        </p:spPr>
        <p:txBody>
          <a:bodyPr wrap="square">
            <a:spAutoFit/>
          </a:bodyPr>
          <a:lstStyle/>
          <a:p>
            <a:pPr algn="l"/>
            <a:r>
              <a:rPr sz="2800" b="1">
                <a:solidFill>
                  <a:srgbClr val="FFFFFF"/>
                </a:solidFill>
              </a:rPr>
              <a:t>我们的核心价值</a:t>
            </a:r>
          </a:p>
        </p:txBody>
      </p:sp>
      <p:sp>
        <p:nvSpPr>
          <p:cNvPr id="6" name="TextBox 5"/>
          <p:cNvSpPr txBox="1"/>
          <p:nvPr/>
        </p:nvSpPr>
        <p:spPr>
          <a:xfrm>
            <a:off x="365760" y="914400"/>
            <a:ext cx="11430000" cy="320040"/>
          </a:xfrm>
          <a:prstGeom prst="rect">
            <a:avLst/>
          </a:prstGeom>
          <a:noFill/>
        </p:spPr>
        <p:txBody>
          <a:bodyPr wrap="square">
            <a:spAutoFit/>
          </a:bodyPr>
          <a:lstStyle/>
          <a:p>
            <a:pPr algn="l"/>
            <a:r>
              <a:rPr sz="1300" b="0">
                <a:solidFill>
                  <a:srgbClr val="A0B4CC"/>
                </a:solidFill>
              </a:rPr>
              <a:t>以综合检测为核心定位，一台设备替代传统多套检测工具</a:t>
            </a:r>
          </a:p>
        </p:txBody>
      </p:sp>
      <p:sp>
        <p:nvSpPr>
          <p:cNvPr id="7" name="Rectangle 6"/>
          <p:cNvSpPr/>
          <p:nvPr/>
        </p:nvSpPr>
        <p:spPr>
          <a:xfrm>
            <a:off x="365760" y="1508760"/>
            <a:ext cx="3749039" cy="2286000"/>
          </a:xfrm>
          <a:prstGeom prst="rect">
            <a:avLst/>
          </a:prstGeom>
          <a:solidFill>
            <a:srgbClr val="00C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645920"/>
            <a:ext cx="3566160" cy="914400"/>
          </a:xfrm>
          <a:prstGeom prst="rect">
            <a:avLst/>
          </a:prstGeom>
          <a:noFill/>
        </p:spPr>
        <p:txBody>
          <a:bodyPr wrap="square">
            <a:spAutoFit/>
          </a:bodyPr>
          <a:lstStyle/>
          <a:p>
            <a:pPr algn="ctr"/>
            <a:r>
              <a:rPr sz="1600" b="1">
                <a:solidFill>
                  <a:srgbClr val="1A1A2E"/>
                </a:solidFill>
              </a:rPr>
              <a:t>综合检测
9+ 项</a:t>
            </a:r>
          </a:p>
        </p:txBody>
      </p:sp>
      <p:sp>
        <p:nvSpPr>
          <p:cNvPr id="9" name="TextBox 8"/>
          <p:cNvSpPr txBox="1"/>
          <p:nvPr/>
        </p:nvSpPr>
        <p:spPr>
          <a:xfrm>
            <a:off x="457200" y="2606040"/>
            <a:ext cx="3566160" cy="1097280"/>
          </a:xfrm>
          <a:prstGeom prst="rect">
            <a:avLst/>
          </a:prstGeom>
          <a:noFill/>
        </p:spPr>
        <p:txBody>
          <a:bodyPr wrap="square">
            <a:spAutoFit/>
          </a:bodyPr>
          <a:lstStyle/>
          <a:p>
            <a:pPr algn="ctr"/>
            <a:r>
              <a:rPr sz="1400" b="0">
                <a:solidFill>
                  <a:srgbClr val="1A1A2E"/>
                </a:solidFill>
              </a:rPr>
              <a:t>一台车完成全部
主要检测，数据统一</a:t>
            </a:r>
          </a:p>
        </p:txBody>
      </p:sp>
      <p:sp>
        <p:nvSpPr>
          <p:cNvPr id="10" name="Rectangle 9"/>
          <p:cNvSpPr/>
          <p:nvPr/>
        </p:nvSpPr>
        <p:spPr>
          <a:xfrm>
            <a:off x="4279392" y="1508760"/>
            <a:ext cx="3749039" cy="2286000"/>
          </a:xfrm>
          <a:prstGeom prst="rect">
            <a:avLst/>
          </a:prstGeom>
          <a:solidFill>
            <a:srgbClr val="00A0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370832" y="1645920"/>
            <a:ext cx="3566160" cy="914400"/>
          </a:xfrm>
          <a:prstGeom prst="rect">
            <a:avLst/>
          </a:prstGeom>
          <a:noFill/>
        </p:spPr>
        <p:txBody>
          <a:bodyPr wrap="square">
            <a:spAutoFit/>
          </a:bodyPr>
          <a:lstStyle/>
          <a:p>
            <a:pPr algn="ctr"/>
            <a:r>
              <a:rPr sz="1600" b="1">
                <a:solidFill>
                  <a:srgbClr val="1A1A2E"/>
                </a:solidFill>
              </a:rPr>
              <a:t>效率提升
50~60 倍</a:t>
            </a:r>
          </a:p>
        </p:txBody>
      </p:sp>
      <p:sp>
        <p:nvSpPr>
          <p:cNvPr id="12" name="TextBox 11"/>
          <p:cNvSpPr txBox="1"/>
          <p:nvPr/>
        </p:nvSpPr>
        <p:spPr>
          <a:xfrm>
            <a:off x="4370832" y="2606040"/>
            <a:ext cx="3566160" cy="1097280"/>
          </a:xfrm>
          <a:prstGeom prst="rect">
            <a:avLst/>
          </a:prstGeom>
          <a:noFill/>
        </p:spPr>
        <p:txBody>
          <a:bodyPr wrap="square">
            <a:spAutoFit/>
          </a:bodyPr>
          <a:lstStyle/>
          <a:p>
            <a:pPr algn="ctr"/>
            <a:r>
              <a:rPr sz="1400" b="0">
                <a:solidFill>
                  <a:srgbClr val="1A1A2E"/>
                </a:solidFill>
              </a:rPr>
              <a:t>减少人工投入
降低巡检成本</a:t>
            </a:r>
          </a:p>
        </p:txBody>
      </p:sp>
      <p:sp>
        <p:nvSpPr>
          <p:cNvPr id="13" name="Rectangle 12"/>
          <p:cNvSpPr/>
          <p:nvPr/>
        </p:nvSpPr>
        <p:spPr>
          <a:xfrm>
            <a:off x="8193024" y="1508760"/>
            <a:ext cx="3749039" cy="2286000"/>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84464" y="1645920"/>
            <a:ext cx="3566160" cy="914400"/>
          </a:xfrm>
          <a:prstGeom prst="rect">
            <a:avLst/>
          </a:prstGeom>
          <a:noFill/>
        </p:spPr>
        <p:txBody>
          <a:bodyPr wrap="square">
            <a:spAutoFit/>
          </a:bodyPr>
          <a:lstStyle/>
          <a:p>
            <a:pPr algn="ctr"/>
            <a:r>
              <a:rPr sz="1600" b="1">
                <a:solidFill>
                  <a:srgbClr val="1A1A2E"/>
                </a:solidFill>
              </a:rPr>
              <a:t>数据真实
可靠</a:t>
            </a:r>
          </a:p>
        </p:txBody>
      </p:sp>
      <p:sp>
        <p:nvSpPr>
          <p:cNvPr id="15" name="TextBox 14"/>
          <p:cNvSpPr txBox="1"/>
          <p:nvPr/>
        </p:nvSpPr>
        <p:spPr>
          <a:xfrm>
            <a:off x="8284464" y="2606040"/>
            <a:ext cx="3566160" cy="1097280"/>
          </a:xfrm>
          <a:prstGeom prst="rect">
            <a:avLst/>
          </a:prstGeom>
          <a:noFill/>
        </p:spPr>
        <p:txBody>
          <a:bodyPr wrap="square">
            <a:spAutoFit/>
          </a:bodyPr>
          <a:lstStyle/>
          <a:p>
            <a:pPr algn="ctr"/>
            <a:r>
              <a:rPr sz="1400" b="0">
                <a:solidFill>
                  <a:srgbClr val="1A1A2E"/>
                </a:solidFill>
              </a:rPr>
              <a:t>标准统一可追溯
规避人工弱点</a:t>
            </a:r>
          </a:p>
        </p:txBody>
      </p:sp>
      <p:sp>
        <p:nvSpPr>
          <p:cNvPr id="16" name="Rectangle 15"/>
          <p:cNvSpPr/>
          <p:nvPr/>
        </p:nvSpPr>
        <p:spPr>
          <a:xfrm>
            <a:off x="365760" y="3977639"/>
            <a:ext cx="3749039" cy="2286000"/>
          </a:xfrm>
          <a:prstGeom prst="rect">
            <a:avLst/>
          </a:prstGeom>
          <a:solidFill>
            <a:srgbClr val="00D4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 y="4114799"/>
            <a:ext cx="3566160" cy="914400"/>
          </a:xfrm>
          <a:prstGeom prst="rect">
            <a:avLst/>
          </a:prstGeom>
          <a:noFill/>
        </p:spPr>
        <p:txBody>
          <a:bodyPr wrap="square">
            <a:spAutoFit/>
          </a:bodyPr>
          <a:lstStyle/>
          <a:p>
            <a:pPr algn="ctr"/>
            <a:r>
              <a:rPr sz="1600" b="1">
                <a:solidFill>
                  <a:srgbClr val="1A1A2E"/>
                </a:solidFill>
              </a:rPr>
              <a:t>实时报警</a:t>
            </a:r>
          </a:p>
        </p:txBody>
      </p:sp>
      <p:sp>
        <p:nvSpPr>
          <p:cNvPr id="18" name="TextBox 17"/>
          <p:cNvSpPr txBox="1"/>
          <p:nvPr/>
        </p:nvSpPr>
        <p:spPr>
          <a:xfrm>
            <a:off x="457200" y="5074919"/>
            <a:ext cx="3566160" cy="1097280"/>
          </a:xfrm>
          <a:prstGeom prst="rect">
            <a:avLst/>
          </a:prstGeom>
          <a:noFill/>
        </p:spPr>
        <p:txBody>
          <a:bodyPr wrap="square">
            <a:spAutoFit/>
          </a:bodyPr>
          <a:lstStyle/>
          <a:p>
            <a:pPr algn="ctr"/>
            <a:r>
              <a:rPr sz="1400" b="0">
                <a:solidFill>
                  <a:srgbClr val="1A1A2E"/>
                </a:solidFill>
              </a:rPr>
              <a:t>三级缺陷立即发现
不漏报不误报</a:t>
            </a:r>
          </a:p>
        </p:txBody>
      </p:sp>
      <p:sp>
        <p:nvSpPr>
          <p:cNvPr id="19" name="Rectangle 18"/>
          <p:cNvSpPr/>
          <p:nvPr/>
        </p:nvSpPr>
        <p:spPr>
          <a:xfrm>
            <a:off x="4279392" y="3977639"/>
            <a:ext cx="3749039" cy="2286000"/>
          </a:xfrm>
          <a:prstGeom prst="rect">
            <a:avLst/>
          </a:prstGeom>
          <a:solidFill>
            <a:srgbClr val="FFA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370832" y="4114799"/>
            <a:ext cx="3566160" cy="914400"/>
          </a:xfrm>
          <a:prstGeom prst="rect">
            <a:avLst/>
          </a:prstGeom>
          <a:noFill/>
        </p:spPr>
        <p:txBody>
          <a:bodyPr wrap="square">
            <a:spAutoFit/>
          </a:bodyPr>
          <a:lstStyle/>
          <a:p>
            <a:pPr algn="ctr"/>
            <a:r>
              <a:rPr sz="1600" b="1">
                <a:solidFill>
                  <a:srgbClr val="1A1A2E"/>
                </a:solidFill>
              </a:rPr>
              <a:t>健康一张图</a:t>
            </a:r>
          </a:p>
        </p:txBody>
      </p:sp>
      <p:sp>
        <p:nvSpPr>
          <p:cNvPr id="21" name="TextBox 20"/>
          <p:cNvSpPr txBox="1"/>
          <p:nvPr/>
        </p:nvSpPr>
        <p:spPr>
          <a:xfrm>
            <a:off x="4370832" y="5074919"/>
            <a:ext cx="3566160" cy="1097280"/>
          </a:xfrm>
          <a:prstGeom prst="rect">
            <a:avLst/>
          </a:prstGeom>
          <a:noFill/>
        </p:spPr>
        <p:txBody>
          <a:bodyPr wrap="square">
            <a:spAutoFit/>
          </a:bodyPr>
          <a:lstStyle/>
          <a:p>
            <a:pPr algn="ctr"/>
            <a:r>
              <a:rPr sz="1400" b="0">
                <a:solidFill>
                  <a:srgbClr val="1A1A2E"/>
                </a:solidFill>
              </a:rPr>
              <a:t>养护决策从经验
驱动变为数据驱动</a:t>
            </a:r>
          </a:p>
        </p:txBody>
      </p:sp>
      <p:sp>
        <p:nvSpPr>
          <p:cNvPr id="22" name="Rectangle 21"/>
          <p:cNvSpPr/>
          <p:nvPr/>
        </p:nvSpPr>
        <p:spPr>
          <a:xfrm>
            <a:off x="8193024" y="3977639"/>
            <a:ext cx="3749039" cy="228600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84464" y="4114799"/>
            <a:ext cx="3566160" cy="914400"/>
          </a:xfrm>
          <a:prstGeom prst="rect">
            <a:avLst/>
          </a:prstGeom>
          <a:noFill/>
        </p:spPr>
        <p:txBody>
          <a:bodyPr wrap="square">
            <a:spAutoFit/>
          </a:bodyPr>
          <a:lstStyle/>
          <a:p>
            <a:pPr algn="ctr"/>
            <a:r>
              <a:rPr sz="1600" b="1">
                <a:solidFill>
                  <a:srgbClr val="1A1A2E"/>
                </a:solidFill>
              </a:rPr>
              <a:t>预测性维护</a:t>
            </a:r>
          </a:p>
        </p:txBody>
      </p:sp>
      <p:sp>
        <p:nvSpPr>
          <p:cNvPr id="24" name="TextBox 23"/>
          <p:cNvSpPr txBox="1"/>
          <p:nvPr/>
        </p:nvSpPr>
        <p:spPr>
          <a:xfrm>
            <a:off x="8284464" y="5074919"/>
            <a:ext cx="3566160" cy="1097280"/>
          </a:xfrm>
          <a:prstGeom prst="rect">
            <a:avLst/>
          </a:prstGeom>
          <a:noFill/>
        </p:spPr>
        <p:txBody>
          <a:bodyPr wrap="square">
            <a:spAutoFit/>
          </a:bodyPr>
          <a:lstStyle/>
          <a:p>
            <a:pPr algn="ctr"/>
            <a:r>
              <a:rPr sz="1400" b="0">
                <a:solidFill>
                  <a:srgbClr val="1A1A2E"/>
                </a:solidFill>
              </a:rPr>
              <a:t>从检现在
升级到管未来</a:t>
            </a:r>
          </a:p>
        </p:txBody>
      </p:sp>
      <p:sp>
        <p:nvSpPr>
          <p:cNvPr id="25" name="Rectangle 24"/>
          <p:cNvSpPr/>
          <p:nvPr/>
        </p:nvSpPr>
        <p:spPr>
          <a:xfrm>
            <a:off x="0" y="6492240"/>
            <a:ext cx="12188952" cy="365760"/>
          </a:xfrm>
          <a:prstGeom prst="rect">
            <a:avLst/>
          </a:prstGeom>
          <a:solidFill>
            <a:srgbClr val="1126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5760" y="6519672"/>
            <a:ext cx="4572000" cy="320040"/>
          </a:xfrm>
          <a:prstGeom prst="rect">
            <a:avLst/>
          </a:prstGeom>
          <a:noFill/>
        </p:spPr>
        <p:txBody>
          <a:bodyPr wrap="square">
            <a:spAutoFit/>
          </a:bodyPr>
          <a:lstStyle/>
          <a:p>
            <a:pPr algn="l"/>
            <a:r>
              <a:rPr sz="1000" b="0">
                <a:solidFill>
                  <a:srgbClr val="A0B4CC"/>
                </a:solidFill>
              </a:rPr>
              <a:t>铁路线路智能综合检测机器人</a:t>
            </a:r>
          </a:p>
        </p:txBody>
      </p:sp>
      <p:sp>
        <p:nvSpPr>
          <p:cNvPr id="27" name="TextBox 26"/>
          <p:cNvSpPr txBox="1"/>
          <p:nvPr/>
        </p:nvSpPr>
        <p:spPr>
          <a:xfrm>
            <a:off x="10972800" y="6519672"/>
            <a:ext cx="1005840" cy="320040"/>
          </a:xfrm>
          <a:prstGeom prst="rect">
            <a:avLst/>
          </a:prstGeom>
          <a:noFill/>
        </p:spPr>
        <p:txBody>
          <a:bodyPr wrap="square">
            <a:spAutoFit/>
          </a:bodyPr>
          <a:lstStyle/>
          <a:p>
            <a:pPr algn="r"/>
            <a:r>
              <a:rPr sz="1000" b="0">
                <a:solidFill>
                  <a:srgbClr val="A0B4CC"/>
                </a:solidFill>
              </a:rPr>
              <a:t>27 / 28</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C1D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00C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457200" cy="6858000"/>
          </a:xfrm>
          <a:prstGeom prst="rect">
            <a:avLst/>
          </a:prstGeom>
          <a:solidFill>
            <a:srgbClr val="00C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114800" y="3017520"/>
            <a:ext cx="3931920" cy="50800"/>
          </a:xfrm>
          <a:prstGeom prst="rect">
            <a:avLst/>
          </a:prstGeom>
          <a:solidFill>
            <a:srgbClr val="00C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645920"/>
            <a:ext cx="10972800" cy="1371600"/>
          </a:xfrm>
          <a:prstGeom prst="rect">
            <a:avLst/>
          </a:prstGeom>
          <a:noFill/>
        </p:spPr>
        <p:txBody>
          <a:bodyPr wrap="square">
            <a:spAutoFit/>
          </a:bodyPr>
          <a:lstStyle/>
          <a:p>
            <a:pPr algn="ctr"/>
            <a:r>
              <a:rPr sz="5200" b="1">
                <a:solidFill>
                  <a:srgbClr val="FFFFFF"/>
                </a:solidFill>
              </a:rPr>
              <a:t>谢谢聆听</a:t>
            </a:r>
          </a:p>
        </p:txBody>
      </p:sp>
      <p:sp>
        <p:nvSpPr>
          <p:cNvPr id="7" name="TextBox 6"/>
          <p:cNvSpPr txBox="1"/>
          <p:nvPr/>
        </p:nvSpPr>
        <p:spPr>
          <a:xfrm>
            <a:off x="731520" y="3246120"/>
            <a:ext cx="10972800" cy="731520"/>
          </a:xfrm>
          <a:prstGeom prst="rect">
            <a:avLst/>
          </a:prstGeom>
          <a:noFill/>
        </p:spPr>
        <p:txBody>
          <a:bodyPr wrap="square">
            <a:spAutoFit/>
          </a:bodyPr>
          <a:lstStyle/>
          <a:p>
            <a:pPr algn="ctr"/>
            <a:r>
              <a:rPr sz="2400" b="0">
                <a:solidFill>
                  <a:srgbClr val="00C4FF"/>
                </a:solidFill>
              </a:rPr>
              <a:t>铁路线路智能综合检测机器人</a:t>
            </a:r>
          </a:p>
        </p:txBody>
      </p:sp>
      <p:sp>
        <p:nvSpPr>
          <p:cNvPr id="8" name="TextBox 7"/>
          <p:cNvSpPr txBox="1"/>
          <p:nvPr/>
        </p:nvSpPr>
        <p:spPr>
          <a:xfrm>
            <a:off x="731520" y="4114800"/>
            <a:ext cx="10972800" cy="914400"/>
          </a:xfrm>
          <a:prstGeom prst="rect">
            <a:avLst/>
          </a:prstGeom>
          <a:noFill/>
        </p:spPr>
        <p:txBody>
          <a:bodyPr wrap="square">
            <a:spAutoFit/>
          </a:bodyPr>
          <a:lstStyle/>
          <a:p>
            <a:pPr algn="ctr"/>
            <a:r>
              <a:rPr sz="1600" b="0">
                <a:solidFill>
                  <a:srgbClr val="FFFFFF"/>
                </a:solidFill>
              </a:rPr>
              <a:t>让铁路检测从人工密集型作业转变为智能化自动化高效率的科技驱动型工作</a:t>
            </a:r>
          </a:p>
        </p:txBody>
      </p:sp>
      <p:sp>
        <p:nvSpPr>
          <p:cNvPr id="9" name="TextBox 8"/>
          <p:cNvSpPr txBox="1"/>
          <p:nvPr/>
        </p:nvSpPr>
        <p:spPr>
          <a:xfrm>
            <a:off x="731520" y="5486400"/>
            <a:ext cx="10972800" cy="365760"/>
          </a:xfrm>
          <a:prstGeom prst="rect">
            <a:avLst/>
          </a:prstGeom>
          <a:noFill/>
        </p:spPr>
        <p:txBody>
          <a:bodyPr wrap="square">
            <a:spAutoFit/>
          </a:bodyPr>
          <a:lstStyle/>
          <a:p>
            <a:pPr algn="ctr"/>
            <a:r>
              <a:rPr sz="1300" b="0">
                <a:solidFill>
                  <a:srgbClr val="A0B4CC"/>
                </a:solidFill>
              </a:rPr>
              <a:t>联系方式：____________________</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