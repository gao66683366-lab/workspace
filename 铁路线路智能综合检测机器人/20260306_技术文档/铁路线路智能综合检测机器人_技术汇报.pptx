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731520"/>
            <a:ext cx="2743200" cy="53035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1188720"/>
            <a:ext cx="1828800" cy="18288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1645920"/>
            <a:ext cx="1097280" cy="10972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4FF"/>
                </a:solidFill>
              </a:rPr>
              <a:t>技术汇报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3657600" cy="381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D8"/>
                </a:solidFill>
              </a:rPr>
              <a:t>汇报单位：____________________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B4D8"/>
                </a:solidFill>
              </a:rPr>
              <a:t>汇报日期：2026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19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项目背景与问题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019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综合检测核心理念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99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系统总体架构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99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核心检测能力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96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效率与数据优势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84048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84048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23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096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健康评估与智能养护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37759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937759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206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1937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技术规格参数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937759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937759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1206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1937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远程监测系统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5486400" cy="868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6035040"/>
            <a:ext cx="594360" cy="8686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217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6291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项目背景与问题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传统人工巡检面临的挑战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t>痛点维度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痛点维度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具体表现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具体表现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效率低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效率低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人工步行约 1.1~1.5 km/h，每天最多检测 6km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人工步行约 1.1~1.5 km/h，每天最多检测 6km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数据离散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数据离散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靠人工记录，格式不统一，无法直接对比分析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靠人工记录，格式不统一，无法直接对比分析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质量不稳定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质量不稳定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人员状态、经验差异导致检测结果因人而异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人员状态、经验差异导致检测结果因人而异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夜间盲区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夜间盲区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夜间无法巡检，长时间运行存在安全隐患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夜间无法巡检，长时间运行存在安全隐患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成本高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成本高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需要大量人员长期投入，综合成本居高不下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需要大量人员长期投入，综合成本居高不下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我们的解决方案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t>核心能力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核心能力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说明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运行速度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运行速度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 m/s，每天 2 小时，覆盖约 6 公里，稳定持续作业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 m/s，每天 2 小时，覆盖约 6 公里，稳定持续作业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综合检测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综合检测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同时完成 9 项以上检测任务，一次出动全部搞定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同时完成 9 项以上检测任务，一次出动全部搞定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实时处理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实时处理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实时采集、实时分析、实时报警，无需人工看图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实时采集、实时分析、实时报警，无需人工看图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数据可靠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数据可靠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数据标准化、可追溯、可对比，报告自动生成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数据标准化、可追溯、可对比，报告自动生成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t>效率提升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效率提升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综合效率提升约 50~60 倍，数据质量优于人工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综合效率提升约 50~60 倍，数据质量优于人工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综合检测核心理念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什么是综合检测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不是单一功能的检测仪，而是完整的综合检测系统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666205">
                <a:tc>
                  <a:txBody>
                    <a:bodyPr/>
                    <a:lstStyle/>
                    <a:p>
                      <a:pPr algn="ctr"/>
                      <a:r>
                        <a:t>对比维度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对比维度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传统单功能设备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传统单功能设备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本产品（综合检测）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本产品（综合检测）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检测项目数量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检测项目数量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 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 项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9+ 项同步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9+ 项同步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作业方式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作业方式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多次出动/多人协作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多次出动/多人协作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一次出动/一人操作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一次出动/一人操作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数据关联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数据关联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各自孤立，无法关联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各自孤立，无法关联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统一分析，互相印证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统一分析，互相印证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综合成本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综合成本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高（需采购多套设备）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高（需采购多套设备）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低（一机多用）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低（一机多用）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/>
                      <a:r>
                        <a:t>数据质量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数据质量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因人而异，不稳定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因人而异，不稳定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标准统一，客观一致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标准统一，客观一致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/>
                      <a:r>
                        <a:t>分析深度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分析深度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单维孤立结论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单维孤立结论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多维融合综合判级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多维融合综合判级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综合检测的三个层次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多检测项目融合  |  多传感器融合  |  多维度数据融合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50292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多检测项目融合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轨面+螺栓+3D轮廓+波磨+焊缝
+水平+高低+轨向+轨距
一台设备全部覆盖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749039" cy="5029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多传感器融合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6x2D相机+2x3D激光+2x陀螺仪
时间戳毫秒级同步
坐标系统一，互相校验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3749039" cy="50292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600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多维度数据融合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194560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图像+点云+姿态参数
统一时空框架
联合分析，判级更准确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系统总体架构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四环闭环架构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智能化设备加持 -&gt; 智能检测入口 -&gt; 实时处理 -&gt; 大数据分析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743200" cy="4846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(1) 智能化
设备加持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硬件层：多传感器
+精密机械+工控机
为综合检测提供
稳定可靠的感知基础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43200" cy="484632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(2) 智能
检测入口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6x2D相机+2x3D激光
+2x陀螺仪
同步采集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554480"/>
            <a:ext cx="2743200" cy="48463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(3) 实时
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AI识别+自动判级
+实时报警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2743200" cy="484632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916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(4) 大数据
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2834640"/>
            <a:ext cx="7315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01752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数据积累+热点分析
+趋势预测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三层精密融合：不是堆砌，是有机整体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572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传感器层有机融合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  2D+3D：图像+轮廓互为印证
  图像+姿态：缺陷绑定姿态角
  主检+复核：重点区域双确认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45720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通信层精密协同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  EtherCAT 硬实时控制网
  千兆以太网数据采集网
  4G/5G 外部传输网
  三网物理隔离，永不堵塞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4572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数据层统一分析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1031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  Frame ID+里程+时间戳对齐
  2D图像流+AI缺陷识别
  3D点云流+廓形比对
  三流汇入融合节点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核心检测能力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九大检测功能总览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一台车跑完，全部数据同步输出，数据同源 | 同时 | 同标准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t>序号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序号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检测功能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检测功能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传感器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传感器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输出结果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输出结果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01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轨面缺陷检测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轨面缺陷检测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2D工业相机x2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裂纹/掉块/凹陷，位置+等级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裂纹/掉块/凹陷，位置+等级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02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道钉/螺栓检测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道钉/螺栓检测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2D工业相机x2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2D工业相机x2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缺失/松动/歪斜，位置+数量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缺失/松动/歪斜，位置+数量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03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03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3D钢轨轮廓检测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3D钢轨轮廓检测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3D线激光x2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3D线激光x2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磨耗量/横移量，廓形偏差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磨耗量/横移量，廓形偏差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04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04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钢轨波磨检测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钢轨波磨检测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3D激光+相机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3D激光+相机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波长/波深/分布里程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波长/波深/分布里程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05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05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钢轨焊缝检测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钢轨焊缝检测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2D工业相机x2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焊缝缺陷类型+等级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焊缝缺陷类型+等级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06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06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轨距检测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轨距检测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传感器融合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传感器融合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轨距值/偏差值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轨距值/偏差值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07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07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水平检测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水平检测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水平偏差值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水平偏差值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08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高低检测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高低检测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高低不平顺值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高低不平顺值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09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09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轨向检测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轨向检测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轨向偏差值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轨向偏差值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多维数据融合判级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综合判断比单一维度更准确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t>案例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案例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2D图像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2D图像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3D廓形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3D廓形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姿态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姿态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综合结论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综合结论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t>案例A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案例A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疑似裂纹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疑似裂纹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无变形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无变形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无异常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无异常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降级：疑似，需人工复核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降级：疑似，需人工复核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t>案例B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案例B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明显裂纹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明显裂纹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局部凹陷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局部凹陷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同位轨向偏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同位轨向偏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升级：严重，重点关注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升级：严重，重点关注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t>案例C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案例C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正常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正常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磨耗超标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磨耗超标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无异常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无异常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直接输出二级报警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直接输出二级报警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0" y="4480560"/>
            <a:ext cx="2468880" cy="1554480"/>
          </a:xfrm>
          <a:prstGeom prst="rect">
            <a:avLst/>
          </a:prstGeom>
          <a:solidFill>
            <a:srgbClr val="00E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正常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029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偏差在允许范围内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480560"/>
            <a:ext cx="2468880" cy="1554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一级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029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轻微异常，接近阈值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480560"/>
            <a:ext cx="2468880" cy="15544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二级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029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明显超限，需计划养护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4480560"/>
            <a:ext cx="2468880" cy="15544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44"/>
                </a:solidFill>
              </a:rPr>
              <a:t>三级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029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F44"/>
                </a:solidFill>
              </a:rPr>
              <a:t>严重超限，立即处置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效率与数据优势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效率提升 50~60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不是快一点，而是质的飞跃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55448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t>对比维度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对比维度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人工巡检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人工巡检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本产品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本产品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运行速度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运行速度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1.1~1.5 km/h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1.1~1.5 km/h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3.6 km/h（是人工 2.5~3 倍）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3.6 km/h（是人工 2.5~3 倍）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夜间作业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夜间作业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不可行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不可行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可行，全天候连续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可行，全天候连续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多设备切换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多设备切换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需要，多次出动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需要，多次出动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不需要，一次完成全部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不需要，一次完成全部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人工看图时间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人工看图时间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大量人员长时间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大量人员长时间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AI 秒级自动识别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AI 秒级自动识别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t>每日检测里程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每日检测里程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约3km（疲劳限制）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约3km（疲劳限制）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约6km（2小时稳定运行）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约6km（2小时稳定运行）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t>综合效率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综合效率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基准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基准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约 50~60 倍提升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约 50~60 倍提升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核心结论：同等检测里程，人工需要约 50~60 倍时间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数据真实可靠，规避人工弱点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t>人工巡检弱点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人工巡检弱点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本产品解决方案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本产品解决方案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人员状态波动（疲劳/情绪）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人员状态波动（疲劳/情绪）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传感器 7x24 稳定，性能无波动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传感器 7x24 稳定，性能无波动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经验水平差异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经验水平差异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AI 模型统一标准，结果客观一致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AI 模型统一标准，结果客观一致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主观判断偏差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主观判断偏差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算法阈值客观判定，无人为随意性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算法阈值客观判定，无人为随意性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环境干扰（光线/天气）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环境干扰（光线/天气）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专用光源 + 主动激光，不受环境光影响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专用光源 + 主动激光，不受环境光影响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/>
                      <a:r>
                        <a:t>记录错误/遗漏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记录错误/遗漏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每帧数据自动记录，无人为疏漏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每帧数据自动记录，无人为疏漏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/>
                      <a:r>
                        <a:t>数据无法追溯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数据无法追溯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Frame ID + 里程 + 时间戳，完整可回放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Frame ID + 里程 + 时间戳，完整可回放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健康评估与智能养护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线路健康一张图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将全线检测数据汇聚，生成可视化的线路健康地图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健康热力图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按里程区段着色（绿/黄/红）
直观显示重点区段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缺陷分布图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各类缺陷图标标注
精准定位每处病害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9096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趋势箭头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同一区段历史变化
看出劣化速度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综合评分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各区段 0~100 分
横向对比不同区段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4023360"/>
            <a:ext cx="3749039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4023360"/>
            <a:ext cx="50292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FF"/>
                </a:solidFill>
              </a:rPr>
              <a:t>养护履历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754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FF"/>
                </a:solidFill>
              </a:rPr>
              <a:t>每次养护时间/内容/效果
验证效果形成闭环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2648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FF"/>
                </a:solidFill>
              </a:rPr>
              <a:t>养护人员：哪段先修/哪段缓修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612648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6126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FF"/>
                </a:solidFill>
              </a:rPr>
              <a:t>管理决策者：全线状况/资源分配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74736" y="612648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6126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4FF"/>
                </a:solidFill>
              </a:rPr>
              <a:t>技术人员：病害历史/根因分析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养护决策智能辅助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让养护决策从经验驱动升级为数据驱动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64008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养护优先级
自动排序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三级缺陷 -&gt; 立即处理
二级缺陷 -&gt; 列入计划
一级缺陷 -&gt; 重点观察
趋势恶化 &gt; 稳定
历史高发 &gt; 偶发
-&gt; 本周养护计划清单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3749039" cy="64008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养护效果
量化验证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养护执行后再次检测
验证效果
检测-&gt;养护-&gt;再检测
-&gt;效果评估闭环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749039" cy="4846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3749039" cy="64008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00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F44"/>
                </a:solidFill>
              </a:rPr>
              <a:t>预测性维护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28600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基于历史数据预测
缺陷扩展速度
从出问题再修
-&gt; 看到苗头就修
减少突发故障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技术规格参数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系统参数总览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1554480"/>
          <a:ext cx="8503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t>项目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参数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参数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运行速度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运行速度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 m/s（3.6 km/h）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 m/s（3.6 km/h）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每日作业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每日作业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 小时，约 6 公里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 小时，约 6 公里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2D工业相机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2D工业相机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6个，2448x2048，帧率 20~25 fps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6个，2448x2048，帧率 20~25 fps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3D线激光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3D线激光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2个，左右轨头轮廓，垂直朝下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2个，左右轨头轮廓，垂直朝下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水平 / 高低 / 轨向姿态检测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水平 / 高低 / 轨向姿态检测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工控机网口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工控机网口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10网口（EtherCAT+千兆网+4G/5G）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10网口（EtherCAT+千兆网+4G/5G）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主供电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主供电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48V 蓄电池组，智能供电管理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48V 蓄电池组，智能供电管理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防护等级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防护等级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IP54（工控机）/ IP67（相机/激光）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IP54（工控机）/ IP67（相机/激光）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t>急停保护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急停保护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硬件独立回路，失效导向安全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硬件独立回路，失效导向安全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人机交互系统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t>控制方式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控制方式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说明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适用场景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金属物理按钮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金属物理按钮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实体按键，盲操作可靠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实体按键，盲操作可靠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现场紧急操作/屏幕故障兜底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现场紧急操作/屏幕故障兜底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触摸屏控制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触摸屏控制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参数设置+状态监控+数据预览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参数设置+状态监控+数据预览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出发前设置/作业中监控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出发前设置/作业中监控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遥控控制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遥控控制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远距离启停/速度/返航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远距离启停/速度/返航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复杂现场/远距离操作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复杂现场/远距离操作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定速巡航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定速巡航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设定速度自动保持匀速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设定速度自动保持匀速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保证采集速度一致性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保证采集速度一致性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t>定点返程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定点返程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一键自动返航至起点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一键自动返航至起点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防止复杂现场无法回收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防止复杂现场无法回收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/>
                      <a:r>
                        <a:t>语音控制（规划）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语音控制（规划）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喊话操控，解放双手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喊话操控，解放双手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降低使用门槛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降低使用门槛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设备运行状态远程监测系统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机器人运行状态远程监测系统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让设备从看不见摸不着 -&gt; 全程可视化可控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77840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577840" cy="502920"/>
          </a:xfrm>
          <a:prstGeom prst="rect">
            <a:avLst/>
          </a:prstGeom>
          <a:solidFill>
            <a:srgbClr val="00E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电力状态
实时监测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蓄电池电压/电流/SOC
容量百分比/健康状态
充放电实时曲线
续航里程预估
欠压/过压/过温报警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577840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577840" cy="5029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传感器状态
实时监测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6x相机在线状态
2x激光器状态
2x陀螺仪状态
数据帧率/丢包率
传感器故障诊断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577840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557784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设备工作
状态监测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工控机CPU/内存/磁盘
各进程运行状态
EtherCAT通信状态
4G/5G链路状态
本地存储容量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5577840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023360"/>
            <a:ext cx="5577840" cy="5029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690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检测任务
实时追踪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63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当前里程位置
采集帧数统计
已检测缺陷数量
任务完成进度
预计剩余时间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远程监测数据链路与通信架构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t>监测对象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监测对象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监测参数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监测参数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通信方式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通信方式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实时性</a:t>
                      </a:r>
                      <a:r>
                        <a:rPr sz="1200" b="1">
                          <a:solidFill>
                            <a:srgbClr val="00C4FF"/>
                          </a:solidFill>
                        </a:rPr>
                        <a:t>实时性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蓄电池组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蓄电池组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电压/电流/SOC/SOH/温度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电压/电流/SOC/SOH/温度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CAN总线 -&gt; 工控机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CAN总线 -&gt; 工控机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秒级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秒级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工业相机x6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工业相机x6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在线状态/帧率/丢包率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在线状态/帧率/丢包率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GigE Vision -&gt; 工控机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GigE Vision -&gt; 工控机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秒级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秒级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3D线激光x2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3D线激光x2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在线状态/数据率/温度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在线状态/数据率/温度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千兆以太网 -&gt; 工控机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千兆以太网 -&gt; 工控机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秒级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秒级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双陀螺仪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双陀螺仪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角速度/姿态角/状态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角速度/姿态角/状态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串口 -&gt; 工控机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串口 -&gt; 工控机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毫秒级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毫秒级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工控机本体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工控机本体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CPU/内存/磁盘/进程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CPU/内存/磁盘/进程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本地监测 -&gt; 云端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本地监测 -&gt; 云端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准实时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准实时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通信链路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通信链路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4G/5G信号/带宽/延迟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4G/5G信号/带宽/延迟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工业路由器 -&gt; 云端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工业路由器 -&gt; 云端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准实时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准实时</a:t>
                      </a:r>
                    </a:p>
                  </a:txBody>
                  <a:tcPr>
                    <a:solidFill>
                      <a:srgbClr val="1A35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t>伺服驱动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伺服驱动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运行状态/故障码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运行状态/故障码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EtherCAT -&gt; 工控机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EtherCAT -&gt; 工控机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毫秒级</a:t>
                      </a:r>
                      <a:r>
                        <a:rPr sz="1100">
                          <a:solidFill>
                            <a:srgbClr val="FFFFFF"/>
                          </a:solidFill>
                        </a:rPr>
                        <a:t>毫秒级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远程监测的价值与用户场景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77840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现场人员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F44"/>
                </a:solidFill>
              </a:rPr>
              <a:t>出发前检查设备状态
实时掌握电量/传感器是否正常
异常情况及时发现，避免白跑一趟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577840" cy="228600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远程监控中心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F44"/>
                </a:solidFill>
              </a:rPr>
              <a:t>一台电脑/手机
同时监控多台设备运行状态
大屏展示全线设备实时状态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5577840" cy="22860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管理决策者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F44"/>
                </a:solidFill>
              </a:rPr>
              <a:t>设备利用率统计
故障率/出勤率报表
养护排班有数据支撑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023360"/>
            <a:ext cx="5577840" cy="2286000"/>
          </a:xfrm>
          <a:prstGeom prst="rect">
            <a:avLst/>
          </a:prstGeom>
          <a:solidFill>
            <a:srgbClr val="00E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06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运维团队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846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F44"/>
                </a:solidFill>
              </a:rPr>
              <a:t>故障预警，提前介入
远程诊断，减少现场出勤
设备健康趋势分析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548640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B4D8"/>
                </a:solidFill>
              </a:rPr>
              <a:t>总结与展望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我们的核心价值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B4D8"/>
                </a:solidFill>
              </a:rPr>
              <a:t>以综合检测为核心定位，一台设备替代传统多套检测工具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749039" cy="2286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综合检测
9+ 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一台车完成全部
主要检测，数据统一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554480"/>
            <a:ext cx="3749039" cy="2286000"/>
          </a:xfrm>
          <a:prstGeom prst="rect">
            <a:avLst/>
          </a:prstGeom>
          <a:solidFill>
            <a:srgbClr val="009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效率提升
50~60 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743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减少人工投入
降低巡检成本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554480"/>
            <a:ext cx="3749039" cy="2286000"/>
          </a:xfrm>
          <a:prstGeom prst="rect">
            <a:avLst/>
          </a:prstGeom>
          <a:solidFill>
            <a:srgbClr val="00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数据真实
可靠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743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标准统一可追溯
规避人工弱点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3749039" cy="2286000"/>
          </a:xfrm>
          <a:prstGeom prst="rect">
            <a:avLst/>
          </a:prstGeom>
          <a:solidFill>
            <a:srgbClr val="00E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实时报警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三级缺陷立即发现
不漏报不误报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4023360"/>
            <a:ext cx="3749039" cy="228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4206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健康一张图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养护决策从经验
驱动变为数据驱动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4023360"/>
            <a:ext cx="3749039" cy="228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42062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F44"/>
                </a:solidFill>
              </a:rPr>
              <a:t>预测性维护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F44"/>
                </a:solidFill>
              </a:rPr>
              <a:t>从检现在
升级到管未来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B4D8"/>
                </a:solidFill>
              </a:rPr>
              <a:t>铁路线路智能综合检测机器人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B4D8"/>
                </a:solidFill>
              </a:rPr>
              <a:t>28 /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谢谢聆听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17520"/>
            <a:ext cx="393192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4FF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让铁路检测从人工密集型作业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转变为智能化、自动化、高效率的科技驱动型工作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谢谢聆听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17520"/>
            <a:ext cx="3931920" cy="50800"/>
          </a:xfrm>
          <a:prstGeom prst="rect">
            <a:avLst/>
          </a:prstGeom>
          <a:solidFill>
            <a:srgbClr val="00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4FF"/>
                </a:solidFill>
              </a:rPr>
              <a:t>铁路线路智能综合检测机器人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让铁路检测从人工密集型作业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转变为智能化、自动化、高效率的科技驱动型工作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联系方式：____________________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